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IMG-01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darkened photograph of a Tibetan pecha — full-bleed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812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40280"/>
            <a:ext cx="10725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F6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Expanding the Digital Footprint of Tibetan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645920" y="352044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A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semi-automatic pipeline for Wikipedia article generation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474720" y="43434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B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Tashi Tsering · OpenPecha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6446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IMG-01 — darkened pecha photograph (replace, full-bleed)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7,000,000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speakers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11274552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B03A1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8,073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457200" y="5257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3A1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articles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Welsh: 91,000 → 280,000+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11704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policy, 2017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21214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Welsh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88920" y="2011680"/>
            <a:ext cx="1054826" cy="274320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6" name="Text 4"/>
          <p:cNvSpPr/>
          <p:nvPr/>
        </p:nvSpPr>
        <p:spPr>
          <a:xfrm>
            <a:off x="3916898" y="19933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850,000 speakers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88920" y="2359152"/>
            <a:ext cx="347472" cy="274320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8" name="Text 6"/>
          <p:cNvSpPr/>
          <p:nvPr/>
        </p:nvSpPr>
        <p:spPr>
          <a:xfrm>
            <a:off x="3209544" y="234086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280,000 articles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1729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Basque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88920" y="3063240"/>
            <a:ext cx="930729" cy="274320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11" name="Text 9"/>
          <p:cNvSpPr/>
          <p:nvPr/>
        </p:nvSpPr>
        <p:spPr>
          <a:xfrm>
            <a:off x="3792801" y="30449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750,000 speakers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88920" y="3410712"/>
            <a:ext cx="496389" cy="274320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13" name="Text 11"/>
          <p:cNvSpPr/>
          <p:nvPr/>
        </p:nvSpPr>
        <p:spPr>
          <a:xfrm>
            <a:off x="3358461" y="33924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~400,000 articles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4224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Estonian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88920" y="4114800"/>
            <a:ext cx="1365069" cy="274320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16" name="Text 14"/>
          <p:cNvSpPr/>
          <p:nvPr/>
        </p:nvSpPr>
        <p:spPr>
          <a:xfrm>
            <a:off x="4227141" y="40965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1,100,000 speakers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88920" y="4462272"/>
            <a:ext cx="310243" cy="274320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18" name="Text 16"/>
          <p:cNvSpPr/>
          <p:nvPr/>
        </p:nvSpPr>
        <p:spPr>
          <a:xfrm>
            <a:off x="3172315" y="44439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~250,000 articles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52760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Tibetan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88920" y="5166360"/>
            <a:ext cx="8686800" cy="274320"/>
          </a:xfrm>
          <a:prstGeom prst="rect">
            <a:avLst/>
          </a:prstGeom>
          <a:solidFill>
            <a:srgbClr val="B03A1E"/>
          </a:solidFill>
          <a:ln/>
        </p:spPr>
      </p:sp>
      <p:sp>
        <p:nvSpPr>
          <p:cNvPr id="21" name="Text 19"/>
          <p:cNvSpPr/>
          <p:nvPr/>
        </p:nvSpPr>
        <p:spPr>
          <a:xfrm>
            <a:off x="11091672" y="51480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7,000,000 speakers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88920" y="5513832"/>
            <a:ext cx="18288" cy="274320"/>
          </a:xfrm>
          <a:prstGeom prst="rect">
            <a:avLst/>
          </a:prstGeom>
          <a:solidFill>
            <a:srgbClr val="B03A1E"/>
          </a:solidFill>
          <a:ln/>
        </p:spPr>
      </p:sp>
      <p:sp>
        <p:nvSpPr>
          <p:cNvPr id="23" name="Text 21"/>
          <p:cNvSpPr/>
          <p:nvPr/>
        </p:nvSpPr>
        <p:spPr>
          <a:xfrm>
            <a:off x="2880360" y="54955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3A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8,073 articles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26080" y="51480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7,000,000 speakers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Below the coin-toss line.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514600" y="2370673"/>
            <a:ext cx="1554480" cy="3252887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4" name="Text 2"/>
          <p:cNvSpPr/>
          <p:nvPr/>
        </p:nvSpPr>
        <p:spPr>
          <a:xfrm>
            <a:off x="2148840" y="1986625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84.7%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920240" y="5733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Qwen-2.5-72B — Chinese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21808" y="4951476"/>
            <a:ext cx="1554480" cy="672084"/>
          </a:xfrm>
          <a:prstGeom prst="rect">
            <a:avLst/>
          </a:prstGeom>
          <a:solidFill>
            <a:srgbClr val="B03A1E"/>
          </a:solidFill>
          <a:ln/>
        </p:spPr>
      </p:sp>
      <p:sp>
        <p:nvSpPr>
          <p:cNvPr id="7" name="Text 5"/>
          <p:cNvSpPr/>
          <p:nvPr/>
        </p:nvSpPr>
        <p:spPr>
          <a:xfrm>
            <a:off x="4956048" y="45674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3A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17.5%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27448" y="5733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 — Tibetan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29016" y="4989881"/>
            <a:ext cx="1554480" cy="633679"/>
          </a:xfrm>
          <a:prstGeom prst="rect">
            <a:avLst/>
          </a:prstGeom>
          <a:solidFill>
            <a:srgbClr val="B03A1E"/>
          </a:solidFill>
          <a:ln/>
        </p:spPr>
      </p:sp>
      <p:sp>
        <p:nvSpPr>
          <p:cNvPr id="10" name="Text 8"/>
          <p:cNvSpPr/>
          <p:nvPr/>
        </p:nvSpPr>
        <p:spPr>
          <a:xfrm>
            <a:off x="7763256" y="4605833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3A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16.5%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34656" y="5733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Qwen-2.5-72B — Tibetan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103120" y="4663440"/>
            <a:ext cx="827532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8366760" y="4352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random guessing — 25%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6355080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Tibetan ≈ 4× the tokens of Chinese per unit of text (Petrov et al. 2023)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2148840"/>
            <a:ext cx="2560320" cy="2560320"/>
          </a:xfrm>
          <a:prstGeom prst="ellipse">
            <a:avLst/>
          </a:prstGeom>
          <a:ln w="57150">
            <a:solidFill>
              <a:srgbClr val="B8B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65592" y="2148840"/>
            <a:ext cx="2560320" cy="2560320"/>
          </a:xfrm>
          <a:prstGeom prst="ellipse">
            <a:avLst/>
          </a:prstGeom>
          <a:ln w="57150">
            <a:solidFill>
              <a:srgbClr val="B03A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2624328" y="2029968"/>
            <a:ext cx="237744" cy="237744"/>
          </a:xfrm>
          <a:prstGeom prst="triangle">
            <a:avLst/>
          </a:prstGeom>
          <a:solidFill>
            <a:srgbClr val="B8B2A8"/>
          </a:solidFill>
          <a:ln/>
        </p:spPr>
      </p:sp>
      <p:sp>
        <p:nvSpPr>
          <p:cNvPr id="5" name="Shape 3"/>
          <p:cNvSpPr/>
          <p:nvPr/>
        </p:nvSpPr>
        <p:spPr>
          <a:xfrm rot="-5400000">
            <a:off x="3904488" y="3310128"/>
            <a:ext cx="237744" cy="237744"/>
          </a:xfrm>
          <a:prstGeom prst="triangle">
            <a:avLst/>
          </a:prstGeom>
          <a:solidFill>
            <a:srgbClr val="B8B2A8"/>
          </a:solidFill>
          <a:ln/>
        </p:spPr>
      </p:sp>
      <p:sp>
        <p:nvSpPr>
          <p:cNvPr id="6" name="Shape 4"/>
          <p:cNvSpPr/>
          <p:nvPr/>
        </p:nvSpPr>
        <p:spPr>
          <a:xfrm>
            <a:off x="2624328" y="4590288"/>
            <a:ext cx="237744" cy="237744"/>
          </a:xfrm>
          <a:prstGeom prst="triangle">
            <a:avLst/>
          </a:prstGeom>
          <a:solidFill>
            <a:srgbClr val="B8B2A8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1344168" y="3310128"/>
            <a:ext cx="237744" cy="237744"/>
          </a:xfrm>
          <a:prstGeom prst="triangle">
            <a:avLst/>
          </a:prstGeom>
          <a:solidFill>
            <a:srgbClr val="B8B2A8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2029968"/>
            <a:ext cx="237744" cy="237744"/>
          </a:xfrm>
          <a:prstGeom prst="triangle">
            <a:avLst/>
          </a:prstGeom>
          <a:solidFill>
            <a:srgbClr val="B03A1E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607040" y="3310128"/>
            <a:ext cx="237744" cy="237744"/>
          </a:xfrm>
          <a:prstGeom prst="triangle">
            <a:avLst/>
          </a:prstGeom>
          <a:solidFill>
            <a:srgbClr val="B03A1E"/>
          </a:solidFill>
          <a:ln/>
        </p:spPr>
      </p:sp>
      <p:sp>
        <p:nvSpPr>
          <p:cNvPr id="10" name="Shape 8"/>
          <p:cNvSpPr/>
          <p:nvPr/>
        </p:nvSpPr>
        <p:spPr>
          <a:xfrm rot="10800000">
            <a:off x="9326880" y="4590288"/>
            <a:ext cx="237744" cy="237744"/>
          </a:xfrm>
          <a:prstGeom prst="triangle">
            <a:avLst/>
          </a:prstGeom>
          <a:solidFill>
            <a:srgbClr val="B03A1E"/>
          </a:solidFill>
          <a:ln/>
        </p:spPr>
      </p:sp>
      <p:sp>
        <p:nvSpPr>
          <p:cNvPr id="11" name="Shape 9"/>
          <p:cNvSpPr/>
          <p:nvPr/>
        </p:nvSpPr>
        <p:spPr>
          <a:xfrm rot="-5400000">
            <a:off x="8046720" y="3310128"/>
            <a:ext cx="237744" cy="237744"/>
          </a:xfrm>
          <a:prstGeom prst="triangle">
            <a:avLst/>
          </a:prstGeom>
          <a:solidFill>
            <a:srgbClr val="B03A1E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articles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33088" y="3017520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little training text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97280" y="47274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can't serve the language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4320" y="301752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people write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74152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 articles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835640" y="30175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footprint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99832" y="47274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tools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41464" y="30175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articles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56048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200" kern="0" dirty="0">
                <a:solidFill>
                  <a:srgbClr val="D9A4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VERIFICATION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85800" y="621792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loop. Only the sign differs.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77240"/>
            <a:ext cx="3392424" cy="4892040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98264" y="777240"/>
            <a:ext cx="3392424" cy="4892040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10728" y="777240"/>
            <a:ext cx="3392424" cy="4892040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9050">
            <a:solidFill>
              <a:srgbClr val="B03A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3392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✋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3392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By hand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392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 slow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98264" y="1188720"/>
            <a:ext cx="3392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🤖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398264" y="2148840"/>
            <a:ext cx="3392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Unsupervised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81144" y="2651760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Scots · Cebuano · Greenlandic (closed, 2025)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54296" y="3383280"/>
            <a:ext cx="2880360" cy="1965960"/>
          </a:xfrm>
          <a:prstGeom prst="roundRect">
            <a:avLst>
              <a:gd name="adj" fmla="val 2791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3383280"/>
            <a:ext cx="2880360" cy="1965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IMG-02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Greenlandic Wikipedia closure notice (or Scots controversy headline)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10728" y="1188720"/>
            <a:ext cx="3392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✅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110728" y="2148840"/>
            <a:ext cx="3392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Supervised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10728" y="2697480"/>
            <a:ext cx="3392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talk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598932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Translation — machine draft + mandatory human edit — shows lower deletion rates across 2.4M+ creations.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100,000 articles, at the observed rate: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377440"/>
            <a:ext cx="12070080" cy="640080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43230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~285 years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1920240" cy="640080"/>
          </a:xfrm>
          <a:prstGeom prst="rect">
            <a:avLst/>
          </a:prstGeom>
          <a:solidFill>
            <a:srgbClr val="B03A1E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37124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24–48 person-years — this pipeline, review-bound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892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Dzongkha program (manual, funded): 80 articles in 5 months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model is the apprentice.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harness is the workshop.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874520"/>
            <a:ext cx="6720840" cy="4343400"/>
          </a:xfrm>
          <a:prstGeom prst="roundRect">
            <a:avLst>
              <a:gd name="adj" fmla="val 1263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874520"/>
            <a:ext cx="6720840" cy="4343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IMG-03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line illustration: workbench + racked tools + rulebook + in/out-tray — "the harness"; figure at the bench — "the agent"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35240" y="2514600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          judgement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├ tools      read · write · run · search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├ context    what it may see, per call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└ rules      what it must do, per task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62 skills · 11,251 lines of written-down method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doesn't know the procedure. It loads it.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074920" cy="4069080"/>
          </a:xfrm>
          <a:prstGeom prst="roundRect">
            <a:avLst>
              <a:gd name="adj" fmla="val 1348"/>
            </a:avLst>
          </a:prstGeom>
          <a:solidFill>
            <a:srgbClr val="2018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365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8D6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8D6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8D6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8D6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8D6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8D6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8D6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8D6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3040" y="2011680"/>
            <a:ext cx="365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ECC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ECC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ECC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ECC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ECC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ECC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ECC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ECC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65960" y="2011680"/>
            <a:ext cx="365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2011680"/>
            <a:ext cx="365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84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84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84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84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84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84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84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84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71800" y="2011680"/>
            <a:ext cx="365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45A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45A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45A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45A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45A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45A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45A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45A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2880360"/>
            <a:ext cx="1143000" cy="155448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5193792" y="2889504"/>
            <a:ext cx="274320" cy="274320"/>
          </a:xfrm>
          <a:prstGeom prst="triangle">
            <a:avLst/>
          </a:prstGeom>
          <a:solidFill>
            <a:srgbClr val="E5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38862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330952" cy="4069080"/>
          </a:xfrm>
          <a:prstGeom prst="roundRect">
            <a:avLst>
              <a:gd name="adj" fmla="val 1348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828800"/>
            <a:ext cx="5330952" cy="4069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IMG-04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screenshot: the vault's 4-SYSTEM/Skills/ folder listing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03320" y="914400"/>
            <a:ext cx="4800600" cy="3977640"/>
          </a:xfrm>
          <a:prstGeom prst="roundRect">
            <a:avLst>
              <a:gd name="adj" fmla="val 1379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03320" y="914400"/>
            <a:ext cx="4800600" cy="3977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IMG-05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screenshot: tree-guided-claims/SKILL.md collapsed to its section headings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reasoning, and the failure it answers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474720" y="1485900"/>
            <a:ext cx="228600" cy="0"/>
          </a:xfrm>
          <a:prstGeom prst="line">
            <a:avLst/>
          </a:prstGeom>
          <a:noFill/>
          <a:ln w="9525">
            <a:solidFill>
              <a:srgbClr val="B8B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contract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2537460"/>
            <a:ext cx="228600" cy="0"/>
          </a:xfrm>
          <a:prstGeom prst="line">
            <a:avLst/>
          </a:prstGeom>
          <a:noFill/>
          <a:ln w="9525">
            <a:solidFill>
              <a:srgbClr val="B8B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089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rules 1…16 — each traceable to a real defect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3451860"/>
            <a:ext cx="228600" cy="0"/>
          </a:xfrm>
          <a:prstGeom prst="line">
            <a:avLst/>
          </a:prstGeom>
          <a:noFill/>
          <a:ln w="9525">
            <a:solidFill>
              <a:srgbClr val="B8B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0" y="16459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procedure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503920" y="1988820"/>
            <a:ext cx="228600" cy="0"/>
          </a:xfrm>
          <a:prstGeom prst="line">
            <a:avLst/>
          </a:prstGeom>
          <a:noFill/>
          <a:ln w="9525">
            <a:solidFill>
              <a:srgbClr val="B8B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27432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deterministic backstop (scripts/verify_*.py)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03920" y="3086100"/>
            <a:ext cx="228600" cy="0"/>
          </a:xfrm>
          <a:prstGeom prst="line">
            <a:avLst/>
          </a:prstGeom>
          <a:noFill/>
          <a:ln w="9525">
            <a:solidFill>
              <a:srgbClr val="B8B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2578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62 skills · 21 carry scripts · 44 scripts total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" y="5943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skill is a text file. A scholar can read it, disagree, and edit it.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rule is a scar.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5800" y="1691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23560" y="16916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130552"/>
            <a:ext cx="10817352" cy="0"/>
          </a:xfrm>
          <a:prstGeom prst="line">
            <a:avLst/>
          </a:prstGeom>
          <a:noFill/>
          <a:ln w="12700">
            <a:solidFill>
              <a:srgbClr val="E5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402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claim_count is computed by counting — never inherited.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23560" y="22402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114 of 118 strings byte-identical to the earlier “independent” run.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319272"/>
            <a:ext cx="10817352" cy="0"/>
          </a:xfrm>
          <a:prstGeom prst="line">
            <a:avLst/>
          </a:prstGeom>
          <a:noFill/>
          <a:ln w="12700">
            <a:solidFill>
              <a:srgbClr val="E5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4290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Corroboration is re-read, not remembered.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23560" y="34290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idea, wrong claim ID — the audit's one critical finding.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4507992"/>
            <a:ext cx="10817352" cy="0"/>
          </a:xfrm>
          <a:prstGeom prst="line">
            <a:avLst/>
          </a:prstGeom>
          <a:noFill/>
          <a:ln w="12700">
            <a:solidFill>
              <a:srgbClr val="E5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617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Counts are computed, never hand-tallied.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23560" y="46177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of 5 “(N commentaries)” labels wrong on the worst pilot page.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judges, the script verifies · isolation over context · nothing interpretive touches the source layer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789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model judges. The script verifies.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B03A1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script has the final say.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 rot="10800000">
            <a:off x="1828800" y="1691640"/>
            <a:ext cx="1371600" cy="868680"/>
          </a:xfrm>
          <a:prstGeom prst="trapezoid">
            <a:avLst/>
          </a:prstGeom>
          <a:solidFill>
            <a:srgbClr val="B8B2A8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2148840"/>
            <a:ext cx="96012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572000" y="1783080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92040" y="2011680"/>
            <a:ext cx="548640" cy="548640"/>
          </a:xfrm>
          <a:prstGeom prst="donut">
            <a:avLst/>
          </a:prstGeom>
          <a:solidFill>
            <a:srgbClr val="B8B2A8"/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2148840"/>
            <a:ext cx="411480" cy="411480"/>
          </a:xfrm>
          <a:prstGeom prst="donut">
            <a:avLst/>
          </a:prstGeom>
          <a:solidFill>
            <a:srgbClr val="B8B2A8"/>
          </a:solidFill>
          <a:ln/>
        </p:spPr>
      </p:sp>
      <p:sp>
        <p:nvSpPr>
          <p:cNvPr id="8" name="Shape 6"/>
          <p:cNvSpPr/>
          <p:nvPr/>
        </p:nvSpPr>
        <p:spPr>
          <a:xfrm>
            <a:off x="6263640" y="1572768"/>
            <a:ext cx="1051560" cy="384048"/>
          </a:xfrm>
          <a:prstGeom prst="rect">
            <a:avLst/>
          </a:prstGeom>
          <a:solidFill>
            <a:srgbClr val="E5E0D8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6792" y="1700784"/>
            <a:ext cx="82296" cy="8229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7159752" y="1700784"/>
            <a:ext cx="82296" cy="8229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170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rule-plate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06640" y="2148840"/>
            <a:ext cx="96012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49640" y="1828800"/>
            <a:ext cx="1463040" cy="777240"/>
          </a:xfrm>
          <a:prstGeom prst="parallelogram">
            <a:avLst/>
          </a:prstGeom>
          <a:solidFill>
            <a:srgbClr val="B8B2A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632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input → same output, every time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9048" y="3794760"/>
            <a:ext cx="0" cy="2011680"/>
          </a:xfrm>
          <a:prstGeom prst="line">
            <a:avLst/>
          </a:prstGeom>
          <a:noFill/>
          <a:ln w="15875">
            <a:solidFill>
              <a:srgbClr val="E5E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Judgement (model)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(script)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251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announcement, or prose?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754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this gloss say blue or clear-hued?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5257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commentaries actually disagree?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46520" y="4251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the string appear character-for-character?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46520" y="4754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the claim counts recompute?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46520" y="5257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Exactly one disposition per claim?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bypass flag exists. We deliberately did not build an override.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model budgets its answer against the size of the question.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280160" y="1600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passages returned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600200" y="3657600"/>
            <a:ext cx="1371600" cy="1417320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32735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5166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93,000-char context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20440" y="2240280"/>
            <a:ext cx="1371600" cy="2834640"/>
          </a:xfrm>
          <a:prstGeom prst="rect">
            <a:avLst/>
          </a:prstGeom>
          <a:solidFill>
            <a:srgbClr val="B03A1E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18562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3A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08960" y="5166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12,000-char context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1600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characters returned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78040" y="4601214"/>
            <a:ext cx="1371600" cy="473706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421716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873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5166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93,000-char context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98280" y="2240280"/>
            <a:ext cx="1371600" cy="2834640"/>
          </a:xfrm>
          <a:prstGeom prst="rect">
            <a:avLst/>
          </a:prstGeom>
          <a:solidFill>
            <a:srgbClr val="B03A1E"/>
          </a:solidFill>
          <a:ln/>
        </p:spPr>
      </p:sp>
      <p:sp>
        <p:nvSpPr>
          <p:cNvPr id="15" name="Text 13"/>
          <p:cNvSpPr/>
          <p:nvPr/>
        </p:nvSpPr>
        <p:spPr>
          <a:xfrm>
            <a:off x="8823960" y="18562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3A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5,224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0" y="5166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12,000-char context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56235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model, same prompt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6263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capture rates before the fix: 45% · 19% · 1.1%. The fix is architectural — one isolated call per outline node.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686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B03A1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16</a:t>
            </a:r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commentaries</a:t>
            </a:r>
            <a:endParaRPr lang="en-US" sz="3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B03A1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582,332</a:t>
            </a:r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Tibetan characters</a:t>
            </a:r>
            <a:endParaRPr lang="en-US" sz="3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B03A1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3,268</a:t>
            </a:r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citable blocks</a:t>
            </a:r>
            <a:endParaRPr lang="en-US" sz="3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B03A1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580</a:t>
            </a:r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outline nodes</a:t>
            </a:r>
            <a:endParaRPr lang="en-US" sz="3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B03A1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2,975</a:t>
            </a:r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claims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5029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Sakya · Geluk · Jonang · Nyingma · Kagyü · Sūryagupta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0" y="86868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0" y="868680"/>
            <a:ext cx="5349240" cy="4526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IMG-06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root verse 3 in large Uchen, block ID ^1-3 visible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035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verse, one commentary, all the way to a finished article.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051560"/>
            <a:ext cx="2496312" cy="3291840"/>
          </a:xfrm>
          <a:prstGeom prst="roundRect">
            <a:avLst>
              <a:gd name="adj" fmla="val 2198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51560"/>
            <a:ext cx="2496312" cy="3291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IMG-07a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BDRC scan page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56432" y="1051560"/>
            <a:ext cx="2496312" cy="3291840"/>
          </a:xfrm>
          <a:prstGeom prst="roundRect">
            <a:avLst>
              <a:gd name="adj" fmla="val 2198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56432" y="1051560"/>
            <a:ext cx="2496312" cy="3291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IMG-07b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raw OCR output, visibly messy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27064" y="1051560"/>
            <a:ext cx="2496312" cy="3291840"/>
          </a:xfrm>
          <a:prstGeom prst="roundRect">
            <a:avLst>
              <a:gd name="adj" fmla="val 2198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27064" y="1051560"/>
            <a:ext cx="2496312" cy="3291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IMG-07c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cleaned text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97696" y="1051560"/>
            <a:ext cx="2496312" cy="3291840"/>
          </a:xfrm>
          <a:prstGeom prst="roundRect">
            <a:avLst>
              <a:gd name="adj" fmla="val 2198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97696" y="1051560"/>
            <a:ext cx="2496312" cy="3291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IMG-07d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block-addressed text, ^0-23 … ^0-27 visible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7091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scan</a:t>
            </a:r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 </a:t>
            </a:r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OCR</a:t>
            </a:r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 </a:t>
            </a:r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clean</a:t>
            </a:r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 </a:t>
            </a:r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address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58521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footnote pointing at a file is a promise. Pointing at a block is an address.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37 nodes · 7 levels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21 leaves under “extended explanation” come out at exactly 21.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3794760"/>
          </a:xfrm>
          <a:prstGeom prst="roundRect">
            <a:avLst>
              <a:gd name="adj" fmla="val 1446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10817352" cy="3794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IMG-08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Gendün Drub's full sa-bcad tree, one branch highlighted down to 2.2.2.2.1.1.2 (highlight in accent)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Recovered, not imposed.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2,975 claims · one fact · one type · one address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280160"/>
            <a:ext cx="1325880" cy="402336"/>
          </a:xfrm>
          <a:prstGeom prst="roundRect">
            <a:avLst>
              <a:gd name="adj" fmla="val 20455"/>
            </a:avLst>
          </a:prstGeom>
          <a:solidFill>
            <a:srgbClr val="E5E0D8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80160"/>
            <a:ext cx="13258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etymology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12848" y="1280160"/>
            <a:ext cx="1371600" cy="402336"/>
          </a:xfrm>
          <a:prstGeom prst="roundRect">
            <a:avLst>
              <a:gd name="adj" fmla="val 20455"/>
            </a:avLst>
          </a:prstGeom>
          <a:solidFill>
            <a:srgbClr val="E5E0D8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12848" y="1280160"/>
            <a:ext cx="13716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word-gloss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85616" y="1280160"/>
            <a:ext cx="1463040" cy="402336"/>
          </a:xfrm>
          <a:prstGeom prst="roundRect">
            <a:avLst>
              <a:gd name="adj" fmla="val 20455"/>
            </a:avLst>
          </a:prstGeom>
          <a:solidFill>
            <a:srgbClr val="E5E0D8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85616" y="1280160"/>
            <a:ext cx="14630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iconography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49824" y="1280160"/>
            <a:ext cx="1645920" cy="402336"/>
          </a:xfrm>
          <a:prstGeom prst="roundRect">
            <a:avLst>
              <a:gd name="adj" fmla="val 20455"/>
            </a:avLst>
          </a:prstGeom>
          <a:solidFill>
            <a:srgbClr val="E5E0D8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9824" y="1280160"/>
            <a:ext cx="16459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identification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96912" y="1280160"/>
            <a:ext cx="1280160" cy="402336"/>
          </a:xfrm>
          <a:prstGeom prst="roundRect">
            <a:avLst>
              <a:gd name="adj" fmla="val 20455"/>
            </a:avLst>
          </a:prstGeom>
          <a:solidFill>
            <a:srgbClr val="E5E0D8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96912" y="1280160"/>
            <a:ext cx="128016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doctrinal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0" y="1280160"/>
            <a:ext cx="1325880" cy="402336"/>
          </a:xfrm>
          <a:prstGeom prst="roundRect">
            <a:avLst>
              <a:gd name="adj" fmla="val 20455"/>
            </a:avLst>
          </a:prstGeom>
          <a:solidFill>
            <a:srgbClr val="E5E0D8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1280160"/>
            <a:ext cx="13258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structural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-240000">
            <a:off x="3200400" y="2286000"/>
            <a:ext cx="4206240" cy="278892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80000">
            <a:off x="4663440" y="2212848"/>
            <a:ext cx="4206240" cy="278892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-60000">
            <a:off x="3931920" y="2377440"/>
            <a:ext cx="4206240" cy="278892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91640" y="2514600"/>
            <a:ext cx="4251960" cy="2834640"/>
          </a:xfrm>
          <a:prstGeom prst="roundRect">
            <a:avLst>
              <a:gd name="adj" fmla="val 1935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2514600"/>
            <a:ext cx="4251960" cy="2834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IMG-09a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claim card: verbatim Tibetan + gloss + Type + Cite → ^0-26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697480"/>
            <a:ext cx="4251960" cy="2834640"/>
          </a:xfrm>
          <a:prstGeom prst="roundRect">
            <a:avLst>
              <a:gd name="adj" fmla="val 1935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697480"/>
            <a:ext cx="4251960" cy="2834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IMG-09b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second claim card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call per node. It cannot file under the wrong node, and cannot import from a commentary it was never shown.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8× spread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0" y="530352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B03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0" y="53035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outline nodes per commentary: 2 → 120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550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03A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karma-maitri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1691640"/>
            <a:ext cx="7772400" cy="173736"/>
          </a:xfrm>
          <a:prstGeom prst="rect">
            <a:avLst/>
          </a:prstGeom>
          <a:solidFill>
            <a:srgbClr val="B03A1E"/>
          </a:solidFill>
          <a:ln/>
        </p:spPr>
      </p:sp>
      <p:sp>
        <p:nvSpPr>
          <p:cNvPr id="7" name="Text 5"/>
          <p:cNvSpPr/>
          <p:nvPr/>
        </p:nvSpPr>
        <p:spPr>
          <a:xfrm>
            <a:off x="10588752" y="16550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3A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9156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taranatha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952244"/>
            <a:ext cx="4981207" cy="173736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10" name="Text 8"/>
          <p:cNvSpPr/>
          <p:nvPr/>
        </p:nvSpPr>
        <p:spPr>
          <a:xfrm>
            <a:off x="7797559" y="19156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762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drakpa-gyaltsen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2212848"/>
            <a:ext cx="4766499" cy="173736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13" name="Text 11"/>
          <p:cNvSpPr/>
          <p:nvPr/>
        </p:nvSpPr>
        <p:spPr>
          <a:xfrm>
            <a:off x="7582851" y="21762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24368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lobsang-dawa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2473452"/>
            <a:ext cx="3735905" cy="173736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16" name="Text 14"/>
          <p:cNvSpPr/>
          <p:nvPr/>
        </p:nvSpPr>
        <p:spPr>
          <a:xfrm>
            <a:off x="6552257" y="24368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87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26974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dharmabhadra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2734056"/>
            <a:ext cx="3478256" cy="173736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19" name="Text 17"/>
          <p:cNvSpPr/>
          <p:nvPr/>
        </p:nvSpPr>
        <p:spPr>
          <a:xfrm>
            <a:off x="6294608" y="26974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29580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gendun-drub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0" y="2994660"/>
            <a:ext cx="2791193" cy="173736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22" name="Text 20"/>
          <p:cNvSpPr/>
          <p:nvPr/>
        </p:nvSpPr>
        <p:spPr>
          <a:xfrm>
            <a:off x="5607545" y="29580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32186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sungrab-tulku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0" y="3255264"/>
            <a:ext cx="2533545" cy="173736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897" y="32186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59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34792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gendun-gyatso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0" y="3515868"/>
            <a:ext cx="2404720" cy="173736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28" name="Text 26"/>
          <p:cNvSpPr/>
          <p:nvPr/>
        </p:nvSpPr>
        <p:spPr>
          <a:xfrm>
            <a:off x="5221072" y="34792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37398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pema-namgyal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3776472"/>
            <a:ext cx="2404720" cy="173736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31" name="Text 29"/>
          <p:cNvSpPr/>
          <p:nvPr/>
        </p:nvSpPr>
        <p:spPr>
          <a:xfrm>
            <a:off x="5221072" y="37398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" y="40005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konchok-thabkhe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0" y="4037076"/>
            <a:ext cx="2318838" cy="173736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34" name="Text 32"/>
          <p:cNvSpPr/>
          <p:nvPr/>
        </p:nvSpPr>
        <p:spPr>
          <a:xfrm>
            <a:off x="5135190" y="40005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" y="42611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yama-sonam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0" y="4297680"/>
            <a:ext cx="2318838" cy="173736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37" name="Text 35"/>
          <p:cNvSpPr/>
          <p:nvPr/>
        </p:nvSpPr>
        <p:spPr>
          <a:xfrm>
            <a:off x="5135190" y="4261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0080" y="45217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tenga-tulku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0" y="4558284"/>
            <a:ext cx="2318838" cy="173736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40" name="Text 38"/>
          <p:cNvSpPr/>
          <p:nvPr/>
        </p:nvSpPr>
        <p:spPr>
          <a:xfrm>
            <a:off x="5135190" y="45217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54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0080" y="47823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sangye-nyentrul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0" y="4818888"/>
            <a:ext cx="2190013" cy="173736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43" name="Text 41"/>
          <p:cNvSpPr/>
          <p:nvPr/>
        </p:nvSpPr>
        <p:spPr>
          <a:xfrm>
            <a:off x="5006365" y="47823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51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0080" y="50429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tenzin-dhonzang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0" y="5079492"/>
            <a:ext cx="1975306" cy="173736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46" name="Text 44"/>
          <p:cNvSpPr/>
          <p:nvPr/>
        </p:nvSpPr>
        <p:spPr>
          <a:xfrm>
            <a:off x="4791658" y="50429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46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40080" y="53035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palden-sherab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0" y="5340096"/>
            <a:ext cx="1460009" cy="173736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49" name="Text 47"/>
          <p:cNvSpPr/>
          <p:nvPr/>
        </p:nvSpPr>
        <p:spPr>
          <a:xfrm>
            <a:off x="4276361" y="5303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40080" y="55641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03A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tsultrim-namdak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0" y="5600700"/>
            <a:ext cx="987653" cy="173736"/>
          </a:xfrm>
          <a:prstGeom prst="rect">
            <a:avLst/>
          </a:prstGeom>
          <a:solidFill>
            <a:srgbClr val="B03A1E"/>
          </a:solidFill>
          <a:ln/>
        </p:spPr>
      </p:sp>
      <p:sp>
        <p:nvSpPr>
          <p:cNvPr id="52" name="Text 50"/>
          <p:cNvSpPr/>
          <p:nvPr/>
        </p:nvSpPr>
        <p:spPr>
          <a:xfrm>
            <a:off x="3804005" y="55641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3A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13816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claims per 10,000 characters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85800" y="6217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word-commentary is dense. An expansive exegesis with ritual appendices is not.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commentary numbered its own way. One shared coordinate system.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737360" y="1783080"/>
            <a:ext cx="-777240" cy="548640"/>
          </a:xfrm>
          <a:prstGeom prst="line">
            <a:avLst/>
          </a:prstGeom>
          <a:noFill/>
          <a:ln w="12700">
            <a:solidFill>
              <a:srgbClr val="B8B2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0" y="1783080"/>
            <a:ext cx="-256032" cy="548640"/>
          </a:xfrm>
          <a:prstGeom prst="line">
            <a:avLst/>
          </a:prstGeom>
          <a:noFill/>
          <a:ln w="12700">
            <a:solidFill>
              <a:srgbClr val="B8B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1783080"/>
            <a:ext cx="256032" cy="548640"/>
          </a:xfrm>
          <a:prstGeom prst="line">
            <a:avLst/>
          </a:prstGeom>
          <a:noFill/>
          <a:ln w="12700">
            <a:solidFill>
              <a:srgbClr val="B8B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1783080"/>
            <a:ext cx="777240" cy="548640"/>
          </a:xfrm>
          <a:prstGeom prst="line">
            <a:avLst/>
          </a:prstGeom>
          <a:noFill/>
          <a:ln w="12700">
            <a:solidFill>
              <a:srgbClr val="B8B2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1719072"/>
            <a:ext cx="128016" cy="128016"/>
          </a:xfrm>
          <a:prstGeom prst="ellipse">
            <a:avLst/>
          </a:prstGeom>
          <a:solidFill>
            <a:srgbClr val="B8B2A8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267712"/>
            <a:ext cx="128016" cy="128016"/>
          </a:xfrm>
          <a:prstGeom prst="ellipse">
            <a:avLst/>
          </a:prstGeom>
          <a:solidFill>
            <a:srgbClr val="B8B2A8"/>
          </a:solidFill>
          <a:ln/>
        </p:spPr>
      </p:sp>
      <p:sp>
        <p:nvSpPr>
          <p:cNvPr id="9" name="Shape 7"/>
          <p:cNvSpPr/>
          <p:nvPr/>
        </p:nvSpPr>
        <p:spPr>
          <a:xfrm>
            <a:off x="1417320" y="2267712"/>
            <a:ext cx="128016" cy="128016"/>
          </a:xfrm>
          <a:prstGeom prst="ellipse">
            <a:avLst/>
          </a:prstGeom>
          <a:solidFill>
            <a:srgbClr val="B8B2A8"/>
          </a:solidFill>
          <a:ln/>
        </p:spPr>
      </p:sp>
      <p:sp>
        <p:nvSpPr>
          <p:cNvPr id="10" name="Shape 8"/>
          <p:cNvSpPr/>
          <p:nvPr/>
        </p:nvSpPr>
        <p:spPr>
          <a:xfrm>
            <a:off x="1929384" y="2267712"/>
            <a:ext cx="128016" cy="128016"/>
          </a:xfrm>
          <a:prstGeom prst="ellipse">
            <a:avLst/>
          </a:prstGeom>
          <a:solidFill>
            <a:srgbClr val="B8B2A8"/>
          </a:solidFill>
          <a:ln/>
        </p:spPr>
      </p:sp>
      <p:sp>
        <p:nvSpPr>
          <p:cNvPr id="11" name="Shape 9"/>
          <p:cNvSpPr/>
          <p:nvPr/>
        </p:nvSpPr>
        <p:spPr>
          <a:xfrm>
            <a:off x="2450592" y="2267712"/>
            <a:ext cx="128016" cy="128016"/>
          </a:xfrm>
          <a:prstGeom prst="ellipse">
            <a:avLst/>
          </a:prstGeom>
          <a:solidFill>
            <a:srgbClr val="B8B2A8"/>
          </a:solidFill>
          <a:ln/>
        </p:spPr>
      </p:sp>
      <p:sp>
        <p:nvSpPr>
          <p:cNvPr id="12" name="Shape 10"/>
          <p:cNvSpPr/>
          <p:nvPr/>
        </p:nvSpPr>
        <p:spPr>
          <a:xfrm>
            <a:off x="1234440" y="3108960"/>
            <a:ext cx="320040" cy="365760"/>
          </a:xfrm>
          <a:prstGeom prst="line">
            <a:avLst/>
          </a:prstGeom>
          <a:noFill/>
          <a:ln w="12700">
            <a:solidFill>
              <a:srgbClr val="B8B2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3474720"/>
            <a:ext cx="320040" cy="365760"/>
          </a:xfrm>
          <a:prstGeom prst="line">
            <a:avLst/>
          </a:prstGeom>
          <a:noFill/>
          <a:ln w="12700">
            <a:solidFill>
              <a:srgbClr val="B8B2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74520" y="3840480"/>
            <a:ext cx="320040" cy="365760"/>
          </a:xfrm>
          <a:prstGeom prst="line">
            <a:avLst/>
          </a:prstGeom>
          <a:noFill/>
          <a:ln w="12700">
            <a:solidFill>
              <a:srgbClr val="B8B2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70432" y="3044952"/>
            <a:ext cx="128016" cy="128016"/>
          </a:xfrm>
          <a:prstGeom prst="ellipse">
            <a:avLst/>
          </a:prstGeom>
          <a:solidFill>
            <a:srgbClr val="B8B2A8"/>
          </a:solidFill>
          <a:ln/>
        </p:spPr>
      </p:sp>
      <p:sp>
        <p:nvSpPr>
          <p:cNvPr id="16" name="Shape 14"/>
          <p:cNvSpPr/>
          <p:nvPr/>
        </p:nvSpPr>
        <p:spPr>
          <a:xfrm>
            <a:off x="1490472" y="3410712"/>
            <a:ext cx="128016" cy="128016"/>
          </a:xfrm>
          <a:prstGeom prst="ellipse">
            <a:avLst/>
          </a:prstGeom>
          <a:solidFill>
            <a:srgbClr val="B8B2A8"/>
          </a:solidFill>
          <a:ln/>
        </p:spPr>
      </p:sp>
      <p:sp>
        <p:nvSpPr>
          <p:cNvPr id="17" name="Shape 15"/>
          <p:cNvSpPr/>
          <p:nvPr/>
        </p:nvSpPr>
        <p:spPr>
          <a:xfrm>
            <a:off x="1810512" y="3776472"/>
            <a:ext cx="128016" cy="128016"/>
          </a:xfrm>
          <a:prstGeom prst="ellipse">
            <a:avLst/>
          </a:prstGeom>
          <a:solidFill>
            <a:srgbClr val="B8B2A8"/>
          </a:solidFill>
          <a:ln/>
        </p:spPr>
      </p:sp>
      <p:sp>
        <p:nvSpPr>
          <p:cNvPr id="18" name="Shape 16"/>
          <p:cNvSpPr/>
          <p:nvPr/>
        </p:nvSpPr>
        <p:spPr>
          <a:xfrm>
            <a:off x="2130552" y="4142232"/>
            <a:ext cx="128016" cy="128016"/>
          </a:xfrm>
          <a:prstGeom prst="ellipse">
            <a:avLst/>
          </a:prstGeom>
          <a:solidFill>
            <a:srgbClr val="B8B2A8"/>
          </a:solidFill>
          <a:ln/>
        </p:spPr>
      </p:sp>
      <p:sp>
        <p:nvSpPr>
          <p:cNvPr id="19" name="Shape 17"/>
          <p:cNvSpPr/>
          <p:nvPr/>
        </p:nvSpPr>
        <p:spPr>
          <a:xfrm>
            <a:off x="1737360" y="4892040"/>
            <a:ext cx="-548640" cy="502920"/>
          </a:xfrm>
          <a:prstGeom prst="line">
            <a:avLst/>
          </a:prstGeom>
          <a:noFill/>
          <a:ln w="12700">
            <a:solidFill>
              <a:srgbClr val="B8B2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37360" y="4892040"/>
            <a:ext cx="548640" cy="502920"/>
          </a:xfrm>
          <a:prstGeom prst="line">
            <a:avLst/>
          </a:prstGeom>
          <a:noFill/>
          <a:ln w="12700">
            <a:solidFill>
              <a:srgbClr val="B8B2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5394960"/>
            <a:ext cx="-320040" cy="457200"/>
          </a:xfrm>
          <a:prstGeom prst="line">
            <a:avLst/>
          </a:prstGeom>
          <a:noFill/>
          <a:ln w="12700">
            <a:solidFill>
              <a:srgbClr val="B8B2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5394960"/>
            <a:ext cx="320040" cy="457200"/>
          </a:xfrm>
          <a:prstGeom prst="line">
            <a:avLst/>
          </a:prstGeom>
          <a:noFill/>
          <a:ln w="12700">
            <a:solidFill>
              <a:srgbClr val="B8B2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73352" y="4828032"/>
            <a:ext cx="128016" cy="128016"/>
          </a:xfrm>
          <a:prstGeom prst="ellipse">
            <a:avLst/>
          </a:prstGeom>
          <a:solidFill>
            <a:srgbClr val="B8B2A8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4712" y="5330952"/>
            <a:ext cx="128016" cy="128016"/>
          </a:xfrm>
          <a:prstGeom prst="ellipse">
            <a:avLst/>
          </a:prstGeom>
          <a:solidFill>
            <a:srgbClr val="B8B2A8"/>
          </a:solidFill>
          <a:ln/>
        </p:spPr>
      </p:sp>
      <p:sp>
        <p:nvSpPr>
          <p:cNvPr id="25" name="Shape 23"/>
          <p:cNvSpPr/>
          <p:nvPr/>
        </p:nvSpPr>
        <p:spPr>
          <a:xfrm>
            <a:off x="2221992" y="5330952"/>
            <a:ext cx="128016" cy="128016"/>
          </a:xfrm>
          <a:prstGeom prst="ellipse">
            <a:avLst/>
          </a:prstGeom>
          <a:solidFill>
            <a:srgbClr val="B8B2A8"/>
          </a:solidFill>
          <a:ln/>
        </p:spPr>
      </p:sp>
      <p:sp>
        <p:nvSpPr>
          <p:cNvPr id="26" name="Shape 24"/>
          <p:cNvSpPr/>
          <p:nvPr/>
        </p:nvSpPr>
        <p:spPr>
          <a:xfrm>
            <a:off x="804672" y="5788152"/>
            <a:ext cx="128016" cy="128016"/>
          </a:xfrm>
          <a:prstGeom prst="ellipse">
            <a:avLst/>
          </a:prstGeom>
          <a:solidFill>
            <a:srgbClr val="B8B2A8"/>
          </a:solidFill>
          <a:ln/>
        </p:spPr>
      </p:sp>
      <p:sp>
        <p:nvSpPr>
          <p:cNvPr id="27" name="Shape 25"/>
          <p:cNvSpPr/>
          <p:nvPr/>
        </p:nvSpPr>
        <p:spPr>
          <a:xfrm>
            <a:off x="1444752" y="5788152"/>
            <a:ext cx="128016" cy="128016"/>
          </a:xfrm>
          <a:prstGeom prst="ellipse">
            <a:avLst/>
          </a:prstGeom>
          <a:solidFill>
            <a:srgbClr val="B8B2A8"/>
          </a:solidFill>
          <a:ln/>
        </p:spPr>
      </p:sp>
      <p:sp>
        <p:nvSpPr>
          <p:cNvPr id="28" name="Shape 26"/>
          <p:cNvSpPr/>
          <p:nvPr/>
        </p:nvSpPr>
        <p:spPr>
          <a:xfrm>
            <a:off x="2880360" y="2148840"/>
            <a:ext cx="6400800" cy="960120"/>
          </a:xfrm>
          <a:prstGeom prst="line">
            <a:avLst/>
          </a:prstGeom>
          <a:noFill/>
          <a:ln w="12700">
            <a:solidFill>
              <a:srgbClr val="8A837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880360" y="3703320"/>
            <a:ext cx="6400800" cy="182880"/>
          </a:xfrm>
          <a:prstGeom prst="line">
            <a:avLst/>
          </a:prstGeom>
          <a:noFill/>
          <a:ln w="12700">
            <a:solidFill>
              <a:srgbClr val="8A837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880360" y="5440680"/>
            <a:ext cx="6400800" cy="-777240"/>
          </a:xfrm>
          <a:prstGeom prst="line">
            <a:avLst/>
          </a:prstGeom>
          <a:noFill/>
          <a:ln w="12700">
            <a:solidFill>
              <a:srgbClr val="8A837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464040" y="1600200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64040" y="1778508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64040" y="1956816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64040" y="2135124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64040" y="2313432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64040" y="2491740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64040" y="2670048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64040" y="2848356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64040" y="3026664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64040" y="3204972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64040" y="3383280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64040" y="3561588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64040" y="3739896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64040" y="3918204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464040" y="4096512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64040" y="4274820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64040" y="4453128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464040" y="4631436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64040" y="4809744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64040" y="4988052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64040" y="5166360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464040" y="5344668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464040" y="5522976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464040" y="5701284"/>
            <a:ext cx="17373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3A1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86800" y="5989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tara-01 … tara-21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benefits · structure · origin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85800" y="64465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claim gets exactly one disposition — never zero, never two. A verifier recomputes every count.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 don't ask what they said. We ask all sixteen the same question.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1463040" cy="457200"/>
          </a:xfrm>
          <a:prstGeom prst="roundRect">
            <a:avLst>
              <a:gd name="adj" fmla="val 18000"/>
            </a:avLst>
          </a:prstGeom>
          <a:solidFill>
            <a:srgbClr val="E5E0D8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Consensus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77440" y="1417320"/>
            <a:ext cx="1691640" cy="457200"/>
          </a:xfrm>
          <a:prstGeom prst="roundRect">
            <a:avLst>
              <a:gd name="adj" fmla="val 18000"/>
            </a:avLst>
          </a:prstGeom>
          <a:solidFill>
            <a:srgbClr val="E5E0D8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⚑ </a:t>
            </a:r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Divergence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1143000" cy="457200"/>
          </a:xfrm>
          <a:prstGeom prst="roundRect">
            <a:avLst>
              <a:gd name="adj" fmla="val 18000"/>
            </a:avLst>
          </a:prstGeom>
          <a:solidFill>
            <a:srgbClr val="E5E0D8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17320"/>
            <a:ext cx="1143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1417320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E5E0D8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Silence — itself a finding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94560" y="2606040"/>
            <a:ext cx="475488" cy="475488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12" name="Shape 10"/>
          <p:cNvSpPr/>
          <p:nvPr/>
        </p:nvSpPr>
        <p:spPr>
          <a:xfrm>
            <a:off x="2852928" y="2606040"/>
            <a:ext cx="475488" cy="475488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13" name="Shape 11"/>
          <p:cNvSpPr/>
          <p:nvPr/>
        </p:nvSpPr>
        <p:spPr>
          <a:xfrm>
            <a:off x="3511296" y="2606040"/>
            <a:ext cx="475488" cy="475488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14" name="Shape 12"/>
          <p:cNvSpPr/>
          <p:nvPr/>
        </p:nvSpPr>
        <p:spPr>
          <a:xfrm>
            <a:off x="4169664" y="2606040"/>
            <a:ext cx="475488" cy="475488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4560" y="3264408"/>
            <a:ext cx="475488" cy="475488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16" name="Shape 14"/>
          <p:cNvSpPr/>
          <p:nvPr/>
        </p:nvSpPr>
        <p:spPr>
          <a:xfrm>
            <a:off x="2852928" y="3264408"/>
            <a:ext cx="475488" cy="475488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17" name="Shape 15"/>
          <p:cNvSpPr/>
          <p:nvPr/>
        </p:nvSpPr>
        <p:spPr>
          <a:xfrm>
            <a:off x="3511296" y="3264408"/>
            <a:ext cx="475488" cy="475488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18" name="Shape 16"/>
          <p:cNvSpPr/>
          <p:nvPr/>
        </p:nvSpPr>
        <p:spPr>
          <a:xfrm>
            <a:off x="4169664" y="3264408"/>
            <a:ext cx="475488" cy="475488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4560" y="3922776"/>
            <a:ext cx="475488" cy="475488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20" name="Shape 18"/>
          <p:cNvSpPr/>
          <p:nvPr/>
        </p:nvSpPr>
        <p:spPr>
          <a:xfrm>
            <a:off x="2852928" y="3922776"/>
            <a:ext cx="475488" cy="475488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21" name="Shape 19"/>
          <p:cNvSpPr/>
          <p:nvPr/>
        </p:nvSpPr>
        <p:spPr>
          <a:xfrm>
            <a:off x="3511296" y="3922776"/>
            <a:ext cx="475488" cy="475488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22" name="Shape 20"/>
          <p:cNvSpPr/>
          <p:nvPr/>
        </p:nvSpPr>
        <p:spPr>
          <a:xfrm>
            <a:off x="4169664" y="3922776"/>
            <a:ext cx="475488" cy="475488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23" name="Shape 21"/>
          <p:cNvSpPr/>
          <p:nvPr/>
        </p:nvSpPr>
        <p:spPr>
          <a:xfrm>
            <a:off x="2194560" y="4581144"/>
            <a:ext cx="475488" cy="475488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24" name="Shape 22"/>
          <p:cNvSpPr/>
          <p:nvPr/>
        </p:nvSpPr>
        <p:spPr>
          <a:xfrm>
            <a:off x="2852928" y="4581144"/>
            <a:ext cx="475488" cy="475488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25" name="Shape 23"/>
          <p:cNvSpPr/>
          <p:nvPr/>
        </p:nvSpPr>
        <p:spPr>
          <a:xfrm>
            <a:off x="3511296" y="4581144"/>
            <a:ext cx="475488" cy="475488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26" name="Shape 24"/>
          <p:cNvSpPr/>
          <p:nvPr/>
        </p:nvSpPr>
        <p:spPr>
          <a:xfrm>
            <a:off x="4169664" y="4581144"/>
            <a:ext cx="475488" cy="475488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27" name="Shape 25"/>
          <p:cNvSpPr/>
          <p:nvPr/>
        </p:nvSpPr>
        <p:spPr>
          <a:xfrm>
            <a:off x="5120640" y="3886200"/>
            <a:ext cx="1645920" cy="0"/>
          </a:xfrm>
          <a:prstGeom prst="line">
            <a:avLst/>
          </a:prstGeom>
          <a:noFill/>
          <a:ln w="15875">
            <a:solidFill>
              <a:srgbClr val="8A837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040880" y="2880360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28803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AF6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?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1097280" y="5623560"/>
            <a:ext cx="9994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“What narrative origin do commentaries give for Tārā's arising via a lotus connected to Avalokiteśvara — and do they agree the lotus grew specifically from his tears?”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5120640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731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Consensus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padma = utpala — four commentaries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60120" y="1783080"/>
            <a:ext cx="4572000" cy="2331720"/>
          </a:xfrm>
          <a:prstGeom prst="roundRect">
            <a:avLst>
              <a:gd name="adj" fmla="val 2353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4572000" cy="2331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IMG-10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two short Tibetan claim snippets with claim IDs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548640"/>
            <a:ext cx="5394960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731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3A1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⚑ </a:t>
            </a:r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Divergence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12801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Tears stated: Gendün Gyatso · Dharmabhadra · Sungrab Tulku · Tsultrim Namdak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tears: Tāranātha · Karma Maitri — pollen from the “water-born face”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30632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0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word for “tears” does not occur anywhere in either commentary's file.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572000"/>
            <a:ext cx="6903720" cy="960120"/>
          </a:xfrm>
          <a:prstGeom prst="roundRect">
            <a:avLst>
              <a:gd name="adj" fmla="val 5714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572000"/>
            <a:ext cx="6903720" cy="9601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IMG-11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one-syllable variant: root text vs Gendün Drub, side by side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4800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syllable — two different etymologies licensed.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Divergence is recorded, never averaged.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10817352" cy="4297680"/>
          </a:xfrm>
          <a:prstGeom prst="roundRect">
            <a:avLst>
              <a:gd name="adj" fmla="val 1277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10817352" cy="4297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IMG-12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rendered article with footnotes visible, one footnote's trail highlighted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234440" y="4114800"/>
            <a:ext cx="972007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4114800"/>
            <a:ext cx="9720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sentence</a:t>
            </a:r>
            <a:pPr algn="ctr" indent="0" marL="0">
              <a:buNone/>
            </a:pPr>
            <a:r>
              <a:rPr lang="en-US" sz="1450" b="1" dirty="0">
                <a:solidFill>
                  <a:srgbClr val="D9A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→ </a:t>
            </a:r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&lt;ref&gt;</a:t>
            </a:r>
            <a:pPr algn="ctr" indent="0" marL="0">
              <a:buNone/>
            </a:pPr>
            <a:r>
              <a:rPr lang="en-US" sz="1450" b="1" dirty="0">
                <a:solidFill>
                  <a:srgbClr val="D9A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→ </a:t>
            </a:r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claim ID</a:t>
            </a:r>
            <a:pPr algn="ctr" indent="0" marL="0">
              <a:buNone/>
            </a:pPr>
            <a:r>
              <a:rPr lang="en-US" sz="1450" b="1" dirty="0">
                <a:solidFill>
                  <a:srgbClr val="D9A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→ </a:t>
            </a:r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verbatim Tibetan</a:t>
            </a:r>
            <a:pPr algn="ctr" indent="0" marL="0">
              <a:buNone/>
            </a:pPr>
            <a:r>
              <a:rPr lang="en-US" sz="1450" b="1" dirty="0">
                <a:solidFill>
                  <a:srgbClr val="D9A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→ </a:t>
            </a:r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^0-26</a:t>
            </a:r>
            <a:pPr algn="ctr" indent="0" marL="0">
              <a:buNone/>
            </a:pPr>
            <a:r>
              <a:rPr lang="en-US" sz="1450" b="1" dirty="0">
                <a:solidFill>
                  <a:srgbClr val="D9A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→ </a:t>
            </a:r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 file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5349240"/>
            <a:ext cx="10451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44 standalone subjects, one was refused outright — for lack of citable claims. A system that always produces an article isn't following a rule.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64008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7315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machine check — deterministic, blocking, no LLM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13258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861 / 882</a:t>
            </a:r>
            <a:pPr indent="0" marL="0">
              <a:buNone/>
            </a:pPr>
            <a:r>
              <a:rPr lang="en-US" sz="13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quotations character-for-character (batch)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60120" y="1920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81 / 81</a:t>
            </a:r>
            <a:pPr indent="0" marL="0">
              <a:buNone/>
            </a:pPr>
            <a:r>
              <a:rPr lang="en-US" sz="13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in the audited pilot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60120" y="2560320"/>
            <a:ext cx="5852160" cy="1417320"/>
          </a:xfrm>
          <a:prstGeom prst="roundRect">
            <a:avLst>
              <a:gd name="adj" fmla="val 3871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60320"/>
            <a:ext cx="5852160" cy="1417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IMG-13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two near-identical Tibetan strings, the changed punctuation circled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4114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similarity 0.974 — </a:t>
            </a:r>
            <a:pPr algn="ctr" indent="0" marL="0">
              <a:buNone/>
            </a:pPr>
            <a:r>
              <a:rPr lang="en-US" sz="1300" b="1" dirty="0">
                <a:solidFill>
                  <a:srgbClr val="B03A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60920" y="548640"/>
            <a:ext cx="4142232" cy="4480560"/>
          </a:xfrm>
          <a:prstGeom prst="roundRect">
            <a:avLst>
              <a:gd name="adj" fmla="val 1545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7315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meaning check — adversarial, fresh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16459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same-model audit: “publish, no findings” × 3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35240" y="24231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cross-model audit: 5 blocking findings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635240" y="32004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said “many scholars” — the claim said three.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53035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clean quote check is never, by itself, publication-ready.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6035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exact → pass · whitespace-collapsed → pass · punctuation-stripped fuzzy → FAIL · missing → fail. Found is not the gate. Passed is.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Never report a same-model audit as independent.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63040"/>
          <a:ext cx="108173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200400"/>
                <a:gridCol w="46908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83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83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Scope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83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Result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Deterministic gate — pilot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81 quotations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81/81 exact · 81/81 locators resolve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Deterministic gate — batch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882 quotations / 42 articles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861/882 (97.6%)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Consolidation audit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418 citations / 3 pages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 fabricated IDs · 1 critical · 1 moderate · ~16 minor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Same-model audit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articles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“publish, no findings” × 3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Cross-model audit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same 3 articles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03A1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 blocking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· 4 genuine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Auditor re-run variance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rounds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0.67 / 0.67 / 1.0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2296" marR="82296" marT="82296" marB="822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reader's objection became executable.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312724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600200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reviewer's finding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26280" y="1600200"/>
            <a:ext cx="312724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B03A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26280" y="1600200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versioned skill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66760" y="1600200"/>
            <a:ext cx="312724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1600200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future article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13632" y="1988820"/>
            <a:ext cx="521208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54112" y="1988820"/>
            <a:ext cx="521208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8580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3383280" cy="548640"/>
          </a:xfrm>
          <a:prstGeom prst="roundRect">
            <a:avLst>
              <a:gd name="adj" fmla="val 15000"/>
            </a:avLst>
          </a:prstGeom>
          <a:solidFill>
            <a:srgbClr val="E5E0D8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00400"/>
            <a:ext cx="33832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 many citations per statement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97680" y="3200400"/>
            <a:ext cx="3383280" cy="548640"/>
          </a:xfrm>
          <a:prstGeom prst="roundRect">
            <a:avLst>
              <a:gd name="adj" fmla="val 15000"/>
            </a:avLst>
          </a:prstGeom>
          <a:solidFill>
            <a:srgbClr val="E5E0D8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3200400"/>
            <a:ext cx="33832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as a literature review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09560" y="3200400"/>
            <a:ext cx="3383280" cy="548640"/>
          </a:xfrm>
          <a:prstGeom prst="roundRect">
            <a:avLst>
              <a:gd name="adj" fmla="val 15000"/>
            </a:avLst>
          </a:prstGeom>
          <a:solidFill>
            <a:srgbClr val="E5E0D8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3200400"/>
            <a:ext cx="33832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wikitext unreadable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orthography &amp; respect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343400"/>
            <a:ext cx="3383280" cy="777240"/>
          </a:xfrm>
          <a:prstGeom prst="roundRect">
            <a:avLst>
              <a:gd name="adj" fmla="val 10588"/>
            </a:avLst>
          </a:prstGeom>
          <a:solidFill>
            <a:srgbClr val="E5E0D8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343400"/>
            <a:ext cx="33832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every paragraph with the double shad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97680" y="4343400"/>
            <a:ext cx="3383280" cy="777240"/>
          </a:xfrm>
          <a:prstGeom prst="roundRect">
            <a:avLst>
              <a:gd name="adj" fmla="val 10588"/>
            </a:avLst>
          </a:prstGeom>
          <a:solidFill>
            <a:srgbClr val="E5E0D8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4343400"/>
            <a:ext cx="33832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comma does not exist in Tibetan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909560" y="4343400"/>
            <a:ext cx="3383280" cy="777240"/>
          </a:xfrm>
          <a:prstGeom prst="roundRect">
            <a:avLst>
              <a:gd name="adj" fmla="val 10588"/>
            </a:avLst>
          </a:prstGeom>
          <a:solidFill>
            <a:srgbClr val="E5E0D8"/>
          </a:solidFill>
          <a:ln w="9525">
            <a:solidFill>
              <a:srgbClr val="B8B2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4343400"/>
            <a:ext cx="33832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names: copy the curated form — never invent an honorific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5800" y="6035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revised articles are with the linguist. The corpus-wide redraft waits on that approval.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(19) · update (25) — one subject, one article, never forked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now · bot later — the bot moves text, it never decides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3A1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Nothing published yet. On purpose.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Writing, at the observed rate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703320" y="2331720"/>
            <a:ext cx="7818120" cy="384048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7" name="Text 5"/>
          <p:cNvSpPr/>
          <p:nvPr/>
        </p:nvSpPr>
        <p:spPr>
          <a:xfrm>
            <a:off x="9646920" y="2331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~285 years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Reviewing, at 30–60 min/article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03320" y="2971800"/>
            <a:ext cx="1325880" cy="384048"/>
          </a:xfrm>
          <a:prstGeom prst="rect">
            <a:avLst/>
          </a:prstGeom>
          <a:solidFill>
            <a:srgbClr val="B03A1E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2971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24–48 person-years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7947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~$0.71 per article machine cost. Review is the constraint — by design.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201812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5212080"/>
            <a:ext cx="96286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AF6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“The answer to the gap is neither refusal nor flood. It's verification, with a human hand on the gate.”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0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F6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18745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8B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Tashi Tsering · OpenPecha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61488" y="2834640"/>
            <a:ext cx="1737360" cy="1737360"/>
          </a:xfrm>
          <a:prstGeom prst="roundRect">
            <a:avLst>
              <a:gd name="adj" fmla="val 3158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61488" y="2834640"/>
            <a:ext cx="1737360" cy="1737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IMG-14a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QR: the vault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230368" y="2834640"/>
            <a:ext cx="1737360" cy="1737360"/>
          </a:xfrm>
          <a:prstGeom prst="roundRect">
            <a:avLst>
              <a:gd name="adj" fmla="val 3158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30368" y="2834640"/>
            <a:ext cx="1737360" cy="1737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IMG-14b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QR: the paper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99248" y="2834640"/>
            <a:ext cx="1737360" cy="1737360"/>
          </a:xfrm>
          <a:prstGeom prst="roundRect">
            <a:avLst>
              <a:gd name="adj" fmla="val 3158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2834640"/>
            <a:ext cx="1737360" cy="1737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IMG-14c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QR: a demo article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5532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B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Reviewers welcome.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— B1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$0.33 – $1.42 per article · 100,000 ≈ $35k–140k · prices falling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is the marginal article — the pipeline itself is up-front engineering that amortizes.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3566160"/>
            <a:ext cx="8503920" cy="457200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6" name="Shape 4"/>
          <p:cNvSpPr/>
          <p:nvPr/>
        </p:nvSpPr>
        <p:spPr>
          <a:xfrm>
            <a:off x="4775181" y="3337560"/>
            <a:ext cx="45720" cy="914400"/>
          </a:xfrm>
          <a:prstGeom prst="rect">
            <a:avLst/>
          </a:prstGeom>
          <a:solidFill>
            <a:srgbClr val="B03A1E"/>
          </a:solidFill>
          <a:ln/>
        </p:spPr>
      </p:sp>
      <p:sp>
        <p:nvSpPr>
          <p:cNvPr id="7" name="Text 5"/>
          <p:cNvSpPr/>
          <p:nvPr/>
        </p:nvSpPr>
        <p:spPr>
          <a:xfrm>
            <a:off x="4336269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3A1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$0.71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4160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$0.33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21240" y="4160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$1.42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— B2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62 skills · 21 with scripts · 44 scripts · 11,251 lines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4480560"/>
          </a:xfrm>
          <a:prstGeom prst="roundRect">
            <a:avLst>
              <a:gd name="adj" fmla="val 1224"/>
            </a:avLst>
          </a:prstGeom>
          <a:solidFill>
            <a:srgbClr val="E5E0D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10817352" cy="4480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IMG-15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 Skills folder listing, two columns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— B3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each call receives — and what it is denied.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16636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receives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extraction rules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 own file path + line range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3794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 own node's decimal + title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516636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1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denied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every other node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2940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every other commentary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29400" y="3794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tree-building instructions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53492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guards are structural, not disciplinary.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— B4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Limitations, stated plainly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Sectarian skew: 7 of 16 commentaries are Geluk</a:t>
            </a:r>
            <a:endParaRPr lang="en-US" sz="15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praise genre yields zero reception-contested claims — due-weight machinery shown structurally, not adversarially</a:t>
            </a:r>
            <a:endParaRPr lang="en-US" sz="15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 quality bounds everything downstream</a:t>
            </a:r>
            <a:endParaRPr lang="en-US" sz="15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Articles are sic-faithful to their sources</a:t>
            </a:r>
            <a:endParaRPr lang="en-US" sz="15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public citation URLs yet — no quotation is reader-checkable online</a:t>
            </a:r>
            <a:endParaRPr lang="en-US" sz="15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Claim-level judgements not yet human-validated</a:t>
            </a:r>
            <a:endParaRPr lang="en-US" sz="15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3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— B5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Root text + commentaries + curated registry.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651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Bodhicaryāvatāra (10 commentaries) already prepared — and that corpus has real refutation exchanges.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34747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shape: Sanskrit, Pāli, classical Chinese scholasticism.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Expanding the Digital Footprint of Tibetan</dc:title>
  <dc:subject>PptxGenJS Presentation</dc:subject>
  <dc:creator>PptxGenJS</dc:creator>
  <cp:lastModifiedBy>PptxGenJS</cp:lastModifiedBy>
  <cp:revision>1</cp:revision>
  <dcterms:created xsi:type="dcterms:W3CDTF">2026-08-22T17:39:01Z</dcterms:created>
  <dcterms:modified xsi:type="dcterms:W3CDTF">2026-08-22T17:39:01Z</dcterms:modified>
</cp:coreProperties>
</file>