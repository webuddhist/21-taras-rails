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</p:sldIdLst>
  <p:notesMasterIdLst>
    <p:notesMasterId r:id="rId3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notesMaster" Target="notesMasters/notesMaster1.xml"/><Relationship Id="rId35" Type="http://schemas.openxmlformats.org/officeDocument/2006/relationships/presProps" Target="presProps.xml"/><Relationship Id="rId36" Type="http://schemas.openxmlformats.org/officeDocument/2006/relationships/viewProps" Target="viewProps.xml"/><Relationship Id="rId37" Type="http://schemas.openxmlformats.org/officeDocument/2006/relationships/theme" Target="theme/theme1.xml"/><Relationship Id="rId3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018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11680" y="-2194560"/>
            <a:ext cx="8229600" cy="6583680"/>
          </a:xfrm>
          <a:prstGeom prst="ellipse">
            <a:avLst/>
          </a:prstGeom>
          <a:solidFill>
            <a:srgbClr val="352A20">
              <a:alpha val="38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-1828800" y="3108960"/>
            <a:ext cx="7315200" cy="5852160"/>
          </a:xfrm>
          <a:prstGeom prst="ellipse">
            <a:avLst/>
          </a:prstGeom>
          <a:solidFill>
            <a:srgbClr val="352A20">
              <a:alpha val="24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5E0D8">
              <a:alpha val="12000"/>
            </a:srgbClr>
          </a:solidFill>
          <a:ln w="12700">
            <a:solidFill>
              <a:srgbClr val="B8B2A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14400" y="2148840"/>
            <a:ext cx="10360152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600" b="1" spc="-40" kern="0" dirty="0">
                <a:solidFill>
                  <a:srgbClr val="FAF6F0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Expanding the Digital Footprint of Tibetan</a:t>
            </a:r>
            <a:endParaRPr lang="en-US" sz="4600" dirty="0"/>
          </a:p>
        </p:txBody>
      </p:sp>
      <p:sp>
        <p:nvSpPr>
          <p:cNvPr id="6" name="Text 4"/>
          <p:cNvSpPr/>
          <p:nvPr/>
        </p:nvSpPr>
        <p:spPr>
          <a:xfrm>
            <a:off x="1645920" y="3474720"/>
            <a:ext cx="8897112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B8B2A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semi-automatic pipeline for Wikipedia article generation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4498848" y="4315968"/>
            <a:ext cx="3200400" cy="548640"/>
          </a:xfrm>
          <a:prstGeom prst="roundRect">
            <a:avLst>
              <a:gd name="adj" fmla="val 50000"/>
            </a:avLst>
          </a:prstGeom>
          <a:solidFill>
            <a:srgbClr val="352A20"/>
          </a:solidFill>
          <a:ln w="12700">
            <a:solidFill>
              <a:srgbClr val="D9A44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498848" y="4315968"/>
            <a:ext cx="3200400" cy="548640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AF6F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Tashi Tsering · OpenPecha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365760" y="6400800"/>
            <a:ext cx="5943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37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IMG-01 — darkened pecha photograph (replace, full-bleed)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6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685800"/>
            <a:ext cx="11274552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800" b="1" spc="-300" kern="0" dirty="0">
                <a:solidFill>
                  <a:srgbClr val="1A1A1A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7,000,000</a:t>
            </a:r>
            <a:endParaRPr lang="en-US" sz="13800" dirty="0"/>
          </a:p>
        </p:txBody>
      </p:sp>
      <p:sp>
        <p:nvSpPr>
          <p:cNvPr id="3" name="Text 1"/>
          <p:cNvSpPr/>
          <p:nvPr/>
        </p:nvSpPr>
        <p:spPr>
          <a:xfrm>
            <a:off x="457200" y="2487168"/>
            <a:ext cx="1127455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spc="600" kern="0" dirty="0">
                <a:solidFill>
                  <a:srgbClr val="8A8378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SPEAKERS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57200" y="3429000"/>
            <a:ext cx="11274552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800" b="1" spc="-300" kern="0" dirty="0">
                <a:solidFill>
                  <a:srgbClr val="B03A1E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8,073</a:t>
            </a:r>
            <a:endParaRPr lang="en-US" sz="13800" dirty="0"/>
          </a:p>
        </p:txBody>
      </p:sp>
      <p:sp>
        <p:nvSpPr>
          <p:cNvPr id="5" name="Text 3"/>
          <p:cNvSpPr/>
          <p:nvPr/>
        </p:nvSpPr>
        <p:spPr>
          <a:xfrm>
            <a:off x="457200" y="5230368"/>
            <a:ext cx="1127455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spc="600" kern="0" dirty="0">
                <a:solidFill>
                  <a:srgbClr val="B03A1E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ARTICLES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10881360" y="6327648"/>
            <a:ext cx="868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B8B2A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6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457200"/>
            <a:ext cx="86868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Welsh: 91,000 → 280,000+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713232" y="1170432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8A837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government policy, 2017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685800" y="2057400"/>
            <a:ext cx="1874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Welsh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2788920" y="1965960"/>
            <a:ext cx="999309" cy="292608"/>
          </a:xfrm>
          <a:prstGeom prst="roundRect">
            <a:avLst>
              <a:gd name="adj" fmla="val 15625"/>
            </a:avLst>
          </a:prstGeom>
          <a:solidFill>
            <a:srgbClr val="B8B2A8"/>
          </a:solidFill>
          <a:ln/>
        </p:spPr>
      </p:sp>
      <p:sp>
        <p:nvSpPr>
          <p:cNvPr id="6" name="Text 4"/>
          <p:cNvSpPr/>
          <p:nvPr/>
        </p:nvSpPr>
        <p:spPr>
          <a:xfrm>
            <a:off x="3897957" y="1956816"/>
            <a:ext cx="2194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A837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850,000 speakers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2788920" y="2331720"/>
            <a:ext cx="329184" cy="292608"/>
          </a:xfrm>
          <a:prstGeom prst="roundRect">
            <a:avLst>
              <a:gd name="adj" fmla="val 15625"/>
            </a:avLst>
          </a:prstGeom>
          <a:solidFill>
            <a:srgbClr val="B8B2A8"/>
          </a:solidFill>
          <a:ln/>
        </p:spPr>
      </p:sp>
      <p:sp>
        <p:nvSpPr>
          <p:cNvPr id="8" name="Text 6"/>
          <p:cNvSpPr/>
          <p:nvPr/>
        </p:nvSpPr>
        <p:spPr>
          <a:xfrm>
            <a:off x="3227832" y="2322576"/>
            <a:ext cx="2194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A837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280,000 articles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685800" y="3154680"/>
            <a:ext cx="1874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Basque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2788920" y="3063240"/>
            <a:ext cx="881743" cy="292608"/>
          </a:xfrm>
          <a:prstGeom prst="roundRect">
            <a:avLst>
              <a:gd name="adj" fmla="val 15625"/>
            </a:avLst>
          </a:prstGeom>
          <a:solidFill>
            <a:srgbClr val="B8B2A8"/>
          </a:solidFill>
          <a:ln/>
        </p:spPr>
      </p:sp>
      <p:sp>
        <p:nvSpPr>
          <p:cNvPr id="11" name="Text 9"/>
          <p:cNvSpPr/>
          <p:nvPr/>
        </p:nvSpPr>
        <p:spPr>
          <a:xfrm>
            <a:off x="3780391" y="3054096"/>
            <a:ext cx="2194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A837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750,000 speakers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2788920" y="3429000"/>
            <a:ext cx="470263" cy="292608"/>
          </a:xfrm>
          <a:prstGeom prst="roundRect">
            <a:avLst>
              <a:gd name="adj" fmla="val 15625"/>
            </a:avLst>
          </a:prstGeom>
          <a:solidFill>
            <a:srgbClr val="B8B2A8"/>
          </a:solidFill>
          <a:ln/>
        </p:spPr>
      </p:sp>
      <p:sp>
        <p:nvSpPr>
          <p:cNvPr id="13" name="Text 11"/>
          <p:cNvSpPr/>
          <p:nvPr/>
        </p:nvSpPr>
        <p:spPr>
          <a:xfrm>
            <a:off x="3368911" y="3419856"/>
            <a:ext cx="2194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A837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~400,000 articles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685800" y="4251960"/>
            <a:ext cx="1874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Estonian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2788920" y="4160520"/>
            <a:ext cx="1293223" cy="292608"/>
          </a:xfrm>
          <a:prstGeom prst="roundRect">
            <a:avLst>
              <a:gd name="adj" fmla="val 15625"/>
            </a:avLst>
          </a:prstGeom>
          <a:solidFill>
            <a:srgbClr val="B8B2A8"/>
          </a:solidFill>
          <a:ln/>
        </p:spPr>
      </p:sp>
      <p:sp>
        <p:nvSpPr>
          <p:cNvPr id="16" name="Text 14"/>
          <p:cNvSpPr/>
          <p:nvPr/>
        </p:nvSpPr>
        <p:spPr>
          <a:xfrm>
            <a:off x="4191871" y="4151376"/>
            <a:ext cx="2194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A837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1,100,000 speakers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2788920" y="4526280"/>
            <a:ext cx="293914" cy="292608"/>
          </a:xfrm>
          <a:prstGeom prst="roundRect">
            <a:avLst>
              <a:gd name="adj" fmla="val 15625"/>
            </a:avLst>
          </a:prstGeom>
          <a:solidFill>
            <a:srgbClr val="B8B2A8"/>
          </a:solidFill>
          <a:ln/>
        </p:spPr>
      </p:sp>
      <p:sp>
        <p:nvSpPr>
          <p:cNvPr id="18" name="Text 16"/>
          <p:cNvSpPr/>
          <p:nvPr/>
        </p:nvSpPr>
        <p:spPr>
          <a:xfrm>
            <a:off x="3192562" y="4517136"/>
            <a:ext cx="2194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A837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~250,000 articles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548640" y="5056632"/>
            <a:ext cx="11109960" cy="1115568"/>
          </a:xfrm>
          <a:prstGeom prst="roundRect">
            <a:avLst>
              <a:gd name="adj" fmla="val 5738"/>
            </a:avLst>
          </a:prstGeom>
          <a:solidFill>
            <a:srgbClr val="F0DFD8"/>
          </a:solidFill>
          <a:ln/>
        </p:spPr>
      </p:sp>
      <p:sp>
        <p:nvSpPr>
          <p:cNvPr id="20" name="Text 18"/>
          <p:cNvSpPr/>
          <p:nvPr/>
        </p:nvSpPr>
        <p:spPr>
          <a:xfrm>
            <a:off x="685800" y="5349240"/>
            <a:ext cx="1874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B03A1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Tibetan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2788920" y="5257800"/>
            <a:ext cx="8229600" cy="292608"/>
          </a:xfrm>
          <a:prstGeom prst="roundRect">
            <a:avLst>
              <a:gd name="adj" fmla="val 15625"/>
            </a:avLst>
          </a:prstGeom>
          <a:solidFill>
            <a:srgbClr val="B03A1E"/>
          </a:solidFill>
          <a:ln/>
        </p:spPr>
      </p:sp>
      <p:sp>
        <p:nvSpPr>
          <p:cNvPr id="22" name="Text 20"/>
          <p:cNvSpPr/>
          <p:nvPr/>
        </p:nvSpPr>
        <p:spPr>
          <a:xfrm>
            <a:off x="2953512" y="5248656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7,000,000 speakers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2788920" y="5623560"/>
            <a:ext cx="45720" cy="292608"/>
          </a:xfrm>
          <a:prstGeom prst="roundRect">
            <a:avLst>
              <a:gd name="adj" fmla="val 100000"/>
            </a:avLst>
          </a:prstGeom>
          <a:solidFill>
            <a:srgbClr val="B03A1E"/>
          </a:solidFill>
          <a:ln/>
        </p:spPr>
      </p:sp>
      <p:sp>
        <p:nvSpPr>
          <p:cNvPr id="24" name="Text 22"/>
          <p:cNvSpPr/>
          <p:nvPr/>
        </p:nvSpPr>
        <p:spPr>
          <a:xfrm>
            <a:off x="2944368" y="5614416"/>
            <a:ext cx="2194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B03A1E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8,073 articles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10881360" y="6327648"/>
            <a:ext cx="868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B8B2A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6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4572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A1A1A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Below the coin-toss line.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2514600" y="2395408"/>
            <a:ext cx="1554480" cy="3136712"/>
          </a:xfrm>
          <a:prstGeom prst="roundRect">
            <a:avLst>
              <a:gd name="adj" fmla="val 3529"/>
            </a:avLst>
          </a:prstGeom>
          <a:solidFill>
            <a:srgbClr val="B8B2A8"/>
          </a:solidFill>
          <a:ln/>
        </p:spPr>
      </p:sp>
      <p:sp>
        <p:nvSpPr>
          <p:cNvPr id="4" name="Text 2"/>
          <p:cNvSpPr/>
          <p:nvPr/>
        </p:nvSpPr>
        <p:spPr>
          <a:xfrm>
            <a:off x="2514600" y="2505136"/>
            <a:ext cx="1554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84.7%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1920240" y="5660136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Qwen-2.5-72B — Chinese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5321808" y="4884039"/>
            <a:ext cx="1554480" cy="648081"/>
          </a:xfrm>
          <a:prstGeom prst="roundRect">
            <a:avLst>
              <a:gd name="adj" fmla="val 8466"/>
            </a:avLst>
          </a:prstGeom>
          <a:solidFill>
            <a:srgbClr val="B03A1E"/>
          </a:solidFill>
          <a:ln/>
        </p:spPr>
      </p:sp>
      <p:sp>
        <p:nvSpPr>
          <p:cNvPr id="7" name="Text 5"/>
          <p:cNvSpPr/>
          <p:nvPr/>
        </p:nvSpPr>
        <p:spPr>
          <a:xfrm>
            <a:off x="5321808" y="4993767"/>
            <a:ext cx="1554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17.5%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4727448" y="5660136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GPT-4 — Tibetan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8129016" y="4921072"/>
            <a:ext cx="1554480" cy="611048"/>
          </a:xfrm>
          <a:prstGeom prst="roundRect">
            <a:avLst>
              <a:gd name="adj" fmla="val 8979"/>
            </a:avLst>
          </a:prstGeom>
          <a:solidFill>
            <a:srgbClr val="B03A1E"/>
          </a:solidFill>
          <a:ln/>
        </p:spPr>
      </p:sp>
      <p:sp>
        <p:nvSpPr>
          <p:cNvPr id="10" name="Text 8"/>
          <p:cNvSpPr/>
          <p:nvPr/>
        </p:nvSpPr>
        <p:spPr>
          <a:xfrm>
            <a:off x="8129016" y="5030800"/>
            <a:ext cx="1554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16.5%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7534656" y="5660136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Qwen-2.5-72B — Tibetan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2103120" y="4606290"/>
            <a:ext cx="7452360" cy="0"/>
          </a:xfrm>
          <a:prstGeom prst="line">
            <a:avLst/>
          </a:prstGeom>
          <a:noFill/>
          <a:ln w="19050">
            <a:solidFill>
              <a:srgbClr val="1A1A1A"/>
            </a:solidFill>
            <a:prstDash val="dash"/>
          </a:ln>
        </p:spPr>
      </p:sp>
      <p:sp>
        <p:nvSpPr>
          <p:cNvPr id="13" name="Shape 11"/>
          <p:cNvSpPr/>
          <p:nvPr/>
        </p:nvSpPr>
        <p:spPr>
          <a:xfrm>
            <a:off x="9692640" y="4368546"/>
            <a:ext cx="1810512" cy="475488"/>
          </a:xfrm>
          <a:prstGeom prst="roundRect">
            <a:avLst>
              <a:gd name="adj" fmla="val 50000"/>
            </a:avLst>
          </a:prstGeom>
          <a:solidFill>
            <a:srgbClr val="FAF6F0"/>
          </a:solidFill>
          <a:ln w="9525">
            <a:solidFill>
              <a:srgbClr val="1A1A1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692640" y="4368546"/>
            <a:ext cx="1810512" cy="475488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A1A1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random guessing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1A1A1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25%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685800" y="6309360"/>
            <a:ext cx="9601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A837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Tibetan ≈ 4× the tokens of Chinese per unit of text (Petrov et al. 2023)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10881360" y="6327648"/>
            <a:ext cx="868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B8B2A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6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490472" y="2084832"/>
            <a:ext cx="2414016" cy="2414016"/>
          </a:xfrm>
          <a:prstGeom prst="ellipse">
            <a:avLst/>
          </a:prstGeom>
          <a:ln w="63500">
            <a:solidFill>
              <a:srgbClr val="B8B2A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284464" y="2084832"/>
            <a:ext cx="2414016" cy="2414016"/>
          </a:xfrm>
          <a:prstGeom prst="ellipse">
            <a:avLst/>
          </a:prstGeom>
          <a:ln w="63500">
            <a:solidFill>
              <a:srgbClr val="B03A1E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 rot="10800000">
            <a:off x="2560320" y="1947672"/>
            <a:ext cx="274320" cy="274320"/>
          </a:xfrm>
          <a:prstGeom prst="triangle">
            <a:avLst/>
          </a:prstGeom>
          <a:solidFill>
            <a:srgbClr val="B8B2A8"/>
          </a:solidFill>
          <a:ln/>
        </p:spPr>
      </p:sp>
      <p:sp>
        <p:nvSpPr>
          <p:cNvPr id="5" name="Shape 3"/>
          <p:cNvSpPr/>
          <p:nvPr/>
        </p:nvSpPr>
        <p:spPr>
          <a:xfrm rot="-5400000">
            <a:off x="3767328" y="3154680"/>
            <a:ext cx="274320" cy="274320"/>
          </a:xfrm>
          <a:prstGeom prst="triangle">
            <a:avLst/>
          </a:prstGeom>
          <a:solidFill>
            <a:srgbClr val="B8B2A8"/>
          </a:solidFill>
          <a:ln/>
        </p:spPr>
      </p:sp>
      <p:sp>
        <p:nvSpPr>
          <p:cNvPr id="6" name="Shape 4"/>
          <p:cNvSpPr/>
          <p:nvPr/>
        </p:nvSpPr>
        <p:spPr>
          <a:xfrm>
            <a:off x="2560320" y="4361688"/>
            <a:ext cx="274320" cy="274320"/>
          </a:xfrm>
          <a:prstGeom prst="triangle">
            <a:avLst/>
          </a:prstGeom>
          <a:solidFill>
            <a:srgbClr val="B8B2A8"/>
          </a:solidFill>
          <a:ln/>
        </p:spPr>
      </p:sp>
      <p:sp>
        <p:nvSpPr>
          <p:cNvPr id="7" name="Shape 5"/>
          <p:cNvSpPr/>
          <p:nvPr/>
        </p:nvSpPr>
        <p:spPr>
          <a:xfrm rot="5400000">
            <a:off x="1353312" y="3154680"/>
            <a:ext cx="274320" cy="274320"/>
          </a:xfrm>
          <a:prstGeom prst="triangle">
            <a:avLst/>
          </a:prstGeom>
          <a:solidFill>
            <a:srgbClr val="B8B2A8"/>
          </a:solidFill>
          <a:ln/>
        </p:spPr>
      </p:sp>
      <p:sp>
        <p:nvSpPr>
          <p:cNvPr id="8" name="Shape 6"/>
          <p:cNvSpPr/>
          <p:nvPr/>
        </p:nvSpPr>
        <p:spPr>
          <a:xfrm>
            <a:off x="9354312" y="1947672"/>
            <a:ext cx="274320" cy="274320"/>
          </a:xfrm>
          <a:prstGeom prst="triangle">
            <a:avLst/>
          </a:prstGeom>
          <a:solidFill>
            <a:srgbClr val="B03A1E"/>
          </a:solidFill>
          <a:ln/>
        </p:spPr>
      </p:sp>
      <p:sp>
        <p:nvSpPr>
          <p:cNvPr id="9" name="Shape 7"/>
          <p:cNvSpPr/>
          <p:nvPr/>
        </p:nvSpPr>
        <p:spPr>
          <a:xfrm rot="5400000">
            <a:off x="10561320" y="3154680"/>
            <a:ext cx="274320" cy="274320"/>
          </a:xfrm>
          <a:prstGeom prst="triangle">
            <a:avLst/>
          </a:prstGeom>
          <a:solidFill>
            <a:srgbClr val="B03A1E"/>
          </a:solidFill>
          <a:ln/>
        </p:spPr>
      </p:sp>
      <p:sp>
        <p:nvSpPr>
          <p:cNvPr id="10" name="Shape 8"/>
          <p:cNvSpPr/>
          <p:nvPr/>
        </p:nvSpPr>
        <p:spPr>
          <a:xfrm rot="10800000">
            <a:off x="9354312" y="4361688"/>
            <a:ext cx="274320" cy="274320"/>
          </a:xfrm>
          <a:prstGeom prst="triangle">
            <a:avLst/>
          </a:prstGeom>
          <a:solidFill>
            <a:srgbClr val="B03A1E"/>
          </a:solidFill>
          <a:ln/>
        </p:spPr>
      </p:sp>
      <p:sp>
        <p:nvSpPr>
          <p:cNvPr id="11" name="Shape 9"/>
          <p:cNvSpPr/>
          <p:nvPr/>
        </p:nvSpPr>
        <p:spPr>
          <a:xfrm rot="-5400000">
            <a:off x="8147304" y="3154680"/>
            <a:ext cx="274320" cy="274320"/>
          </a:xfrm>
          <a:prstGeom prst="triangle">
            <a:avLst/>
          </a:prstGeom>
          <a:solidFill>
            <a:srgbClr val="B03A1E"/>
          </a:solidFill>
          <a:ln/>
        </p:spPr>
      </p:sp>
      <p:sp>
        <p:nvSpPr>
          <p:cNvPr id="12" name="Text 10"/>
          <p:cNvSpPr/>
          <p:nvPr/>
        </p:nvSpPr>
        <p:spPr>
          <a:xfrm>
            <a:off x="1143000" y="1243584"/>
            <a:ext cx="3108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 articles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041648" y="2948940"/>
            <a:ext cx="1234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little training text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777240" y="4636008"/>
            <a:ext cx="3840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tools can't serve the language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228600" y="2948940"/>
            <a:ext cx="1188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fewer people write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7936992" y="1243584"/>
            <a:ext cx="3108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cited articles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10835640" y="2948940"/>
            <a:ext cx="1280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digital footprint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7571232" y="4636008"/>
            <a:ext cx="3840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better tools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6912864" y="2948940"/>
            <a:ext cx="1234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faster articles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5385816" y="2944368"/>
            <a:ext cx="1417320" cy="713232"/>
          </a:xfrm>
          <a:prstGeom prst="roundRect">
            <a:avLst>
              <a:gd name="adj" fmla="val 50000"/>
            </a:avLst>
          </a:prstGeom>
          <a:solidFill>
            <a:srgbClr val="F7EAD0"/>
          </a:solidFill>
          <a:ln w="15875">
            <a:solidFill>
              <a:srgbClr val="D9A44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385816" y="2944368"/>
            <a:ext cx="1417320" cy="713232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50" b="1" spc="50" kern="0" dirty="0">
                <a:solidFill>
                  <a:srgbClr val="D9A441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VERIFICATION</a:t>
            </a:r>
            <a:endParaRPr lang="en-US" sz="1350" dirty="0"/>
          </a:p>
        </p:txBody>
      </p:sp>
      <p:sp>
        <p:nvSpPr>
          <p:cNvPr id="22" name="Text 20"/>
          <p:cNvSpPr/>
          <p:nvPr/>
        </p:nvSpPr>
        <p:spPr>
          <a:xfrm>
            <a:off x="685800" y="6053328"/>
            <a:ext cx="1081735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A837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Same loop. Only the sign differs.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10881360" y="6327648"/>
            <a:ext cx="868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B8B2A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6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777240"/>
            <a:ext cx="3392424" cy="4846320"/>
          </a:xfrm>
          <a:prstGeom prst="roundRect">
            <a:avLst>
              <a:gd name="adj" fmla="val 2695"/>
            </a:avLst>
          </a:prstGeom>
          <a:solidFill>
            <a:srgbClr val="FFFFFF"/>
          </a:solidFill>
          <a:ln w="12700">
            <a:solidFill>
              <a:srgbClr val="E5E0D8"/>
            </a:solidFill>
            <a:prstDash val="solid"/>
          </a:ln>
          <a:effectLst>
            <a:outerShdw sx="100000" sy="100000" kx="0" ky="0" algn="bl" rotWithShape="0" blurRad="177800" dist="38100" dir="5400000">
              <a:srgbClr val="8A8378">
                <a:alpha val="16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4398264" y="777240"/>
            <a:ext cx="3392424" cy="4846320"/>
          </a:xfrm>
          <a:prstGeom prst="roundRect">
            <a:avLst>
              <a:gd name="adj" fmla="val 2695"/>
            </a:avLst>
          </a:prstGeom>
          <a:solidFill>
            <a:srgbClr val="FFFFFF"/>
          </a:solidFill>
          <a:ln w="12700">
            <a:solidFill>
              <a:srgbClr val="E5E0D8"/>
            </a:solidFill>
            <a:prstDash val="solid"/>
          </a:ln>
          <a:effectLst>
            <a:outerShdw sx="100000" sy="100000" kx="0" ky="0" algn="bl" rotWithShape="0" blurRad="177800" dist="38100" dir="5400000">
              <a:srgbClr val="8A8378">
                <a:alpha val="16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8110728" y="777240"/>
            <a:ext cx="3392424" cy="4846320"/>
          </a:xfrm>
          <a:prstGeom prst="roundRect">
            <a:avLst>
              <a:gd name="adj" fmla="val 2695"/>
            </a:avLst>
          </a:prstGeom>
          <a:solidFill>
            <a:srgbClr val="F0DFD8"/>
          </a:solidFill>
          <a:ln w="22225">
            <a:solidFill>
              <a:srgbClr val="B03A1E"/>
            </a:solidFill>
            <a:prstDash val="solid"/>
          </a:ln>
          <a:effectLst>
            <a:outerShdw sx="100000" sy="100000" kx="0" ky="0" algn="bl" rotWithShape="0" blurRad="177800" dist="38100" dir="5400000">
              <a:srgbClr val="8A8378">
                <a:alpha val="16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879092" y="1097280"/>
            <a:ext cx="1005840" cy="1005840"/>
          </a:xfrm>
          <a:prstGeom prst="ellipse">
            <a:avLst/>
          </a:prstGeom>
          <a:solidFill>
            <a:srgbClr val="F3EDE4"/>
          </a:solidFill>
          <a:ln w="12700">
            <a:solidFill>
              <a:srgbClr val="E5E0D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879092" y="1097280"/>
            <a:ext cx="1005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dirty="0">
                <a:solidFill>
                  <a:srgbClr val="000000"/>
                </a:solidFill>
              </a:rPr>
              <a:t>✋</a:t>
            </a:r>
            <a:endParaRPr lang="en-US" sz="3400" dirty="0"/>
          </a:p>
        </p:txBody>
      </p:sp>
      <p:sp>
        <p:nvSpPr>
          <p:cNvPr id="7" name="Shape 5"/>
          <p:cNvSpPr/>
          <p:nvPr/>
        </p:nvSpPr>
        <p:spPr>
          <a:xfrm>
            <a:off x="5591556" y="1097280"/>
            <a:ext cx="1005840" cy="1005840"/>
          </a:xfrm>
          <a:prstGeom prst="ellipse">
            <a:avLst/>
          </a:prstGeom>
          <a:solidFill>
            <a:srgbClr val="F3EDE4"/>
          </a:solidFill>
          <a:ln w="12700">
            <a:solidFill>
              <a:srgbClr val="E5E0D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591556" y="1097280"/>
            <a:ext cx="1005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dirty="0">
                <a:solidFill>
                  <a:srgbClr val="000000"/>
                </a:solidFill>
              </a:rPr>
              <a:t>🤖</a:t>
            </a:r>
            <a:endParaRPr lang="en-US" sz="3400" dirty="0"/>
          </a:p>
        </p:txBody>
      </p:sp>
      <p:sp>
        <p:nvSpPr>
          <p:cNvPr id="9" name="Shape 7"/>
          <p:cNvSpPr/>
          <p:nvPr/>
        </p:nvSpPr>
        <p:spPr>
          <a:xfrm>
            <a:off x="9304020" y="1097280"/>
            <a:ext cx="1005840" cy="100584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B03A1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304020" y="1097280"/>
            <a:ext cx="1005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dirty="0">
                <a:solidFill>
                  <a:srgbClr val="000000"/>
                </a:solidFill>
              </a:rPr>
              <a:t>✅</a:t>
            </a:r>
            <a:endParaRPr lang="en-US" sz="3400" dirty="0"/>
          </a:p>
        </p:txBody>
      </p:sp>
      <p:sp>
        <p:nvSpPr>
          <p:cNvPr id="11" name="Text 9"/>
          <p:cNvSpPr/>
          <p:nvPr/>
        </p:nvSpPr>
        <p:spPr>
          <a:xfrm>
            <a:off x="685800" y="2286000"/>
            <a:ext cx="339242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1A1A1A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By hand</a:t>
            </a:r>
            <a:endParaRPr lang="en-US" sz="2500" dirty="0"/>
          </a:p>
        </p:txBody>
      </p:sp>
      <p:sp>
        <p:nvSpPr>
          <p:cNvPr id="12" name="Text 10"/>
          <p:cNvSpPr/>
          <p:nvPr/>
        </p:nvSpPr>
        <p:spPr>
          <a:xfrm>
            <a:off x="4398264" y="2286000"/>
            <a:ext cx="339242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1A1A1A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Unsupervised</a:t>
            </a:r>
            <a:endParaRPr lang="en-US" sz="2500" dirty="0"/>
          </a:p>
        </p:txBody>
      </p:sp>
      <p:sp>
        <p:nvSpPr>
          <p:cNvPr id="13" name="Text 11"/>
          <p:cNvSpPr/>
          <p:nvPr/>
        </p:nvSpPr>
        <p:spPr>
          <a:xfrm>
            <a:off x="8110728" y="2286000"/>
            <a:ext cx="339242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1A1A1A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Supervised</a:t>
            </a:r>
            <a:endParaRPr lang="en-US" sz="2500" dirty="0"/>
          </a:p>
        </p:txBody>
      </p:sp>
      <p:sp>
        <p:nvSpPr>
          <p:cNvPr id="14" name="Text 12"/>
          <p:cNvSpPr/>
          <p:nvPr/>
        </p:nvSpPr>
        <p:spPr>
          <a:xfrm>
            <a:off x="4626864" y="2807208"/>
            <a:ext cx="2935224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8A837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Scots · Cebuano · Greenlandic (closed, 2025)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960120" y="3474720"/>
            <a:ext cx="2843784" cy="1783080"/>
          </a:xfrm>
          <a:prstGeom prst="roundRect">
            <a:avLst>
              <a:gd name="adj" fmla="val 4615"/>
            </a:avLst>
          </a:prstGeom>
          <a:solidFill>
            <a:srgbClr val="F3EDE4"/>
          </a:solidFill>
          <a:ln w="9525">
            <a:solidFill>
              <a:srgbClr val="B8B2A8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60120" y="3474720"/>
            <a:ext cx="2843784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8A837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too slow</a:t>
            </a:r>
            <a:endParaRPr lang="en-US" sz="1800" dirty="0"/>
          </a:p>
        </p:txBody>
      </p:sp>
      <p:sp>
        <p:nvSpPr>
          <p:cNvPr id="17" name="Shape 15"/>
          <p:cNvSpPr/>
          <p:nvPr/>
        </p:nvSpPr>
        <p:spPr>
          <a:xfrm>
            <a:off x="4672584" y="3474720"/>
            <a:ext cx="2843784" cy="1783080"/>
          </a:xfrm>
          <a:prstGeom prst="roundRect">
            <a:avLst>
              <a:gd name="adj" fmla="val 4615"/>
            </a:avLst>
          </a:prstGeom>
          <a:solidFill>
            <a:srgbClr val="E5E0D8"/>
          </a:solidFill>
          <a:ln w="12700">
            <a:solidFill>
              <a:srgbClr val="B8B2A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672584" y="3474720"/>
            <a:ext cx="2843784" cy="1783080"/>
          </a:xfrm>
          <a:prstGeom prst="rect">
            <a:avLst/>
          </a:prstGeom>
          <a:noFill/>
          <a:ln/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8A837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IMG-02</a:t>
            </a:r>
            <a:endParaRPr lang="en-US" sz="110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8A837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Greenlandic Wikipedia closure notice (or Scots controversy headline)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8385048" y="3474720"/>
            <a:ext cx="2843784" cy="178308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12700">
            <a:solidFill>
              <a:srgbClr val="B03A1E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385048" y="3474720"/>
            <a:ext cx="2843784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B03A1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this talk</a:t>
            </a:r>
            <a:endParaRPr lang="en-US" sz="1900" dirty="0"/>
          </a:p>
        </p:txBody>
      </p:sp>
      <p:sp>
        <p:nvSpPr>
          <p:cNvPr id="21" name="Text 19"/>
          <p:cNvSpPr/>
          <p:nvPr/>
        </p:nvSpPr>
        <p:spPr>
          <a:xfrm>
            <a:off x="685800" y="5943600"/>
            <a:ext cx="10817352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A837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Content Translation — machine draft + mandatory human edit — shows lower deletion rates across 2.4M+ creations.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10881360" y="6327648"/>
            <a:ext cx="868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B8B2A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6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640080"/>
            <a:ext cx="107899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1A1A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100,000 articles, at the observed rate: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822960" y="2148840"/>
            <a:ext cx="12252960" cy="777240"/>
          </a:xfrm>
          <a:prstGeom prst="roundRect">
            <a:avLst>
              <a:gd name="adj" fmla="val 9412"/>
            </a:avLst>
          </a:prstGeom>
          <a:solidFill>
            <a:srgbClr val="B8B2A8"/>
          </a:solidFill>
          <a:ln/>
        </p:spPr>
      </p:sp>
      <p:sp>
        <p:nvSpPr>
          <p:cNvPr id="4" name="Text 2"/>
          <p:cNvSpPr/>
          <p:nvPr/>
        </p:nvSpPr>
        <p:spPr>
          <a:xfrm>
            <a:off x="1143000" y="2212848"/>
            <a:ext cx="3200400" cy="6492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A1A1A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~285 years</a:t>
            </a:r>
            <a:endParaRPr lang="en-US" sz="2700" dirty="0"/>
          </a:p>
        </p:txBody>
      </p:sp>
      <p:sp>
        <p:nvSpPr>
          <p:cNvPr id="5" name="Shape 3"/>
          <p:cNvSpPr/>
          <p:nvPr/>
        </p:nvSpPr>
        <p:spPr>
          <a:xfrm>
            <a:off x="822960" y="3657600"/>
            <a:ext cx="1965960" cy="777240"/>
          </a:xfrm>
          <a:prstGeom prst="roundRect">
            <a:avLst>
              <a:gd name="adj" fmla="val 9412"/>
            </a:avLst>
          </a:prstGeom>
          <a:solidFill>
            <a:srgbClr val="B03A1E"/>
          </a:solidFill>
          <a:ln/>
        </p:spPr>
      </p:sp>
      <p:sp>
        <p:nvSpPr>
          <p:cNvPr id="6" name="Text 4"/>
          <p:cNvSpPr/>
          <p:nvPr/>
        </p:nvSpPr>
        <p:spPr>
          <a:xfrm>
            <a:off x="3063240" y="3721608"/>
            <a:ext cx="8138160" cy="6492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24–48 person-years — this pipeline, review-bound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822960" y="5166360"/>
            <a:ext cx="7863840" cy="9144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5E0D8"/>
            </a:solidFill>
            <a:prstDash val="solid"/>
          </a:ln>
          <a:effectLst>
            <a:outerShdw sx="100000" sy="100000" kx="0" ky="0" algn="bl" rotWithShape="0" blurRad="177800" dist="38100" dir="5400000">
              <a:srgbClr val="8A8378">
                <a:alpha val="16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1143000" y="5166360"/>
            <a:ext cx="7406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8A837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Dzongkha program (manual, funded): 80 articles in 5 months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10881360" y="6327648"/>
            <a:ext cx="868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B8B2A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6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457200"/>
            <a:ext cx="1078992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A1A1A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The model is the apprentice.</a:t>
            </a:r>
            <a:endParaRPr lang="en-US" sz="2900" dirty="0"/>
          </a:p>
          <a:p>
            <a:pPr indent="0" marL="0">
              <a:buNone/>
            </a:pPr>
            <a:r>
              <a:rPr lang="en-US" sz="2900" b="1" dirty="0">
                <a:solidFill>
                  <a:srgbClr val="1A1A1A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The harness is the workshop.</a:t>
            </a:r>
            <a:endParaRPr lang="en-US" sz="2900" dirty="0"/>
          </a:p>
        </p:txBody>
      </p:sp>
      <p:sp>
        <p:nvSpPr>
          <p:cNvPr id="3" name="Shape 1"/>
          <p:cNvSpPr/>
          <p:nvPr/>
        </p:nvSpPr>
        <p:spPr>
          <a:xfrm>
            <a:off x="685800" y="1828800"/>
            <a:ext cx="6720840" cy="4297680"/>
          </a:xfrm>
          <a:prstGeom prst="roundRect">
            <a:avLst>
              <a:gd name="adj" fmla="val 1915"/>
            </a:avLst>
          </a:prstGeom>
          <a:solidFill>
            <a:srgbClr val="E5E0D8"/>
          </a:solidFill>
          <a:ln w="12700">
            <a:solidFill>
              <a:srgbClr val="B8B2A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85800" y="1828800"/>
            <a:ext cx="6720840" cy="4297680"/>
          </a:xfrm>
          <a:prstGeom prst="rect">
            <a:avLst/>
          </a:prstGeom>
          <a:noFill/>
          <a:ln/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8A837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IMG-03</a:t>
            </a:r>
            <a:endParaRPr lang="en-US" sz="110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8A837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line illustration: workbench + racked tools + rulebook + in/out-tray — "the harness"; figure at the bench — "the agent"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7635240" y="1828800"/>
            <a:ext cx="3867912" cy="4297680"/>
          </a:xfrm>
          <a:prstGeom prst="roundRect">
            <a:avLst>
              <a:gd name="adj" fmla="val 2364"/>
            </a:avLst>
          </a:prstGeom>
          <a:solidFill>
            <a:srgbClr val="F3EDE4"/>
          </a:solidFill>
          <a:ln w="12700">
            <a:solidFill>
              <a:srgbClr val="E5E0D8"/>
            </a:solidFill>
            <a:prstDash val="solid"/>
          </a:ln>
          <a:effectLst>
            <a:outerShdw sx="100000" sy="100000" kx="0" ky="0" algn="bl" rotWithShape="0" blurRad="177800" dist="38100" dir="5400000">
              <a:srgbClr val="8A8378">
                <a:alpha val="16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882128" y="3246120"/>
            <a:ext cx="33832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1000"/>
              </a:spcAft>
              <a:buNone/>
            </a:pPr>
            <a:r>
              <a:rPr lang="en-US" sz="1150" dirty="0">
                <a:solidFill>
                  <a:srgbClr val="1A1A1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model          judgement</a:t>
            </a:r>
            <a:endParaRPr lang="en-US" sz="115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150" dirty="0">
                <a:solidFill>
                  <a:srgbClr val="1A1A1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  ├ tools      read · write · run · search</a:t>
            </a:r>
            <a:endParaRPr lang="en-US" sz="115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150" dirty="0">
                <a:solidFill>
                  <a:srgbClr val="1A1A1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  ├ context    what it may see, per call</a:t>
            </a:r>
            <a:endParaRPr lang="en-US" sz="115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150" dirty="0">
                <a:solidFill>
                  <a:srgbClr val="1A1A1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  └ rules      what it must do, per task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10881360" y="6327648"/>
            <a:ext cx="868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B8B2A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6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411480"/>
            <a:ext cx="107899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A1A1A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62 skills · 11,251 lines of written-down method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685800" y="1051560"/>
            <a:ext cx="10789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8A837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model doesn't know the procedure. It loads it.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685800" y="1828800"/>
            <a:ext cx="5074920" cy="4069080"/>
          </a:xfrm>
          <a:prstGeom prst="roundRect">
            <a:avLst>
              <a:gd name="adj" fmla="val 2247"/>
            </a:avLst>
          </a:prstGeom>
          <a:solidFill>
            <a:srgbClr val="201812"/>
          </a:solidFill>
          <a:ln/>
          <a:effectLst>
            <a:outerShdw sx="100000" sy="100000" kx="0" ky="0" algn="bl" rotWithShape="0" blurRad="177800" dist="38100" dir="5400000">
              <a:srgbClr val="8A8378">
                <a:alpha val="2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960120" y="1965960"/>
            <a:ext cx="365760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800"/>
              </a:lnSpc>
              <a:buNone/>
            </a:pPr>
            <a:r>
              <a:rPr lang="en-US" sz="1000" dirty="0">
                <a:solidFill>
                  <a:srgbClr val="6FE39B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1</a:t>
            </a:r>
            <a:endParaRPr lang="en-US" sz="1000" dirty="0"/>
          </a:p>
          <a:p>
            <a:pPr algn="ctr" indent="0" marL="0">
              <a:lnSpc>
                <a:spcPts val="1800"/>
              </a:lnSpc>
              <a:buNone/>
            </a:pPr>
            <a:r>
              <a:rPr lang="en-US" sz="1000" dirty="0">
                <a:solidFill>
                  <a:srgbClr val="6FE39B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</a:t>
            </a:r>
            <a:endParaRPr lang="en-US" sz="1000" dirty="0"/>
          </a:p>
          <a:p>
            <a:pPr algn="ctr" indent="0" marL="0">
              <a:lnSpc>
                <a:spcPts val="1800"/>
              </a:lnSpc>
              <a:buNone/>
            </a:pPr>
            <a:r>
              <a:rPr lang="en-US" sz="1000" dirty="0">
                <a:solidFill>
                  <a:srgbClr val="6FE39B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k</a:t>
            </a:r>
            <a:endParaRPr lang="en-US" sz="1000" dirty="0"/>
          </a:p>
          <a:p>
            <a:pPr algn="ctr" indent="0" marL="0">
              <a:lnSpc>
                <a:spcPts val="1800"/>
              </a:lnSpc>
              <a:buNone/>
            </a:pPr>
            <a:r>
              <a:rPr lang="en-US" sz="1000" dirty="0">
                <a:solidFill>
                  <a:srgbClr val="6FE39B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7</a:t>
            </a:r>
            <a:endParaRPr lang="en-US" sz="1000" dirty="0"/>
          </a:p>
          <a:p>
            <a:pPr algn="ctr" indent="0" marL="0">
              <a:lnSpc>
                <a:spcPts val="1800"/>
              </a:lnSpc>
              <a:buNone/>
            </a:pPr>
            <a:r>
              <a:rPr lang="en-US" sz="1000" dirty="0">
                <a:solidFill>
                  <a:srgbClr val="6FE39B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3</a:t>
            </a:r>
            <a:endParaRPr lang="en-US" sz="1000" dirty="0"/>
          </a:p>
          <a:p>
            <a:pPr algn="ctr" indent="0" marL="0">
              <a:lnSpc>
                <a:spcPts val="1800"/>
              </a:lnSpc>
              <a:buNone/>
            </a:pPr>
            <a:r>
              <a:rPr lang="en-US" sz="1000" dirty="0">
                <a:solidFill>
                  <a:srgbClr val="6FE39B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</a:t>
            </a:r>
            <a:endParaRPr lang="en-US" sz="1000" dirty="0"/>
          </a:p>
          <a:p>
            <a:pPr algn="ctr" indent="0" marL="0">
              <a:lnSpc>
                <a:spcPts val="1800"/>
              </a:lnSpc>
              <a:buNone/>
            </a:pPr>
            <a:r>
              <a:rPr lang="en-US" sz="1000" dirty="0">
                <a:solidFill>
                  <a:srgbClr val="6FE39B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1</a:t>
            </a:r>
            <a:endParaRPr lang="en-US" sz="1000" dirty="0"/>
          </a:p>
          <a:p>
            <a:pPr algn="ctr" indent="0" marL="0">
              <a:lnSpc>
                <a:spcPts val="1800"/>
              </a:lnSpc>
              <a:buNone/>
            </a:pPr>
            <a:r>
              <a:rPr lang="en-US" sz="1000" dirty="0">
                <a:solidFill>
                  <a:srgbClr val="6FE39B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y</a:t>
            </a:r>
            <a:endParaRPr lang="en-US" sz="1000" dirty="0"/>
          </a:p>
          <a:p>
            <a:pPr algn="ctr" indent="0" marL="0">
              <a:lnSpc>
                <a:spcPts val="1800"/>
              </a:lnSpc>
              <a:buNone/>
            </a:pPr>
            <a:r>
              <a:rPr lang="en-US" sz="1000" dirty="0">
                <a:solidFill>
                  <a:srgbClr val="6FE39B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</a:t>
            </a:r>
            <a:endParaRPr lang="en-US" sz="1000" dirty="0"/>
          </a:p>
          <a:p>
            <a:pPr algn="ctr" indent="0" marL="0">
              <a:lnSpc>
                <a:spcPts val="1800"/>
              </a:lnSpc>
              <a:buNone/>
            </a:pPr>
            <a:r>
              <a:rPr lang="en-US" sz="1000" dirty="0">
                <a:solidFill>
                  <a:srgbClr val="6FE39B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x</a:t>
            </a:r>
            <a:endParaRPr lang="en-US" sz="1000" dirty="0"/>
          </a:p>
          <a:p>
            <a:pPr algn="ctr" indent="0" marL="0">
              <a:lnSpc>
                <a:spcPts val="1800"/>
              </a:lnSpc>
              <a:buNone/>
            </a:pPr>
            <a:r>
              <a:rPr lang="en-US" sz="1000" dirty="0">
                <a:solidFill>
                  <a:srgbClr val="6FE39B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1</a:t>
            </a:r>
            <a:endParaRPr lang="en-US" sz="1000" dirty="0"/>
          </a:p>
          <a:p>
            <a:pPr algn="ctr" indent="0" marL="0">
              <a:lnSpc>
                <a:spcPts val="1800"/>
              </a:lnSpc>
              <a:buNone/>
            </a:pPr>
            <a:r>
              <a:rPr lang="en-US" sz="1000" dirty="0">
                <a:solidFill>
                  <a:srgbClr val="6FE39B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o</a:t>
            </a:r>
            <a:endParaRPr lang="en-US" sz="1000" dirty="0"/>
          </a:p>
          <a:p>
            <a:pPr algn="ctr" indent="0" marL="0">
              <a:lnSpc>
                <a:spcPts val="1800"/>
              </a:lnSpc>
              <a:buNone/>
            </a:pPr>
            <a:r>
              <a:rPr lang="en-US" sz="1000" dirty="0">
                <a:solidFill>
                  <a:srgbClr val="6FE39B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</a:t>
            </a:r>
            <a:endParaRPr lang="en-US" sz="1000" dirty="0"/>
          </a:p>
          <a:p>
            <a:pPr algn="ctr" indent="0" marL="0">
              <a:lnSpc>
                <a:spcPts val="1800"/>
              </a:lnSpc>
              <a:buNone/>
            </a:pPr>
            <a:r>
              <a:rPr lang="en-US" sz="1000" dirty="0">
                <a:solidFill>
                  <a:srgbClr val="6FE39B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1</a:t>
            </a:r>
            <a:endParaRPr lang="en-US" sz="1000" dirty="0"/>
          </a:p>
          <a:p>
            <a:pPr algn="ctr" indent="0" marL="0">
              <a:lnSpc>
                <a:spcPts val="1800"/>
              </a:lnSpc>
              <a:buNone/>
            </a:pPr>
            <a:r>
              <a:rPr lang="en-US" sz="1000" dirty="0">
                <a:solidFill>
                  <a:srgbClr val="6FE39B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7</a:t>
            </a:r>
            <a:endParaRPr lang="en-US" sz="1000" dirty="0"/>
          </a:p>
          <a:p>
            <a:pPr algn="ctr" indent="0" marL="0">
              <a:lnSpc>
                <a:spcPts val="1800"/>
              </a:lnSpc>
              <a:buNone/>
            </a:pPr>
            <a:r>
              <a:rPr lang="en-US" sz="1000" dirty="0">
                <a:solidFill>
                  <a:srgbClr val="6FE39B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k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1463040" y="1965960"/>
            <a:ext cx="365760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800"/>
              </a:lnSpc>
              <a:buNone/>
            </a:pPr>
            <a:r>
              <a:rPr lang="en-US" sz="1000" dirty="0">
                <a:solidFill>
                  <a:srgbClr val="3FD18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</a:t>
            </a:r>
            <a:endParaRPr lang="en-US" sz="1000" dirty="0"/>
          </a:p>
          <a:p>
            <a:pPr algn="ctr" indent="0" marL="0">
              <a:lnSpc>
                <a:spcPts val="1800"/>
              </a:lnSpc>
              <a:buNone/>
            </a:pPr>
            <a:r>
              <a:rPr lang="en-US" sz="1000" dirty="0">
                <a:solidFill>
                  <a:srgbClr val="3FD18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x</a:t>
            </a:r>
            <a:endParaRPr lang="en-US" sz="1000" dirty="0"/>
          </a:p>
          <a:p>
            <a:pPr algn="ctr" indent="0" marL="0">
              <a:lnSpc>
                <a:spcPts val="1800"/>
              </a:lnSpc>
              <a:buNone/>
            </a:pPr>
            <a:r>
              <a:rPr lang="en-US" sz="1000" dirty="0">
                <a:solidFill>
                  <a:srgbClr val="3FD18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1</a:t>
            </a:r>
            <a:endParaRPr lang="en-US" sz="1000" dirty="0"/>
          </a:p>
          <a:p>
            <a:pPr algn="ctr" indent="0" marL="0">
              <a:lnSpc>
                <a:spcPts val="1800"/>
              </a:lnSpc>
              <a:buNone/>
            </a:pPr>
            <a:r>
              <a:rPr lang="en-US" sz="1000" dirty="0">
                <a:solidFill>
                  <a:srgbClr val="3FD18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o</a:t>
            </a:r>
            <a:endParaRPr lang="en-US" sz="1000" dirty="0"/>
          </a:p>
          <a:p>
            <a:pPr algn="ctr" indent="0" marL="0">
              <a:lnSpc>
                <a:spcPts val="1800"/>
              </a:lnSpc>
              <a:buNone/>
            </a:pPr>
            <a:r>
              <a:rPr lang="en-US" sz="1000" dirty="0">
                <a:solidFill>
                  <a:srgbClr val="3FD18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</a:t>
            </a:r>
            <a:endParaRPr lang="en-US" sz="1000" dirty="0"/>
          </a:p>
          <a:p>
            <a:pPr algn="ctr" indent="0" marL="0">
              <a:lnSpc>
                <a:spcPts val="1800"/>
              </a:lnSpc>
              <a:buNone/>
            </a:pPr>
            <a:r>
              <a:rPr lang="en-US" sz="1000" dirty="0">
                <a:solidFill>
                  <a:srgbClr val="3FD18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1</a:t>
            </a:r>
            <a:endParaRPr lang="en-US" sz="1000" dirty="0"/>
          </a:p>
          <a:p>
            <a:pPr algn="ctr" indent="0" marL="0">
              <a:lnSpc>
                <a:spcPts val="1800"/>
              </a:lnSpc>
              <a:buNone/>
            </a:pPr>
            <a:r>
              <a:rPr lang="en-US" sz="1000" dirty="0">
                <a:solidFill>
                  <a:srgbClr val="3FD18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7</a:t>
            </a:r>
            <a:endParaRPr lang="en-US" sz="1000" dirty="0"/>
          </a:p>
          <a:p>
            <a:pPr algn="ctr" indent="0" marL="0">
              <a:lnSpc>
                <a:spcPts val="1800"/>
              </a:lnSpc>
              <a:buNone/>
            </a:pPr>
            <a:r>
              <a:rPr lang="en-US" sz="1000" dirty="0">
                <a:solidFill>
                  <a:srgbClr val="3FD18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k</a:t>
            </a:r>
            <a:endParaRPr lang="en-US" sz="1000" dirty="0"/>
          </a:p>
          <a:p>
            <a:pPr algn="ctr" indent="0" marL="0">
              <a:lnSpc>
                <a:spcPts val="1800"/>
              </a:lnSpc>
              <a:buNone/>
            </a:pPr>
            <a:r>
              <a:rPr lang="en-US" sz="1000" dirty="0">
                <a:solidFill>
                  <a:srgbClr val="3FD18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y</a:t>
            </a:r>
            <a:endParaRPr lang="en-US" sz="1000" dirty="0"/>
          </a:p>
          <a:p>
            <a:pPr algn="ctr" indent="0" marL="0">
              <a:lnSpc>
                <a:spcPts val="1800"/>
              </a:lnSpc>
              <a:buNone/>
            </a:pPr>
            <a:r>
              <a:rPr lang="en-US" sz="1000" dirty="0">
                <a:solidFill>
                  <a:srgbClr val="3FD18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3</a:t>
            </a:r>
            <a:endParaRPr lang="en-US" sz="1000" dirty="0"/>
          </a:p>
          <a:p>
            <a:pPr algn="ctr" indent="0" marL="0">
              <a:lnSpc>
                <a:spcPts val="1800"/>
              </a:lnSpc>
              <a:buNone/>
            </a:pPr>
            <a:r>
              <a:rPr lang="en-US" sz="1000" dirty="0">
                <a:solidFill>
                  <a:srgbClr val="3FD18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</a:t>
            </a:r>
            <a:endParaRPr lang="en-US" sz="1000" dirty="0"/>
          </a:p>
          <a:p>
            <a:pPr algn="ctr" indent="0" marL="0">
              <a:lnSpc>
                <a:spcPts val="1800"/>
              </a:lnSpc>
              <a:buNone/>
            </a:pPr>
            <a:r>
              <a:rPr lang="en-US" sz="1000" dirty="0">
                <a:solidFill>
                  <a:srgbClr val="3FD18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1</a:t>
            </a:r>
            <a:endParaRPr lang="en-US" sz="1000" dirty="0"/>
          </a:p>
          <a:p>
            <a:pPr algn="ctr" indent="0" marL="0">
              <a:lnSpc>
                <a:spcPts val="1800"/>
              </a:lnSpc>
              <a:buNone/>
            </a:pPr>
            <a:r>
              <a:rPr lang="en-US" sz="1000" dirty="0">
                <a:solidFill>
                  <a:srgbClr val="3FD18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k</a:t>
            </a:r>
            <a:endParaRPr lang="en-US" sz="1000" dirty="0"/>
          </a:p>
          <a:p>
            <a:pPr algn="ctr" indent="0" marL="0">
              <a:lnSpc>
                <a:spcPts val="1800"/>
              </a:lnSpc>
              <a:buNone/>
            </a:pPr>
            <a:r>
              <a:rPr lang="en-US" sz="1000" dirty="0">
                <a:solidFill>
                  <a:srgbClr val="3FD18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x</a:t>
            </a:r>
            <a:endParaRPr lang="en-US" sz="1000" dirty="0"/>
          </a:p>
          <a:p>
            <a:pPr algn="ctr" indent="0" marL="0">
              <a:lnSpc>
                <a:spcPts val="1800"/>
              </a:lnSpc>
              <a:buNone/>
            </a:pPr>
            <a:r>
              <a:rPr lang="en-US" sz="1000" dirty="0">
                <a:solidFill>
                  <a:srgbClr val="3FD18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</a:t>
            </a:r>
            <a:endParaRPr lang="en-US" sz="1000" dirty="0"/>
          </a:p>
          <a:p>
            <a:pPr algn="ctr" indent="0" marL="0">
              <a:lnSpc>
                <a:spcPts val="1800"/>
              </a:lnSpc>
              <a:buNone/>
            </a:pPr>
            <a:r>
              <a:rPr lang="en-US" sz="1000" dirty="0">
                <a:solidFill>
                  <a:srgbClr val="3FD18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1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1965960" y="1965960"/>
            <a:ext cx="365760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800"/>
              </a:lnSpc>
              <a:buNone/>
            </a:pPr>
            <a:r>
              <a:rPr lang="en-US" sz="1000" dirty="0">
                <a:solidFill>
                  <a:srgbClr val="27AE6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y</a:t>
            </a:r>
            <a:endParaRPr lang="en-US" sz="1000" dirty="0"/>
          </a:p>
          <a:p>
            <a:pPr algn="ctr" indent="0" marL="0">
              <a:lnSpc>
                <a:spcPts val="1800"/>
              </a:lnSpc>
              <a:buNone/>
            </a:pPr>
            <a:r>
              <a:rPr lang="en-US" sz="1000" dirty="0">
                <a:solidFill>
                  <a:srgbClr val="27AE6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3</a:t>
            </a:r>
            <a:endParaRPr lang="en-US" sz="1000" dirty="0"/>
          </a:p>
          <a:p>
            <a:pPr algn="ctr" indent="0" marL="0">
              <a:lnSpc>
                <a:spcPts val="1800"/>
              </a:lnSpc>
              <a:buNone/>
            </a:pPr>
            <a:r>
              <a:rPr lang="en-US" sz="1000" dirty="0">
                <a:solidFill>
                  <a:srgbClr val="27AE6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</a:t>
            </a:r>
            <a:endParaRPr lang="en-US" sz="1000" dirty="0"/>
          </a:p>
          <a:p>
            <a:pPr algn="ctr" indent="0" marL="0">
              <a:lnSpc>
                <a:spcPts val="1800"/>
              </a:lnSpc>
              <a:buNone/>
            </a:pPr>
            <a:r>
              <a:rPr lang="en-US" sz="1000" dirty="0">
                <a:solidFill>
                  <a:srgbClr val="27AE6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1</a:t>
            </a:r>
            <a:endParaRPr lang="en-US" sz="1000" dirty="0"/>
          </a:p>
          <a:p>
            <a:pPr algn="ctr" indent="0" marL="0">
              <a:lnSpc>
                <a:spcPts val="1800"/>
              </a:lnSpc>
              <a:buNone/>
            </a:pPr>
            <a:r>
              <a:rPr lang="en-US" sz="1000" dirty="0">
                <a:solidFill>
                  <a:srgbClr val="27AE6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k</a:t>
            </a:r>
            <a:endParaRPr lang="en-US" sz="1000" dirty="0"/>
          </a:p>
          <a:p>
            <a:pPr algn="ctr" indent="0" marL="0">
              <a:lnSpc>
                <a:spcPts val="1800"/>
              </a:lnSpc>
              <a:buNone/>
            </a:pPr>
            <a:r>
              <a:rPr lang="en-US" sz="1000" dirty="0">
                <a:solidFill>
                  <a:srgbClr val="27AE6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x</a:t>
            </a:r>
            <a:endParaRPr lang="en-US" sz="1000" dirty="0"/>
          </a:p>
          <a:p>
            <a:pPr algn="ctr" indent="0" marL="0">
              <a:lnSpc>
                <a:spcPts val="1800"/>
              </a:lnSpc>
              <a:buNone/>
            </a:pPr>
            <a:r>
              <a:rPr lang="en-US" sz="1000" dirty="0">
                <a:solidFill>
                  <a:srgbClr val="27AE6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</a:t>
            </a:r>
            <a:endParaRPr lang="en-US" sz="1000" dirty="0"/>
          </a:p>
          <a:p>
            <a:pPr algn="ctr" indent="0" marL="0">
              <a:lnSpc>
                <a:spcPts val="1800"/>
              </a:lnSpc>
              <a:buNone/>
            </a:pPr>
            <a:r>
              <a:rPr lang="en-US" sz="1000" dirty="0">
                <a:solidFill>
                  <a:srgbClr val="27AE6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1</a:t>
            </a:r>
            <a:endParaRPr lang="en-US" sz="1000" dirty="0"/>
          </a:p>
          <a:p>
            <a:pPr algn="ctr" indent="0" marL="0">
              <a:lnSpc>
                <a:spcPts val="1800"/>
              </a:lnSpc>
              <a:buNone/>
            </a:pPr>
            <a:r>
              <a:rPr lang="en-US" sz="1000" dirty="0">
                <a:solidFill>
                  <a:srgbClr val="27AE6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1</a:t>
            </a:r>
            <a:endParaRPr lang="en-US" sz="1000" dirty="0"/>
          </a:p>
          <a:p>
            <a:pPr algn="ctr" indent="0" marL="0">
              <a:lnSpc>
                <a:spcPts val="1800"/>
              </a:lnSpc>
              <a:buNone/>
            </a:pPr>
            <a:r>
              <a:rPr lang="en-US" sz="1000" dirty="0">
                <a:solidFill>
                  <a:srgbClr val="27AE6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7</a:t>
            </a:r>
            <a:endParaRPr lang="en-US" sz="1000" dirty="0"/>
          </a:p>
          <a:p>
            <a:pPr algn="ctr" indent="0" marL="0">
              <a:lnSpc>
                <a:spcPts val="1800"/>
              </a:lnSpc>
              <a:buNone/>
            </a:pPr>
            <a:r>
              <a:rPr lang="en-US" sz="1000" dirty="0">
                <a:solidFill>
                  <a:srgbClr val="27AE6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o</a:t>
            </a:r>
            <a:endParaRPr lang="en-US" sz="1000" dirty="0"/>
          </a:p>
          <a:p>
            <a:pPr algn="ctr" indent="0" marL="0">
              <a:lnSpc>
                <a:spcPts val="1800"/>
              </a:lnSpc>
              <a:buNone/>
            </a:pPr>
            <a:r>
              <a:rPr lang="en-US" sz="1000" dirty="0">
                <a:solidFill>
                  <a:srgbClr val="27AE6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</a:t>
            </a:r>
            <a:endParaRPr lang="en-US" sz="1000" dirty="0"/>
          </a:p>
          <a:p>
            <a:pPr algn="ctr" indent="0" marL="0">
              <a:lnSpc>
                <a:spcPts val="1800"/>
              </a:lnSpc>
              <a:buNone/>
            </a:pPr>
            <a:r>
              <a:rPr lang="en-US" sz="1000" dirty="0">
                <a:solidFill>
                  <a:srgbClr val="27AE6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1</a:t>
            </a:r>
            <a:endParaRPr lang="en-US" sz="1000" dirty="0"/>
          </a:p>
          <a:p>
            <a:pPr algn="ctr" indent="0" marL="0">
              <a:lnSpc>
                <a:spcPts val="1800"/>
              </a:lnSpc>
              <a:buNone/>
            </a:pPr>
            <a:r>
              <a:rPr lang="en-US" sz="1000" dirty="0">
                <a:solidFill>
                  <a:srgbClr val="27AE6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3</a:t>
            </a:r>
            <a:endParaRPr lang="en-US" sz="1000" dirty="0"/>
          </a:p>
          <a:p>
            <a:pPr algn="ctr" indent="0" marL="0">
              <a:lnSpc>
                <a:spcPts val="1800"/>
              </a:lnSpc>
              <a:buNone/>
            </a:pPr>
            <a:r>
              <a:rPr lang="en-US" sz="1000" dirty="0">
                <a:solidFill>
                  <a:srgbClr val="27AE6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y</a:t>
            </a:r>
            <a:endParaRPr lang="en-US" sz="1000" dirty="0"/>
          </a:p>
          <a:p>
            <a:pPr algn="ctr" indent="0" marL="0">
              <a:lnSpc>
                <a:spcPts val="1800"/>
              </a:lnSpc>
              <a:buNone/>
            </a:pPr>
            <a:r>
              <a:rPr lang="en-US" sz="1000" dirty="0">
                <a:solidFill>
                  <a:srgbClr val="27AE6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2468880" y="1965960"/>
            <a:ext cx="365760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800"/>
              </a:lnSpc>
              <a:buNone/>
            </a:pPr>
            <a:r>
              <a:rPr lang="en-US" sz="1000" dirty="0">
                <a:solidFill>
                  <a:srgbClr val="1E8449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1</a:t>
            </a:r>
            <a:endParaRPr lang="en-US" sz="1000" dirty="0"/>
          </a:p>
          <a:p>
            <a:pPr algn="ctr" indent="0" marL="0">
              <a:lnSpc>
                <a:spcPts val="1800"/>
              </a:lnSpc>
              <a:buNone/>
            </a:pPr>
            <a:r>
              <a:rPr lang="en-US" sz="1000" dirty="0">
                <a:solidFill>
                  <a:srgbClr val="1E8449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7</a:t>
            </a:r>
            <a:endParaRPr lang="en-US" sz="1000" dirty="0"/>
          </a:p>
          <a:p>
            <a:pPr algn="ctr" indent="0" marL="0">
              <a:lnSpc>
                <a:spcPts val="1800"/>
              </a:lnSpc>
              <a:buNone/>
            </a:pPr>
            <a:r>
              <a:rPr lang="en-US" sz="1000" dirty="0">
                <a:solidFill>
                  <a:srgbClr val="1E8449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o</a:t>
            </a:r>
            <a:endParaRPr lang="en-US" sz="1000" dirty="0"/>
          </a:p>
          <a:p>
            <a:pPr algn="ctr" indent="0" marL="0">
              <a:lnSpc>
                <a:spcPts val="1800"/>
              </a:lnSpc>
              <a:buNone/>
            </a:pPr>
            <a:r>
              <a:rPr lang="en-US" sz="1000" dirty="0">
                <a:solidFill>
                  <a:srgbClr val="1E8449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</a:t>
            </a:r>
            <a:endParaRPr lang="en-US" sz="1000" dirty="0"/>
          </a:p>
          <a:p>
            <a:pPr algn="ctr" indent="0" marL="0">
              <a:lnSpc>
                <a:spcPts val="1800"/>
              </a:lnSpc>
              <a:buNone/>
            </a:pPr>
            <a:r>
              <a:rPr lang="en-US" sz="1000" dirty="0">
                <a:solidFill>
                  <a:srgbClr val="1E8449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1</a:t>
            </a:r>
            <a:endParaRPr lang="en-US" sz="1000" dirty="0"/>
          </a:p>
          <a:p>
            <a:pPr algn="ctr" indent="0" marL="0">
              <a:lnSpc>
                <a:spcPts val="1800"/>
              </a:lnSpc>
              <a:buNone/>
            </a:pPr>
            <a:r>
              <a:rPr lang="en-US" sz="1000" dirty="0">
                <a:solidFill>
                  <a:srgbClr val="1E8449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3</a:t>
            </a:r>
            <a:endParaRPr lang="en-US" sz="1000" dirty="0"/>
          </a:p>
          <a:p>
            <a:pPr algn="ctr" indent="0" marL="0">
              <a:lnSpc>
                <a:spcPts val="1800"/>
              </a:lnSpc>
              <a:buNone/>
            </a:pPr>
            <a:r>
              <a:rPr lang="en-US" sz="1000" dirty="0">
                <a:solidFill>
                  <a:srgbClr val="1E8449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y</a:t>
            </a:r>
            <a:endParaRPr lang="en-US" sz="1000" dirty="0"/>
          </a:p>
          <a:p>
            <a:pPr algn="ctr" indent="0" marL="0">
              <a:lnSpc>
                <a:spcPts val="1800"/>
              </a:lnSpc>
              <a:buNone/>
            </a:pPr>
            <a:r>
              <a:rPr lang="en-US" sz="1000" dirty="0">
                <a:solidFill>
                  <a:srgbClr val="1E8449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</a:t>
            </a:r>
            <a:endParaRPr lang="en-US" sz="1000" dirty="0"/>
          </a:p>
          <a:p>
            <a:pPr algn="ctr" indent="0" marL="0">
              <a:lnSpc>
                <a:spcPts val="1800"/>
              </a:lnSpc>
              <a:buNone/>
            </a:pPr>
            <a:r>
              <a:rPr lang="en-US" sz="1000" dirty="0">
                <a:solidFill>
                  <a:srgbClr val="1E8449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</a:t>
            </a:r>
            <a:endParaRPr lang="en-US" sz="1000" dirty="0"/>
          </a:p>
          <a:p>
            <a:pPr algn="ctr" indent="0" marL="0">
              <a:lnSpc>
                <a:spcPts val="1800"/>
              </a:lnSpc>
              <a:buNone/>
            </a:pPr>
            <a:r>
              <a:rPr lang="en-US" sz="1000" dirty="0">
                <a:solidFill>
                  <a:srgbClr val="1E8449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1</a:t>
            </a:r>
            <a:endParaRPr lang="en-US" sz="1000" dirty="0"/>
          </a:p>
          <a:p>
            <a:pPr algn="ctr" indent="0" marL="0">
              <a:lnSpc>
                <a:spcPts val="1800"/>
              </a:lnSpc>
              <a:buNone/>
            </a:pPr>
            <a:r>
              <a:rPr lang="en-US" sz="1000" dirty="0">
                <a:solidFill>
                  <a:srgbClr val="1E8449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x</a:t>
            </a:r>
            <a:endParaRPr lang="en-US" sz="1000" dirty="0"/>
          </a:p>
          <a:p>
            <a:pPr algn="ctr" indent="0" marL="0">
              <a:lnSpc>
                <a:spcPts val="1800"/>
              </a:lnSpc>
              <a:buNone/>
            </a:pPr>
            <a:r>
              <a:rPr lang="en-US" sz="1000" dirty="0">
                <a:solidFill>
                  <a:srgbClr val="1E8449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k</a:t>
            </a:r>
            <a:endParaRPr lang="en-US" sz="1000" dirty="0"/>
          </a:p>
          <a:p>
            <a:pPr algn="ctr" indent="0" marL="0">
              <a:lnSpc>
                <a:spcPts val="1800"/>
              </a:lnSpc>
              <a:buNone/>
            </a:pPr>
            <a:r>
              <a:rPr lang="en-US" sz="1000" dirty="0">
                <a:solidFill>
                  <a:srgbClr val="1E8449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7</a:t>
            </a:r>
            <a:endParaRPr lang="en-US" sz="1000" dirty="0"/>
          </a:p>
          <a:p>
            <a:pPr algn="ctr" indent="0" marL="0">
              <a:lnSpc>
                <a:spcPts val="1800"/>
              </a:lnSpc>
              <a:buNone/>
            </a:pPr>
            <a:r>
              <a:rPr lang="en-US" sz="1000" dirty="0">
                <a:solidFill>
                  <a:srgbClr val="1E8449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</a:t>
            </a:r>
            <a:endParaRPr lang="en-US" sz="1000" dirty="0"/>
          </a:p>
          <a:p>
            <a:pPr algn="ctr" indent="0" marL="0">
              <a:lnSpc>
                <a:spcPts val="1800"/>
              </a:lnSpc>
              <a:buNone/>
            </a:pPr>
            <a:r>
              <a:rPr lang="en-US" sz="1000" dirty="0">
                <a:solidFill>
                  <a:srgbClr val="1E8449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1</a:t>
            </a:r>
            <a:endParaRPr lang="en-US" sz="1000" dirty="0"/>
          </a:p>
          <a:p>
            <a:pPr algn="ctr" indent="0" marL="0">
              <a:lnSpc>
                <a:spcPts val="1800"/>
              </a:lnSpc>
              <a:buNone/>
            </a:pPr>
            <a:r>
              <a:rPr lang="en-US" sz="1000" dirty="0">
                <a:solidFill>
                  <a:srgbClr val="1E8449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3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2971800" y="1965960"/>
            <a:ext cx="365760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800"/>
              </a:lnSpc>
              <a:buNone/>
            </a:pPr>
            <a:r>
              <a:rPr lang="en-US" sz="1000" dirty="0">
                <a:solidFill>
                  <a:srgbClr val="155A33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</a:t>
            </a:r>
            <a:endParaRPr lang="en-US" sz="1000" dirty="0"/>
          </a:p>
          <a:p>
            <a:pPr algn="ctr" indent="0" marL="0">
              <a:lnSpc>
                <a:spcPts val="1800"/>
              </a:lnSpc>
              <a:buNone/>
            </a:pPr>
            <a:r>
              <a:rPr lang="en-US" sz="1000" dirty="0">
                <a:solidFill>
                  <a:srgbClr val="155A33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1</a:t>
            </a:r>
            <a:endParaRPr lang="en-US" sz="1000" dirty="0"/>
          </a:p>
          <a:p>
            <a:pPr algn="ctr" indent="0" marL="0">
              <a:lnSpc>
                <a:spcPts val="1800"/>
              </a:lnSpc>
              <a:buNone/>
            </a:pPr>
            <a:r>
              <a:rPr lang="en-US" sz="1000" dirty="0">
                <a:solidFill>
                  <a:srgbClr val="155A33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x</a:t>
            </a:r>
            <a:endParaRPr lang="en-US" sz="1000" dirty="0"/>
          </a:p>
          <a:p>
            <a:pPr algn="ctr" indent="0" marL="0">
              <a:lnSpc>
                <a:spcPts val="1800"/>
              </a:lnSpc>
              <a:buNone/>
            </a:pPr>
            <a:r>
              <a:rPr lang="en-US" sz="1000" dirty="0">
                <a:solidFill>
                  <a:srgbClr val="155A33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k</a:t>
            </a:r>
            <a:endParaRPr lang="en-US" sz="1000" dirty="0"/>
          </a:p>
          <a:p>
            <a:pPr algn="ctr" indent="0" marL="0">
              <a:lnSpc>
                <a:spcPts val="1800"/>
              </a:lnSpc>
              <a:buNone/>
            </a:pPr>
            <a:r>
              <a:rPr lang="en-US" sz="1000" dirty="0">
                <a:solidFill>
                  <a:srgbClr val="155A33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7</a:t>
            </a:r>
            <a:endParaRPr lang="en-US" sz="1000" dirty="0"/>
          </a:p>
          <a:p>
            <a:pPr algn="ctr" indent="0" marL="0">
              <a:lnSpc>
                <a:spcPts val="1800"/>
              </a:lnSpc>
              <a:buNone/>
            </a:pPr>
            <a:r>
              <a:rPr lang="en-US" sz="1000" dirty="0">
                <a:solidFill>
                  <a:srgbClr val="155A33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</a:t>
            </a:r>
            <a:endParaRPr lang="en-US" sz="1000" dirty="0"/>
          </a:p>
          <a:p>
            <a:pPr algn="ctr" indent="0" marL="0">
              <a:lnSpc>
                <a:spcPts val="1800"/>
              </a:lnSpc>
              <a:buNone/>
            </a:pPr>
            <a:r>
              <a:rPr lang="en-US" sz="1000" dirty="0">
                <a:solidFill>
                  <a:srgbClr val="155A33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1</a:t>
            </a:r>
            <a:endParaRPr lang="en-US" sz="1000" dirty="0"/>
          </a:p>
          <a:p>
            <a:pPr algn="ctr" indent="0" marL="0">
              <a:lnSpc>
                <a:spcPts val="1800"/>
              </a:lnSpc>
              <a:buNone/>
            </a:pPr>
            <a:r>
              <a:rPr lang="en-US" sz="1000" dirty="0">
                <a:solidFill>
                  <a:srgbClr val="155A33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3</a:t>
            </a:r>
            <a:endParaRPr lang="en-US" sz="1000" dirty="0"/>
          </a:p>
          <a:p>
            <a:pPr algn="ctr" indent="0" marL="0">
              <a:lnSpc>
                <a:spcPts val="1800"/>
              </a:lnSpc>
              <a:buNone/>
            </a:pPr>
            <a:r>
              <a:rPr lang="en-US" sz="1000" dirty="0">
                <a:solidFill>
                  <a:srgbClr val="155A33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1</a:t>
            </a:r>
            <a:endParaRPr lang="en-US" sz="1000" dirty="0"/>
          </a:p>
          <a:p>
            <a:pPr algn="ctr" indent="0" marL="0">
              <a:lnSpc>
                <a:spcPts val="1800"/>
              </a:lnSpc>
              <a:buNone/>
            </a:pPr>
            <a:r>
              <a:rPr lang="en-US" sz="1000" dirty="0">
                <a:solidFill>
                  <a:srgbClr val="155A33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</a:t>
            </a:r>
            <a:endParaRPr lang="en-US" sz="1000" dirty="0"/>
          </a:p>
          <a:p>
            <a:pPr algn="ctr" indent="0" marL="0">
              <a:lnSpc>
                <a:spcPts val="1800"/>
              </a:lnSpc>
              <a:buNone/>
            </a:pPr>
            <a:r>
              <a:rPr lang="en-US" sz="1000" dirty="0">
                <a:solidFill>
                  <a:srgbClr val="155A33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k</a:t>
            </a:r>
            <a:endParaRPr lang="en-US" sz="1000" dirty="0"/>
          </a:p>
          <a:p>
            <a:pPr algn="ctr" indent="0" marL="0">
              <a:lnSpc>
                <a:spcPts val="1800"/>
              </a:lnSpc>
              <a:buNone/>
            </a:pPr>
            <a:r>
              <a:rPr lang="en-US" sz="1000" dirty="0">
                <a:solidFill>
                  <a:srgbClr val="155A33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7</a:t>
            </a:r>
            <a:endParaRPr lang="en-US" sz="1000" dirty="0"/>
          </a:p>
          <a:p>
            <a:pPr algn="ctr" indent="0" marL="0">
              <a:lnSpc>
                <a:spcPts val="1800"/>
              </a:lnSpc>
              <a:buNone/>
            </a:pPr>
            <a:r>
              <a:rPr lang="en-US" sz="1000" dirty="0">
                <a:solidFill>
                  <a:srgbClr val="155A33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3</a:t>
            </a:r>
            <a:endParaRPr lang="en-US" sz="1000" dirty="0"/>
          </a:p>
          <a:p>
            <a:pPr algn="ctr" indent="0" marL="0">
              <a:lnSpc>
                <a:spcPts val="1800"/>
              </a:lnSpc>
              <a:buNone/>
            </a:pPr>
            <a:r>
              <a:rPr lang="en-US" sz="1000" dirty="0">
                <a:solidFill>
                  <a:srgbClr val="155A33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</a:t>
            </a:r>
            <a:endParaRPr lang="en-US" sz="1000" dirty="0"/>
          </a:p>
          <a:p>
            <a:pPr algn="ctr" indent="0" marL="0">
              <a:lnSpc>
                <a:spcPts val="1800"/>
              </a:lnSpc>
              <a:buNone/>
            </a:pPr>
            <a:r>
              <a:rPr lang="en-US" sz="1000" dirty="0">
                <a:solidFill>
                  <a:srgbClr val="155A33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1</a:t>
            </a:r>
            <a:endParaRPr lang="en-US" sz="1000" dirty="0"/>
          </a:p>
          <a:p>
            <a:pPr algn="ctr" indent="0" marL="0">
              <a:lnSpc>
                <a:spcPts val="1800"/>
              </a:lnSpc>
              <a:buNone/>
            </a:pPr>
            <a:r>
              <a:rPr lang="en-US" sz="1000" dirty="0">
                <a:solidFill>
                  <a:srgbClr val="155A33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y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315968" y="2834640"/>
            <a:ext cx="1207008" cy="1627632"/>
          </a:xfrm>
          <a:prstGeom prst="roundRect">
            <a:avLst>
              <a:gd name="adj" fmla="val 3788"/>
            </a:avLst>
          </a:prstGeom>
          <a:solidFill>
            <a:srgbClr val="FFFFFF"/>
          </a:solidFill>
          <a:ln w="9525">
            <a:solidFill>
              <a:srgbClr val="B8B2A8"/>
            </a:solidFill>
            <a:prstDash val="solid"/>
          </a:ln>
          <a:effectLst>
            <a:outerShdw sx="100000" sy="100000" kx="0" ky="0" algn="bl" rotWithShape="0" blurRad="228600" dist="38100" dir="5400000">
              <a:srgbClr val="000000">
                <a:alpha val="35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 rot="5400000">
            <a:off x="5212080" y="2843784"/>
            <a:ext cx="292608" cy="292608"/>
          </a:xfrm>
          <a:prstGeom prst="triangle">
            <a:avLst/>
          </a:prstGeom>
          <a:solidFill>
            <a:srgbClr val="E5E0D8"/>
          </a:solidFill>
          <a:ln/>
        </p:spPr>
      </p:sp>
      <p:sp>
        <p:nvSpPr>
          <p:cNvPr id="12" name="Text 10"/>
          <p:cNvSpPr/>
          <p:nvPr/>
        </p:nvSpPr>
        <p:spPr>
          <a:xfrm>
            <a:off x="4315968" y="3858768"/>
            <a:ext cx="12070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A1A1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SKILL.md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6172200" y="1828800"/>
            <a:ext cx="5330952" cy="4069080"/>
          </a:xfrm>
          <a:prstGeom prst="roundRect">
            <a:avLst>
              <a:gd name="adj" fmla="val 2022"/>
            </a:avLst>
          </a:prstGeom>
          <a:solidFill>
            <a:srgbClr val="E5E0D8"/>
          </a:solidFill>
          <a:ln w="12700">
            <a:solidFill>
              <a:srgbClr val="B8B2A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172200" y="1828800"/>
            <a:ext cx="5330952" cy="4069080"/>
          </a:xfrm>
          <a:prstGeom prst="rect">
            <a:avLst/>
          </a:prstGeom>
          <a:noFill/>
          <a:ln/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8A837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IMG-04</a:t>
            </a:r>
            <a:endParaRPr lang="en-US" sz="110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8A837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screenshot: the vault's 4-SYSTEM/Skills/ folder listing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10881360" y="6327648"/>
            <a:ext cx="868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B8B2A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6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703320" y="868680"/>
            <a:ext cx="4800600" cy="3931920"/>
          </a:xfrm>
          <a:prstGeom prst="roundRect">
            <a:avLst>
              <a:gd name="adj" fmla="val 2093"/>
            </a:avLst>
          </a:prstGeom>
          <a:solidFill>
            <a:srgbClr val="E5E0D8"/>
          </a:solidFill>
          <a:ln w="12700">
            <a:solidFill>
              <a:srgbClr val="B8B2A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703320" y="868680"/>
            <a:ext cx="4800600" cy="3931920"/>
          </a:xfrm>
          <a:prstGeom prst="rect">
            <a:avLst/>
          </a:prstGeom>
          <a:noFill/>
          <a:ln/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8A837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IMG-05</a:t>
            </a:r>
            <a:endParaRPr lang="en-US" sz="110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8A837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screenshot: tree-guided-claims/SKILL.md collapsed to its section headings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1097280"/>
            <a:ext cx="2880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8A837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the reasoning, and the failure it answers</a:t>
            </a:r>
            <a:endParaRPr lang="en-US" sz="1150" dirty="0"/>
          </a:p>
        </p:txBody>
      </p:sp>
      <p:sp>
        <p:nvSpPr>
          <p:cNvPr id="5" name="Shape 3"/>
          <p:cNvSpPr/>
          <p:nvPr/>
        </p:nvSpPr>
        <p:spPr>
          <a:xfrm>
            <a:off x="3493008" y="1440180"/>
            <a:ext cx="210312" cy="0"/>
          </a:xfrm>
          <a:prstGeom prst="line">
            <a:avLst/>
          </a:prstGeom>
          <a:noFill/>
          <a:ln w="9525">
            <a:solidFill>
              <a:srgbClr val="B8B2A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447288" y="1394460"/>
            <a:ext cx="91440" cy="91440"/>
          </a:xfrm>
          <a:prstGeom prst="ellipse">
            <a:avLst/>
          </a:prstGeom>
          <a:solidFill>
            <a:srgbClr val="B03A1E"/>
          </a:solidFill>
          <a:ln/>
        </p:spPr>
      </p:sp>
      <p:sp>
        <p:nvSpPr>
          <p:cNvPr id="7" name="Text 5"/>
          <p:cNvSpPr/>
          <p:nvPr/>
        </p:nvSpPr>
        <p:spPr>
          <a:xfrm>
            <a:off x="548640" y="2148840"/>
            <a:ext cx="2880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8A837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the contract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3493008" y="2491740"/>
            <a:ext cx="210312" cy="0"/>
          </a:xfrm>
          <a:prstGeom prst="line">
            <a:avLst/>
          </a:prstGeom>
          <a:noFill/>
          <a:ln w="9525">
            <a:solidFill>
              <a:srgbClr val="B8B2A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447288" y="2446020"/>
            <a:ext cx="91440" cy="91440"/>
          </a:xfrm>
          <a:prstGeom prst="ellipse">
            <a:avLst/>
          </a:prstGeom>
          <a:solidFill>
            <a:srgbClr val="B03A1E"/>
          </a:solidFill>
          <a:ln/>
        </p:spPr>
      </p:sp>
      <p:sp>
        <p:nvSpPr>
          <p:cNvPr id="10" name="Text 8"/>
          <p:cNvSpPr/>
          <p:nvPr/>
        </p:nvSpPr>
        <p:spPr>
          <a:xfrm>
            <a:off x="548640" y="3063240"/>
            <a:ext cx="2880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8A837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rules 1…16 — each traceable to a real defect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3493008" y="3406140"/>
            <a:ext cx="210312" cy="0"/>
          </a:xfrm>
          <a:prstGeom prst="line">
            <a:avLst/>
          </a:prstGeom>
          <a:noFill/>
          <a:ln w="9525">
            <a:solidFill>
              <a:srgbClr val="B8B2A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447288" y="3360420"/>
            <a:ext cx="91440" cy="91440"/>
          </a:xfrm>
          <a:prstGeom prst="ellipse">
            <a:avLst/>
          </a:prstGeom>
          <a:solidFill>
            <a:srgbClr val="B03A1E"/>
          </a:solidFill>
          <a:ln/>
        </p:spPr>
      </p:sp>
      <p:sp>
        <p:nvSpPr>
          <p:cNvPr id="13" name="Text 11"/>
          <p:cNvSpPr/>
          <p:nvPr/>
        </p:nvSpPr>
        <p:spPr>
          <a:xfrm>
            <a:off x="8778240" y="1600200"/>
            <a:ext cx="2880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8A837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the procedure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8503920" y="1943100"/>
            <a:ext cx="210312" cy="0"/>
          </a:xfrm>
          <a:prstGeom prst="line">
            <a:avLst/>
          </a:prstGeom>
          <a:noFill/>
          <a:ln w="9525">
            <a:solidFill>
              <a:srgbClr val="B8B2A8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668512" y="1897380"/>
            <a:ext cx="91440" cy="91440"/>
          </a:xfrm>
          <a:prstGeom prst="ellipse">
            <a:avLst/>
          </a:prstGeom>
          <a:solidFill>
            <a:srgbClr val="B03A1E"/>
          </a:solidFill>
          <a:ln/>
        </p:spPr>
      </p:sp>
      <p:sp>
        <p:nvSpPr>
          <p:cNvPr id="16" name="Text 14"/>
          <p:cNvSpPr/>
          <p:nvPr/>
        </p:nvSpPr>
        <p:spPr>
          <a:xfrm>
            <a:off x="8778240" y="2697480"/>
            <a:ext cx="2880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8A837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the deterministic backstop (scripts/verify_*.py)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8503920" y="3040380"/>
            <a:ext cx="210312" cy="0"/>
          </a:xfrm>
          <a:prstGeom prst="line">
            <a:avLst/>
          </a:prstGeom>
          <a:noFill/>
          <a:ln w="9525">
            <a:solidFill>
              <a:srgbClr val="B8B2A8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668512" y="2994660"/>
            <a:ext cx="91440" cy="91440"/>
          </a:xfrm>
          <a:prstGeom prst="ellipse">
            <a:avLst/>
          </a:prstGeom>
          <a:solidFill>
            <a:srgbClr val="B03A1E"/>
          </a:solidFill>
          <a:ln/>
        </p:spPr>
      </p:sp>
      <p:sp>
        <p:nvSpPr>
          <p:cNvPr id="19" name="Shape 17"/>
          <p:cNvSpPr/>
          <p:nvPr/>
        </p:nvSpPr>
        <p:spPr>
          <a:xfrm>
            <a:off x="3291840" y="5074920"/>
            <a:ext cx="5605272" cy="658368"/>
          </a:xfrm>
          <a:prstGeom prst="roundRect">
            <a:avLst>
              <a:gd name="adj" fmla="val 50000"/>
            </a:avLst>
          </a:prstGeom>
          <a:solidFill>
            <a:srgbClr val="F3EDE4"/>
          </a:solidFill>
          <a:ln w="9525">
            <a:solidFill>
              <a:srgbClr val="E5E0D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5074920"/>
            <a:ext cx="5605272" cy="658368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A1A1A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62 skills · 21 carry scripts · 44 scripts total</a:t>
            </a:r>
            <a:endParaRPr lang="en-US" sz="2000" dirty="0"/>
          </a:p>
        </p:txBody>
      </p:sp>
      <p:sp>
        <p:nvSpPr>
          <p:cNvPr id="21" name="Text 19"/>
          <p:cNvSpPr/>
          <p:nvPr/>
        </p:nvSpPr>
        <p:spPr>
          <a:xfrm>
            <a:off x="685800" y="5989320"/>
            <a:ext cx="10789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50" i="1" dirty="0">
                <a:solidFill>
                  <a:srgbClr val="8A837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skill is a text file. A scholar can read it, disagree, and edit it.</a:t>
            </a:r>
            <a:endParaRPr lang="en-US" sz="1450" dirty="0"/>
          </a:p>
        </p:txBody>
      </p:sp>
      <p:sp>
        <p:nvSpPr>
          <p:cNvPr id="22" name="Text 20"/>
          <p:cNvSpPr/>
          <p:nvPr/>
        </p:nvSpPr>
        <p:spPr>
          <a:xfrm>
            <a:off x="10881360" y="6327648"/>
            <a:ext cx="868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B8B2A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AF6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457200"/>
            <a:ext cx="107899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1A1A1A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Every rule is a scar.</a:t>
            </a:r>
            <a:endParaRPr lang="en-US" sz="4200" dirty="0"/>
          </a:p>
        </p:txBody>
      </p:sp>
      <p:sp>
        <p:nvSpPr>
          <p:cNvPr id="3" name="Text 1"/>
          <p:cNvSpPr/>
          <p:nvPr/>
        </p:nvSpPr>
        <p:spPr>
          <a:xfrm>
            <a:off x="960120" y="1600200"/>
            <a:ext cx="4480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100" kern="0" dirty="0">
                <a:solidFill>
                  <a:srgbClr val="8A837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rule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5806440" y="1600200"/>
            <a:ext cx="5852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100" kern="0" dirty="0">
                <a:solidFill>
                  <a:srgbClr val="8A837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scar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85800" y="2011680"/>
            <a:ext cx="10817352" cy="1207008"/>
          </a:xfrm>
          <a:prstGeom prst="roundRect">
            <a:avLst>
              <a:gd name="adj" fmla="val 7576"/>
            </a:avLst>
          </a:prstGeom>
          <a:solidFill>
            <a:srgbClr val="FFFFFF"/>
          </a:solidFill>
          <a:ln w="12700">
            <a:solidFill>
              <a:srgbClr val="E5E0D8"/>
            </a:solidFill>
            <a:prstDash val="solid"/>
          </a:ln>
          <a:effectLst>
            <a:outerShdw sx="100000" sy="100000" kx="0" ky="0" algn="bl" rotWithShape="0" blurRad="127000" dist="25400" dir="5400000">
              <a:srgbClr val="8A8378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960120" y="2011680"/>
            <a:ext cx="4480560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claim_count is computed by counting — never inherited.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504688" y="2560320"/>
            <a:ext cx="100584" cy="100584"/>
          </a:xfrm>
          <a:prstGeom prst="ellipse">
            <a:avLst/>
          </a:prstGeom>
          <a:solidFill>
            <a:srgbClr val="B03A1E"/>
          </a:solidFill>
          <a:ln/>
        </p:spPr>
      </p:sp>
      <p:sp>
        <p:nvSpPr>
          <p:cNvPr id="8" name="Text 6"/>
          <p:cNvSpPr/>
          <p:nvPr/>
        </p:nvSpPr>
        <p:spPr>
          <a:xfrm>
            <a:off x="5806440" y="2011680"/>
            <a:ext cx="5486400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114 of 118 strings byte-identical to the earlier “independent” run.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685800" y="3383280"/>
            <a:ext cx="10817352" cy="1207008"/>
          </a:xfrm>
          <a:prstGeom prst="roundRect">
            <a:avLst>
              <a:gd name="adj" fmla="val 7576"/>
            </a:avLst>
          </a:prstGeom>
          <a:solidFill>
            <a:srgbClr val="F3EDE4"/>
          </a:solidFill>
          <a:ln w="12700">
            <a:solidFill>
              <a:srgbClr val="E5E0D8"/>
            </a:solidFill>
            <a:prstDash val="solid"/>
          </a:ln>
          <a:effectLst>
            <a:outerShdw sx="100000" sy="100000" kx="0" ky="0" algn="bl" rotWithShape="0" blurRad="127000" dist="25400" dir="5400000">
              <a:srgbClr val="8A8378">
                <a:alpha val="10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960120" y="3383280"/>
            <a:ext cx="4480560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Corroboration is re-read, not remembered.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5504688" y="3931920"/>
            <a:ext cx="100584" cy="100584"/>
          </a:xfrm>
          <a:prstGeom prst="ellipse">
            <a:avLst/>
          </a:prstGeom>
          <a:solidFill>
            <a:srgbClr val="B03A1E"/>
          </a:solidFill>
          <a:ln/>
        </p:spPr>
      </p:sp>
      <p:sp>
        <p:nvSpPr>
          <p:cNvPr id="12" name="Text 10"/>
          <p:cNvSpPr/>
          <p:nvPr/>
        </p:nvSpPr>
        <p:spPr>
          <a:xfrm>
            <a:off x="5806440" y="3383280"/>
            <a:ext cx="5486400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Right idea, wrong claim ID — the audit's one critical finding.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685800" y="4754880"/>
            <a:ext cx="10817352" cy="1207008"/>
          </a:xfrm>
          <a:prstGeom prst="roundRect">
            <a:avLst>
              <a:gd name="adj" fmla="val 7576"/>
            </a:avLst>
          </a:prstGeom>
          <a:solidFill>
            <a:srgbClr val="FFFFFF"/>
          </a:solidFill>
          <a:ln w="12700">
            <a:solidFill>
              <a:srgbClr val="E5E0D8"/>
            </a:solidFill>
            <a:prstDash val="solid"/>
          </a:ln>
          <a:effectLst>
            <a:outerShdw sx="100000" sy="100000" kx="0" ky="0" algn="bl" rotWithShape="0" blurRad="127000" dist="25400" dir="5400000">
              <a:srgbClr val="8A8378">
                <a:alpha val="10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960120" y="4754880"/>
            <a:ext cx="4480560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Counts are computed, never hand-tallied.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5504688" y="5303520"/>
            <a:ext cx="100584" cy="100584"/>
          </a:xfrm>
          <a:prstGeom prst="ellipse">
            <a:avLst/>
          </a:prstGeom>
          <a:solidFill>
            <a:srgbClr val="B03A1E"/>
          </a:solidFill>
          <a:ln/>
        </p:spPr>
      </p:sp>
      <p:sp>
        <p:nvSpPr>
          <p:cNvPr id="16" name="Text 14"/>
          <p:cNvSpPr/>
          <p:nvPr/>
        </p:nvSpPr>
        <p:spPr>
          <a:xfrm>
            <a:off x="5806440" y="4754880"/>
            <a:ext cx="5486400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 of 5 “(N commentaries)” labels wrong on the worst pilot page.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685800" y="6263640"/>
            <a:ext cx="10789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8A837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model judges, the script verifies · isolation over context · nothing interpretive touches the source layer</a:t>
            </a:r>
            <a:endParaRPr lang="en-US" sz="12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AF6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365760"/>
            <a:ext cx="1078992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1A1A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The model judges. The script verifies.</a:t>
            </a:r>
            <a:endParaRPr lang="en-US" sz="2600" dirty="0"/>
          </a:p>
          <a:p>
            <a:pPr indent="0" marL="0">
              <a:buNone/>
            </a:pPr>
            <a:r>
              <a:rPr lang="en-US" sz="2600" b="1" dirty="0">
                <a:solidFill>
                  <a:srgbClr val="B03A1E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The script has the final say.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 rot="10800000">
            <a:off x="1828800" y="1737360"/>
            <a:ext cx="1417320" cy="896112"/>
          </a:xfrm>
          <a:prstGeom prst="trapezoid">
            <a:avLst/>
          </a:prstGeom>
          <a:solidFill>
            <a:srgbClr val="B8B2A8"/>
          </a:solidFill>
          <a:ln/>
        </p:spPr>
      </p:sp>
      <p:sp>
        <p:nvSpPr>
          <p:cNvPr id="4" name="Shape 2"/>
          <p:cNvSpPr/>
          <p:nvPr/>
        </p:nvSpPr>
        <p:spPr>
          <a:xfrm>
            <a:off x="3474720" y="2212848"/>
            <a:ext cx="960120" cy="0"/>
          </a:xfrm>
          <a:prstGeom prst="line">
            <a:avLst/>
          </a:prstGeom>
          <a:noFill/>
          <a:ln w="28575">
            <a:solidFill>
              <a:srgbClr val="D9A441"/>
            </a:solidFill>
            <a:prstDash val="solid"/>
            <a:tailEnd type="triangle"/>
          </a:ln>
        </p:spPr>
      </p:sp>
      <p:sp>
        <p:nvSpPr>
          <p:cNvPr id="5" name="Shape 3"/>
          <p:cNvSpPr/>
          <p:nvPr/>
        </p:nvSpPr>
        <p:spPr>
          <a:xfrm>
            <a:off x="4617720" y="1810512"/>
            <a:ext cx="2651760" cy="109728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9050">
            <a:solidFill>
              <a:srgbClr val="1A1A1A"/>
            </a:solidFill>
            <a:prstDash val="solid"/>
          </a:ln>
          <a:effectLst>
            <a:outerShdw sx="100000" sy="100000" kx="0" ky="0" algn="bl" rotWithShape="0" blurRad="177800" dist="38100" dir="5400000">
              <a:srgbClr val="8A8378">
                <a:alpha val="14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937760" y="2057400"/>
            <a:ext cx="566928" cy="566928"/>
          </a:xfrm>
          <a:prstGeom prst="donut">
            <a:avLst/>
          </a:prstGeom>
          <a:solidFill>
            <a:srgbClr val="B8B2A8"/>
          </a:solidFill>
          <a:ln/>
        </p:spPr>
      </p:sp>
      <p:sp>
        <p:nvSpPr>
          <p:cNvPr id="7" name="Shape 5"/>
          <p:cNvSpPr/>
          <p:nvPr/>
        </p:nvSpPr>
        <p:spPr>
          <a:xfrm>
            <a:off x="5650992" y="2194560"/>
            <a:ext cx="420624" cy="420624"/>
          </a:xfrm>
          <a:prstGeom prst="donut">
            <a:avLst/>
          </a:prstGeom>
          <a:solidFill>
            <a:srgbClr val="B8B2A8"/>
          </a:solidFill>
          <a:ln/>
        </p:spPr>
      </p:sp>
      <p:sp>
        <p:nvSpPr>
          <p:cNvPr id="8" name="Shape 6"/>
          <p:cNvSpPr/>
          <p:nvPr/>
        </p:nvSpPr>
        <p:spPr>
          <a:xfrm>
            <a:off x="6291072" y="1572768"/>
            <a:ext cx="1078992" cy="402336"/>
          </a:xfrm>
          <a:prstGeom prst="roundRect">
            <a:avLst>
              <a:gd name="adj" fmla="val 11364"/>
            </a:avLst>
          </a:prstGeom>
          <a:solidFill>
            <a:srgbClr val="F0DFD8"/>
          </a:solidFill>
          <a:ln w="12700">
            <a:solidFill>
              <a:srgbClr val="B03A1E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373368" y="1719072"/>
            <a:ext cx="91440" cy="91440"/>
          </a:xfrm>
          <a:prstGeom prst="ellipse">
            <a:avLst/>
          </a:prstGeom>
          <a:solidFill>
            <a:srgbClr val="B03A1E"/>
          </a:solidFill>
          <a:ln/>
        </p:spPr>
      </p:sp>
      <p:sp>
        <p:nvSpPr>
          <p:cNvPr id="10" name="Shape 8"/>
          <p:cNvSpPr/>
          <p:nvPr/>
        </p:nvSpPr>
        <p:spPr>
          <a:xfrm>
            <a:off x="7205472" y="1719072"/>
            <a:ext cx="91440" cy="91440"/>
          </a:xfrm>
          <a:prstGeom prst="ellipse">
            <a:avLst/>
          </a:prstGeom>
          <a:solidFill>
            <a:srgbClr val="B03A1E"/>
          </a:solidFill>
          <a:ln/>
        </p:spPr>
      </p:sp>
      <p:sp>
        <p:nvSpPr>
          <p:cNvPr id="11" name="Text 9"/>
          <p:cNvSpPr/>
          <p:nvPr/>
        </p:nvSpPr>
        <p:spPr>
          <a:xfrm>
            <a:off x="6144768" y="118872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B03A1E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rule-plate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7498080" y="2212848"/>
            <a:ext cx="960120" cy="0"/>
          </a:xfrm>
          <a:prstGeom prst="line">
            <a:avLst/>
          </a:prstGeom>
          <a:noFill/>
          <a:ln w="28575">
            <a:solidFill>
              <a:srgbClr val="D9A441"/>
            </a:solidFill>
            <a:prstDash val="solid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8641080" y="1874520"/>
            <a:ext cx="1508760" cy="804672"/>
          </a:xfrm>
          <a:prstGeom prst="parallelogram">
            <a:avLst/>
          </a:prstGeom>
          <a:solidFill>
            <a:srgbClr val="B8B2A8"/>
          </a:solidFill>
          <a:ln/>
        </p:spPr>
      </p:sp>
      <p:sp>
        <p:nvSpPr>
          <p:cNvPr id="14" name="Text 12"/>
          <p:cNvSpPr/>
          <p:nvPr/>
        </p:nvSpPr>
        <p:spPr>
          <a:xfrm>
            <a:off x="685800" y="3108960"/>
            <a:ext cx="10789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8A837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same input → same output, every time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685800" y="3703320"/>
            <a:ext cx="5257800" cy="2148840"/>
          </a:xfrm>
          <a:prstGeom prst="roundRect">
            <a:avLst>
              <a:gd name="adj" fmla="val 4255"/>
            </a:avLst>
          </a:prstGeom>
          <a:solidFill>
            <a:srgbClr val="FFFFFF"/>
          </a:solidFill>
          <a:ln w="12700">
            <a:solidFill>
              <a:srgbClr val="E5E0D8"/>
            </a:solidFill>
            <a:prstDash val="solid"/>
          </a:ln>
          <a:effectLst>
            <a:outerShdw sx="100000" sy="100000" kx="0" ky="0" algn="bl" rotWithShape="0" blurRad="177800" dist="38100" dir="5400000">
              <a:srgbClr val="8A8378">
                <a:alpha val="16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6245352" y="3703320"/>
            <a:ext cx="5257800" cy="2148840"/>
          </a:xfrm>
          <a:prstGeom prst="roundRect">
            <a:avLst>
              <a:gd name="adj" fmla="val 4255"/>
            </a:avLst>
          </a:prstGeom>
          <a:solidFill>
            <a:srgbClr val="F3EDE4"/>
          </a:solidFill>
          <a:ln w="12700">
            <a:solidFill>
              <a:srgbClr val="E5E0D8"/>
            </a:solidFill>
            <a:prstDash val="solid"/>
          </a:ln>
          <a:effectLst>
            <a:outerShdw sx="100000" sy="100000" kx="0" ky="0" algn="bl" rotWithShape="0" blurRad="177800" dist="38100" dir="5400000">
              <a:srgbClr val="8A8378">
                <a:alpha val="16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960120" y="3858768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Judgement (model)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6519672" y="3858768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03A1E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Machine (script)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960120" y="4407408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Structural announcement, or prose?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960120" y="4864608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Does this gloss say blue or clear-hued?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960120" y="5321808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Which commentaries actually disagree?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6519672" y="4407408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Does the string appear character-for-character?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6519672" y="4864608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Do the claim counts recompute?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5321808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Exactly one disposition per claim?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85800" y="6144768"/>
            <a:ext cx="10789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8A837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 bypass flag exists. We deliberately did not build an override.</a:t>
            </a:r>
            <a:endParaRPr lang="en-US" sz="12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AF6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457200"/>
            <a:ext cx="107899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The model budgets its answer against the size of the question.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822960" y="1463040"/>
            <a:ext cx="5029200" cy="4251960"/>
          </a:xfrm>
          <a:prstGeom prst="roundRect">
            <a:avLst>
              <a:gd name="adj" fmla="val 2151"/>
            </a:avLst>
          </a:prstGeom>
          <a:solidFill>
            <a:srgbClr val="FFFFFF"/>
          </a:solidFill>
          <a:ln w="12700">
            <a:solidFill>
              <a:srgbClr val="E5E0D8"/>
            </a:solidFill>
            <a:prstDash val="solid"/>
          </a:ln>
          <a:effectLst>
            <a:outerShdw sx="100000" sy="100000" kx="0" ky="0" algn="bl" rotWithShape="0" blurRad="177800" dist="38100" dir="5400000">
              <a:srgbClr val="8A8378">
                <a:alpha val="16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6355080" y="1463040"/>
            <a:ext cx="5029200" cy="4251960"/>
          </a:xfrm>
          <a:prstGeom prst="roundRect">
            <a:avLst>
              <a:gd name="adj" fmla="val 2151"/>
            </a:avLst>
          </a:prstGeom>
          <a:solidFill>
            <a:srgbClr val="FFFFFF"/>
          </a:solidFill>
          <a:ln w="12700">
            <a:solidFill>
              <a:srgbClr val="E5E0D8"/>
            </a:solidFill>
            <a:prstDash val="solid"/>
          </a:ln>
          <a:effectLst>
            <a:outerShdw sx="100000" sy="100000" kx="0" ky="0" algn="bl" rotWithShape="0" blurRad="177800" dist="38100" dir="5400000">
              <a:srgbClr val="8A8378">
                <a:alpha val="16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1097280" y="1691640"/>
            <a:ext cx="4480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8A837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passages returned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6629400" y="1691640"/>
            <a:ext cx="4480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8A837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characters returned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1691640" y="3657600"/>
            <a:ext cx="1371600" cy="1371600"/>
          </a:xfrm>
          <a:prstGeom prst="roundRect">
            <a:avLst>
              <a:gd name="adj" fmla="val 4000"/>
            </a:avLst>
          </a:prstGeom>
          <a:solidFill>
            <a:srgbClr val="B8B2A8"/>
          </a:solidFill>
          <a:ln/>
        </p:spPr>
      </p:sp>
      <p:sp>
        <p:nvSpPr>
          <p:cNvPr id="8" name="Text 6"/>
          <p:cNvSpPr/>
          <p:nvPr/>
        </p:nvSpPr>
        <p:spPr>
          <a:xfrm>
            <a:off x="1417320" y="3246120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10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1280160" y="5138928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A837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93,000-char context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3611880" y="2286000"/>
            <a:ext cx="1371600" cy="2743200"/>
          </a:xfrm>
          <a:prstGeom prst="roundRect">
            <a:avLst>
              <a:gd name="adj" fmla="val 4000"/>
            </a:avLst>
          </a:prstGeom>
          <a:solidFill>
            <a:srgbClr val="B03A1E"/>
          </a:solidFill>
          <a:ln/>
        </p:spPr>
      </p:sp>
      <p:sp>
        <p:nvSpPr>
          <p:cNvPr id="11" name="Text 9"/>
          <p:cNvSpPr/>
          <p:nvPr/>
        </p:nvSpPr>
        <p:spPr>
          <a:xfrm>
            <a:off x="3337560" y="1874520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B03A1E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20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3200400" y="5138928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B03A1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12,000-char context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7223760" y="4570775"/>
            <a:ext cx="1371600" cy="458425"/>
          </a:xfrm>
          <a:prstGeom prst="roundRect">
            <a:avLst>
              <a:gd name="adj" fmla="val 11968"/>
            </a:avLst>
          </a:prstGeom>
          <a:solidFill>
            <a:srgbClr val="B8B2A8"/>
          </a:solidFill>
          <a:ln/>
        </p:spPr>
      </p:sp>
      <p:sp>
        <p:nvSpPr>
          <p:cNvPr id="14" name="Text 12"/>
          <p:cNvSpPr/>
          <p:nvPr/>
        </p:nvSpPr>
        <p:spPr>
          <a:xfrm>
            <a:off x="6949440" y="4159295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873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6812280" y="5138928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A837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93,000-char context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9144000" y="2286000"/>
            <a:ext cx="1371600" cy="2743200"/>
          </a:xfrm>
          <a:prstGeom prst="roundRect">
            <a:avLst>
              <a:gd name="adj" fmla="val 4000"/>
            </a:avLst>
          </a:prstGeom>
          <a:solidFill>
            <a:srgbClr val="B03A1E"/>
          </a:solidFill>
          <a:ln/>
        </p:spPr>
      </p:sp>
      <p:sp>
        <p:nvSpPr>
          <p:cNvPr id="17" name="Text 15"/>
          <p:cNvSpPr/>
          <p:nvPr/>
        </p:nvSpPr>
        <p:spPr>
          <a:xfrm>
            <a:off x="8869680" y="1874520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B03A1E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5,224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8732520" y="5138928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B03A1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12,000-char context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685800" y="5870448"/>
            <a:ext cx="10789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A837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same model, same prompt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685800" y="6263640"/>
            <a:ext cx="10789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8A837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Pilot capture rates before the fix: 45% · 19% · 1.1%. The fix is architectural — one isolated call per outline node.</a:t>
            </a:r>
            <a:endParaRPr lang="en-US" sz="12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AF6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777240"/>
            <a:ext cx="2286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000" b="1" dirty="0">
                <a:solidFill>
                  <a:srgbClr val="B03A1E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16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3127248" y="777240"/>
            <a:ext cx="3017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A1A1A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commentaries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685800" y="1536192"/>
            <a:ext cx="2286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000" b="1" dirty="0">
                <a:solidFill>
                  <a:srgbClr val="B03A1E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582,332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3127248" y="1536192"/>
            <a:ext cx="3017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A1A1A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Tibetan characters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685800" y="2295144"/>
            <a:ext cx="2286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000" b="1" dirty="0">
                <a:solidFill>
                  <a:srgbClr val="B03A1E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3,268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3127248" y="2295144"/>
            <a:ext cx="3017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A1A1A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citable blocks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685800" y="3054096"/>
            <a:ext cx="2286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000" b="1" dirty="0">
                <a:solidFill>
                  <a:srgbClr val="B03A1E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580</a:t>
            </a:r>
            <a:endParaRPr lang="en-US" sz="3000" dirty="0"/>
          </a:p>
        </p:txBody>
      </p:sp>
      <p:sp>
        <p:nvSpPr>
          <p:cNvPr id="9" name="Text 7"/>
          <p:cNvSpPr/>
          <p:nvPr/>
        </p:nvSpPr>
        <p:spPr>
          <a:xfrm>
            <a:off x="3127248" y="3054096"/>
            <a:ext cx="3017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A1A1A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outline nodes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685800" y="3813048"/>
            <a:ext cx="2286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000" b="1" dirty="0">
                <a:solidFill>
                  <a:srgbClr val="B03A1E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2,975</a:t>
            </a:r>
            <a:endParaRPr lang="en-US" sz="3000" dirty="0"/>
          </a:p>
        </p:txBody>
      </p:sp>
      <p:sp>
        <p:nvSpPr>
          <p:cNvPr id="11" name="Text 9"/>
          <p:cNvSpPr/>
          <p:nvPr/>
        </p:nvSpPr>
        <p:spPr>
          <a:xfrm>
            <a:off x="3127248" y="3813048"/>
            <a:ext cx="3017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A1A1A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claims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685800" y="4846320"/>
            <a:ext cx="5440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8A837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Sakya · Geluk · Jonang · Nyingma · Kagyü · Sūryagupta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6446520" y="777240"/>
            <a:ext cx="5029200" cy="4434840"/>
          </a:xfrm>
          <a:prstGeom prst="roundRect">
            <a:avLst>
              <a:gd name="adj" fmla="val 1856"/>
            </a:avLst>
          </a:prstGeom>
          <a:solidFill>
            <a:srgbClr val="E5E0D8"/>
          </a:solidFill>
          <a:ln w="12700">
            <a:solidFill>
              <a:srgbClr val="B8B2A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46520" y="777240"/>
            <a:ext cx="5029200" cy="4434840"/>
          </a:xfrm>
          <a:prstGeom prst="rect">
            <a:avLst/>
          </a:prstGeom>
          <a:noFill/>
          <a:ln/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8A837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IMG-06</a:t>
            </a:r>
            <a:endParaRPr lang="en-US" sz="110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8A837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root verse 3 in large Uchen, block ID ^1-3 visible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685800" y="5806440"/>
            <a:ext cx="10789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A837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One verse, one commentary, all the way to a finished article.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10881360" y="6327648"/>
            <a:ext cx="868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B8B2A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AF6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1051560"/>
            <a:ext cx="2496312" cy="3246120"/>
          </a:xfrm>
          <a:prstGeom prst="roundRect">
            <a:avLst>
              <a:gd name="adj" fmla="val 3297"/>
            </a:avLst>
          </a:prstGeom>
          <a:solidFill>
            <a:srgbClr val="E5E0D8"/>
          </a:solidFill>
          <a:ln w="12700">
            <a:solidFill>
              <a:srgbClr val="B8B2A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85800" y="1051560"/>
            <a:ext cx="2496312" cy="3246120"/>
          </a:xfrm>
          <a:prstGeom prst="rect">
            <a:avLst/>
          </a:prstGeom>
          <a:noFill/>
          <a:ln/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8A837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IMG-07a</a:t>
            </a:r>
            <a:endParaRPr lang="en-US" sz="110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8A837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BDRC scan page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749808" y="822960"/>
            <a:ext cx="457200" cy="457200"/>
          </a:xfrm>
          <a:prstGeom prst="ellipse">
            <a:avLst/>
          </a:prstGeom>
          <a:solidFill>
            <a:srgbClr val="F0DFD8"/>
          </a:solidFill>
          <a:ln w="12700">
            <a:solidFill>
              <a:srgbClr val="B03A1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49808" y="8229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B03A1E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1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3456432" y="1051560"/>
            <a:ext cx="2496312" cy="3246120"/>
          </a:xfrm>
          <a:prstGeom prst="roundRect">
            <a:avLst>
              <a:gd name="adj" fmla="val 3297"/>
            </a:avLst>
          </a:prstGeom>
          <a:solidFill>
            <a:srgbClr val="E5E0D8"/>
          </a:solidFill>
          <a:ln w="12700">
            <a:solidFill>
              <a:srgbClr val="B8B2A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456432" y="1051560"/>
            <a:ext cx="2496312" cy="3246120"/>
          </a:xfrm>
          <a:prstGeom prst="rect">
            <a:avLst/>
          </a:prstGeom>
          <a:noFill/>
          <a:ln/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8A837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IMG-07b</a:t>
            </a:r>
            <a:endParaRPr lang="en-US" sz="110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8A837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raw OCR output, visibly messy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520440" y="822960"/>
            <a:ext cx="457200" cy="457200"/>
          </a:xfrm>
          <a:prstGeom prst="ellipse">
            <a:avLst/>
          </a:prstGeom>
          <a:solidFill>
            <a:srgbClr val="F0DFD8"/>
          </a:solidFill>
          <a:ln w="12700">
            <a:solidFill>
              <a:srgbClr val="B03A1E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520440" y="8229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B03A1E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2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227064" y="1051560"/>
            <a:ext cx="2496312" cy="3246120"/>
          </a:xfrm>
          <a:prstGeom prst="roundRect">
            <a:avLst>
              <a:gd name="adj" fmla="val 3297"/>
            </a:avLst>
          </a:prstGeom>
          <a:solidFill>
            <a:srgbClr val="E5E0D8"/>
          </a:solidFill>
          <a:ln w="12700">
            <a:solidFill>
              <a:srgbClr val="B8B2A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227064" y="1051560"/>
            <a:ext cx="2496312" cy="3246120"/>
          </a:xfrm>
          <a:prstGeom prst="rect">
            <a:avLst/>
          </a:prstGeom>
          <a:noFill/>
          <a:ln/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8A837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IMG-07c</a:t>
            </a:r>
            <a:endParaRPr lang="en-US" sz="110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8A837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cleaned text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6291072" y="822960"/>
            <a:ext cx="457200" cy="457200"/>
          </a:xfrm>
          <a:prstGeom prst="ellipse">
            <a:avLst/>
          </a:prstGeom>
          <a:solidFill>
            <a:srgbClr val="F0DFD8"/>
          </a:solidFill>
          <a:ln w="12700">
            <a:solidFill>
              <a:srgbClr val="B03A1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291072" y="8229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B03A1E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3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8997696" y="1051560"/>
            <a:ext cx="2496312" cy="3246120"/>
          </a:xfrm>
          <a:prstGeom prst="roundRect">
            <a:avLst>
              <a:gd name="adj" fmla="val 3297"/>
            </a:avLst>
          </a:prstGeom>
          <a:solidFill>
            <a:srgbClr val="E5E0D8"/>
          </a:solidFill>
          <a:ln w="12700">
            <a:solidFill>
              <a:srgbClr val="B8B2A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997696" y="1051560"/>
            <a:ext cx="2496312" cy="3246120"/>
          </a:xfrm>
          <a:prstGeom prst="rect">
            <a:avLst/>
          </a:prstGeom>
          <a:noFill/>
          <a:ln/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8A837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IMG-07d</a:t>
            </a:r>
            <a:endParaRPr lang="en-US" sz="110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8A837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block-addressed text, ^0-23 … ^0-27 visible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9061704" y="822960"/>
            <a:ext cx="457200" cy="457200"/>
          </a:xfrm>
          <a:prstGeom prst="ellipse">
            <a:avLst/>
          </a:prstGeom>
          <a:solidFill>
            <a:srgbClr val="F0DFD8"/>
          </a:solidFill>
          <a:ln w="12700">
            <a:solidFill>
              <a:srgbClr val="B03A1E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061704" y="8229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B03A1E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4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685800" y="4800600"/>
            <a:ext cx="1081735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A1A1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scan</a:t>
            </a:r>
            <a:pPr algn="ctr" indent="0" marL="0">
              <a:buNone/>
            </a:pPr>
            <a:r>
              <a:rPr lang="en-US" sz="2200" b="1" dirty="0">
                <a:solidFill>
                  <a:srgbClr val="D9A441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  →  </a:t>
            </a:r>
            <a:pPr algn="ctr" indent="0" marL="0">
              <a:buNone/>
            </a:pPr>
            <a:r>
              <a:rPr lang="en-US" sz="2200" b="1" dirty="0">
                <a:solidFill>
                  <a:srgbClr val="1A1A1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OCR</a:t>
            </a:r>
            <a:pPr algn="ctr" indent="0" marL="0">
              <a:buNone/>
            </a:pPr>
            <a:r>
              <a:rPr lang="en-US" sz="2200" b="1" dirty="0">
                <a:solidFill>
                  <a:srgbClr val="D9A441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  →  </a:t>
            </a:r>
            <a:pPr algn="ctr" indent="0" marL="0">
              <a:buNone/>
            </a:pPr>
            <a:r>
              <a:rPr lang="en-US" sz="2200" b="1" dirty="0">
                <a:solidFill>
                  <a:srgbClr val="1A1A1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clean</a:t>
            </a:r>
            <a:pPr algn="ctr" indent="0" marL="0">
              <a:buNone/>
            </a:pPr>
            <a:r>
              <a:rPr lang="en-US" sz="2200" b="1" dirty="0">
                <a:solidFill>
                  <a:srgbClr val="D9A441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  →  </a:t>
            </a:r>
            <a:pPr algn="ctr" indent="0" marL="0">
              <a:buNone/>
            </a:pPr>
            <a:r>
              <a:rPr lang="en-US" sz="2200" b="1" dirty="0">
                <a:solidFill>
                  <a:srgbClr val="1A1A1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address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685800" y="5806440"/>
            <a:ext cx="10789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50" dirty="0">
                <a:solidFill>
                  <a:srgbClr val="8A837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footnote pointing at a file is a promise. Pointing at a block is an address.</a:t>
            </a:r>
            <a:endParaRPr lang="en-US" sz="1450" dirty="0"/>
          </a:p>
        </p:txBody>
      </p:sp>
      <p:sp>
        <p:nvSpPr>
          <p:cNvPr id="20" name="Text 18"/>
          <p:cNvSpPr/>
          <p:nvPr/>
        </p:nvSpPr>
        <p:spPr>
          <a:xfrm>
            <a:off x="10881360" y="6327648"/>
            <a:ext cx="868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B8B2A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AF6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457200"/>
            <a:ext cx="7315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1A1A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37 nodes · 7 levels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713232" y="1143000"/>
            <a:ext cx="10789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21 leaves under “extended explanation” come out at exactly 21.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8915400" y="502920"/>
            <a:ext cx="2587752" cy="566928"/>
          </a:xfrm>
          <a:prstGeom prst="roundRect">
            <a:avLst>
              <a:gd name="adj" fmla="val 50000"/>
            </a:avLst>
          </a:prstGeom>
          <a:solidFill>
            <a:srgbClr val="F0DFD8"/>
          </a:solidFill>
          <a:ln w="12700">
            <a:solidFill>
              <a:srgbClr val="B03A1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915400" y="502920"/>
            <a:ext cx="2587752" cy="566928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B03A1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Recovered, not imposed.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85800" y="1783080"/>
            <a:ext cx="10817352" cy="4297680"/>
          </a:xfrm>
          <a:prstGeom prst="roundRect">
            <a:avLst>
              <a:gd name="adj" fmla="val 1915"/>
            </a:avLst>
          </a:prstGeom>
          <a:solidFill>
            <a:srgbClr val="E5E0D8"/>
          </a:solidFill>
          <a:ln w="12700">
            <a:solidFill>
              <a:srgbClr val="B8B2A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85800" y="1783080"/>
            <a:ext cx="10817352" cy="4297680"/>
          </a:xfrm>
          <a:prstGeom prst="rect">
            <a:avLst/>
          </a:prstGeom>
          <a:noFill/>
          <a:ln/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8A837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IMG-08</a:t>
            </a:r>
            <a:endParaRPr lang="en-US" sz="110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8A837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Gendün Drub's full sa-bcad tree, one branch highlighted down to 2.2.2.2.1.1.2 (highlight in accent)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10881360" y="6327648"/>
            <a:ext cx="868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B8B2A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15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AF6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411480"/>
            <a:ext cx="107899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1A1A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2,975 claims · one fact · one type · one address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685800" y="1207008"/>
            <a:ext cx="1325880" cy="420624"/>
          </a:xfrm>
          <a:prstGeom prst="roundRect">
            <a:avLst>
              <a:gd name="adj" fmla="val 50000"/>
            </a:avLst>
          </a:prstGeom>
          <a:solidFill>
            <a:srgbClr val="F0DFD8"/>
          </a:solidFill>
          <a:ln w="9525">
            <a:solidFill>
              <a:srgbClr val="B03A1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85800" y="1207008"/>
            <a:ext cx="1325880" cy="420624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B03A1E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etymology</a:t>
            </a:r>
            <a:endParaRPr lang="en-US" sz="1150" dirty="0"/>
          </a:p>
        </p:txBody>
      </p:sp>
      <p:sp>
        <p:nvSpPr>
          <p:cNvPr id="5" name="Shape 3"/>
          <p:cNvSpPr/>
          <p:nvPr/>
        </p:nvSpPr>
        <p:spPr>
          <a:xfrm>
            <a:off x="2212848" y="1207008"/>
            <a:ext cx="1371600" cy="420624"/>
          </a:xfrm>
          <a:prstGeom prst="roundRect">
            <a:avLst>
              <a:gd name="adj" fmla="val 50000"/>
            </a:avLst>
          </a:prstGeom>
          <a:solidFill>
            <a:srgbClr val="F0DFD8"/>
          </a:solidFill>
          <a:ln w="9525">
            <a:solidFill>
              <a:srgbClr val="B03A1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212848" y="1207008"/>
            <a:ext cx="1371600" cy="420624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B03A1E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word-gloss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3785616" y="1207008"/>
            <a:ext cx="1463040" cy="420624"/>
          </a:xfrm>
          <a:prstGeom prst="roundRect">
            <a:avLst>
              <a:gd name="adj" fmla="val 50000"/>
            </a:avLst>
          </a:prstGeom>
          <a:solidFill>
            <a:srgbClr val="F0DFD8"/>
          </a:solidFill>
          <a:ln w="9525">
            <a:solidFill>
              <a:srgbClr val="B03A1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785616" y="1207008"/>
            <a:ext cx="1463040" cy="420624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B03A1E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iconography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5449824" y="1207008"/>
            <a:ext cx="1645920" cy="420624"/>
          </a:xfrm>
          <a:prstGeom prst="roundRect">
            <a:avLst>
              <a:gd name="adj" fmla="val 50000"/>
            </a:avLst>
          </a:prstGeom>
          <a:solidFill>
            <a:srgbClr val="F0DFD8"/>
          </a:solidFill>
          <a:ln w="9525">
            <a:solidFill>
              <a:srgbClr val="B03A1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449824" y="1207008"/>
            <a:ext cx="1645920" cy="420624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B03A1E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identification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7296912" y="1207008"/>
            <a:ext cx="1280160" cy="420624"/>
          </a:xfrm>
          <a:prstGeom prst="roundRect">
            <a:avLst>
              <a:gd name="adj" fmla="val 50000"/>
            </a:avLst>
          </a:prstGeom>
          <a:solidFill>
            <a:srgbClr val="F0DFD8"/>
          </a:solidFill>
          <a:ln w="9525">
            <a:solidFill>
              <a:srgbClr val="B03A1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296912" y="1207008"/>
            <a:ext cx="1280160" cy="420624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B03A1E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doctrinal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8778240" y="1207008"/>
            <a:ext cx="1325880" cy="420624"/>
          </a:xfrm>
          <a:prstGeom prst="roundRect">
            <a:avLst>
              <a:gd name="adj" fmla="val 50000"/>
            </a:avLst>
          </a:prstGeom>
          <a:solidFill>
            <a:srgbClr val="F0DFD8"/>
          </a:solidFill>
          <a:ln w="9525">
            <a:solidFill>
              <a:srgbClr val="B03A1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778240" y="1207008"/>
            <a:ext cx="1325880" cy="420624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B03A1E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structural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 rot="-180000">
            <a:off x="2331720" y="2148840"/>
            <a:ext cx="4206240" cy="2788920"/>
          </a:xfrm>
          <a:prstGeom prst="roundRect">
            <a:avLst>
              <a:gd name="adj" fmla="val 2295"/>
            </a:avLst>
          </a:prstGeom>
          <a:solidFill>
            <a:srgbClr val="FFFFFF"/>
          </a:solidFill>
          <a:ln w="9525">
            <a:solidFill>
              <a:srgbClr val="B8B2A8"/>
            </a:solidFill>
            <a:prstDash val="solid"/>
          </a:ln>
          <a:effectLst>
            <a:outerShdw sx="100000" sy="100000" kx="0" ky="0" algn="bl" rotWithShape="0" blurRad="177800" dist="38100" dir="5400000">
              <a:srgbClr val="8A8378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 rot="180000">
            <a:off x="6675120" y="2258568"/>
            <a:ext cx="4206240" cy="2788920"/>
          </a:xfrm>
          <a:prstGeom prst="roundRect">
            <a:avLst>
              <a:gd name="adj" fmla="val 2295"/>
            </a:avLst>
          </a:prstGeom>
          <a:solidFill>
            <a:srgbClr val="FFFFFF"/>
          </a:solidFill>
          <a:ln w="9525">
            <a:solidFill>
              <a:srgbClr val="B8B2A8"/>
            </a:solidFill>
            <a:prstDash val="solid"/>
          </a:ln>
          <a:effectLst>
            <a:outerShdw sx="100000" sy="100000" kx="0" ky="0" algn="bl" rotWithShape="0" blurRad="177800" dist="38100" dir="5400000">
              <a:srgbClr val="8A8378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 rot="-60000">
            <a:off x="4526280" y="2194560"/>
            <a:ext cx="4206240" cy="2788920"/>
          </a:xfrm>
          <a:prstGeom prst="roundRect">
            <a:avLst>
              <a:gd name="adj" fmla="val 2295"/>
            </a:avLst>
          </a:prstGeom>
          <a:solidFill>
            <a:srgbClr val="FFFFFF"/>
          </a:solidFill>
          <a:ln w="9525">
            <a:solidFill>
              <a:srgbClr val="B8B2A8"/>
            </a:solidFill>
            <a:prstDash val="solid"/>
          </a:ln>
          <a:effectLst>
            <a:outerShdw sx="100000" sy="100000" kx="0" ky="0" algn="bl" rotWithShape="0" blurRad="177800" dist="38100" dir="5400000">
              <a:srgbClr val="8A8378">
                <a:alpha val="12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1691640" y="2423160"/>
            <a:ext cx="4251960" cy="2788920"/>
          </a:xfrm>
          <a:prstGeom prst="roundRect">
            <a:avLst>
              <a:gd name="adj" fmla="val 2951"/>
            </a:avLst>
          </a:prstGeom>
          <a:solidFill>
            <a:srgbClr val="E5E0D8"/>
          </a:solidFill>
          <a:ln w="12700">
            <a:solidFill>
              <a:srgbClr val="B8B2A8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691640" y="2423160"/>
            <a:ext cx="4251960" cy="2788920"/>
          </a:xfrm>
          <a:prstGeom prst="rect">
            <a:avLst/>
          </a:prstGeom>
          <a:noFill/>
          <a:ln/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8A837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IMG-09a</a:t>
            </a:r>
            <a:endParaRPr lang="en-US" sz="110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8A837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claim card: verbatim Tibetan + gloss + Type + Cite → ^0-26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6263640" y="2606040"/>
            <a:ext cx="4251960" cy="2788920"/>
          </a:xfrm>
          <a:prstGeom prst="roundRect">
            <a:avLst>
              <a:gd name="adj" fmla="val 2951"/>
            </a:avLst>
          </a:prstGeom>
          <a:solidFill>
            <a:srgbClr val="E5E0D8"/>
          </a:solidFill>
          <a:ln w="12700">
            <a:solidFill>
              <a:srgbClr val="B8B2A8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263640" y="2606040"/>
            <a:ext cx="4251960" cy="2788920"/>
          </a:xfrm>
          <a:prstGeom prst="rect">
            <a:avLst/>
          </a:prstGeom>
          <a:noFill/>
          <a:ln/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8A837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IMG-09b</a:t>
            </a:r>
            <a:endParaRPr lang="en-US" sz="110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8A837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second claim card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685800" y="5806440"/>
            <a:ext cx="10789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8A837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One call per node. It cannot file under the wrong node, and cannot import from a commentary it was never shown.</a:t>
            </a:r>
            <a:endParaRPr lang="en-US" sz="1250" dirty="0"/>
          </a:p>
        </p:txBody>
      </p:sp>
      <p:sp>
        <p:nvSpPr>
          <p:cNvPr id="23" name="Text 21"/>
          <p:cNvSpPr/>
          <p:nvPr/>
        </p:nvSpPr>
        <p:spPr>
          <a:xfrm>
            <a:off x="10881360" y="6327648"/>
            <a:ext cx="868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B8B2A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16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AF6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411480"/>
            <a:ext cx="59436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1A1A1A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8× spread</a:t>
            </a:r>
            <a:endParaRPr lang="en-US" sz="4200" dirty="0"/>
          </a:p>
        </p:txBody>
      </p:sp>
      <p:sp>
        <p:nvSpPr>
          <p:cNvPr id="3" name="Shape 1"/>
          <p:cNvSpPr/>
          <p:nvPr/>
        </p:nvSpPr>
        <p:spPr>
          <a:xfrm>
            <a:off x="7315200" y="502920"/>
            <a:ext cx="4206240" cy="676656"/>
          </a:xfrm>
          <a:prstGeom prst="roundRect">
            <a:avLst>
              <a:gd name="adj" fmla="val 20270"/>
            </a:avLst>
          </a:prstGeom>
          <a:solidFill>
            <a:srgbClr val="F0DFD8"/>
          </a:solidFill>
          <a:ln w="19050">
            <a:solidFill>
              <a:srgbClr val="B03A1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7315200" y="502920"/>
            <a:ext cx="4206240" cy="676656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B03A1E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outline nodes per commentary: 2 → 120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8138160" y="1325880"/>
            <a:ext cx="33649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8A837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claims per 10,000 characters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566928" y="1650492"/>
            <a:ext cx="10972800" cy="265176"/>
          </a:xfrm>
          <a:prstGeom prst="roundRect">
            <a:avLst>
              <a:gd name="adj" fmla="val 17241"/>
            </a:avLst>
          </a:prstGeom>
          <a:solidFill>
            <a:srgbClr val="F0DFD8"/>
          </a:solidFill>
          <a:ln/>
        </p:spPr>
      </p:sp>
      <p:sp>
        <p:nvSpPr>
          <p:cNvPr id="7" name="Text 5"/>
          <p:cNvSpPr/>
          <p:nvPr/>
        </p:nvSpPr>
        <p:spPr>
          <a:xfrm>
            <a:off x="640080" y="1655064"/>
            <a:ext cx="19385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B03A1E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karma-maitri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743200" y="1691640"/>
            <a:ext cx="7589520" cy="182880"/>
          </a:xfrm>
          <a:prstGeom prst="roundRect">
            <a:avLst>
              <a:gd name="adj" fmla="val 15000"/>
            </a:avLst>
          </a:prstGeom>
          <a:solidFill>
            <a:srgbClr val="B03A1E"/>
          </a:solidFill>
          <a:ln/>
        </p:spPr>
      </p:sp>
      <p:sp>
        <p:nvSpPr>
          <p:cNvPr id="9" name="Text 7"/>
          <p:cNvSpPr/>
          <p:nvPr/>
        </p:nvSpPr>
        <p:spPr>
          <a:xfrm>
            <a:off x="10424160" y="1655064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B03A1E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181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640080" y="1915668"/>
            <a:ext cx="19385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1A1A1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taranatha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2743200" y="1952244"/>
            <a:ext cx="4864002" cy="182880"/>
          </a:xfrm>
          <a:prstGeom prst="roundRect">
            <a:avLst>
              <a:gd name="adj" fmla="val 15000"/>
            </a:avLst>
          </a:prstGeom>
          <a:solidFill>
            <a:srgbClr val="B8B2A8"/>
          </a:solidFill>
          <a:ln/>
        </p:spPr>
      </p:sp>
      <p:sp>
        <p:nvSpPr>
          <p:cNvPr id="12" name="Text 10"/>
          <p:cNvSpPr/>
          <p:nvPr/>
        </p:nvSpPr>
        <p:spPr>
          <a:xfrm>
            <a:off x="7698642" y="1915668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A837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116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640080" y="2176272"/>
            <a:ext cx="19385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1A1A1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drakpa-gyaltsen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2743200" y="2212848"/>
            <a:ext cx="4654347" cy="182880"/>
          </a:xfrm>
          <a:prstGeom prst="roundRect">
            <a:avLst>
              <a:gd name="adj" fmla="val 15000"/>
            </a:avLst>
          </a:prstGeom>
          <a:solidFill>
            <a:srgbClr val="B8B2A8"/>
          </a:solidFill>
          <a:ln/>
        </p:spPr>
      </p:sp>
      <p:sp>
        <p:nvSpPr>
          <p:cNvPr id="15" name="Text 13"/>
          <p:cNvSpPr/>
          <p:nvPr/>
        </p:nvSpPr>
        <p:spPr>
          <a:xfrm>
            <a:off x="7488987" y="2176272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A837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111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640080" y="2436876"/>
            <a:ext cx="19385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1A1A1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lobsang-dawa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743200" y="2473452"/>
            <a:ext cx="3648001" cy="182880"/>
          </a:xfrm>
          <a:prstGeom prst="roundRect">
            <a:avLst>
              <a:gd name="adj" fmla="val 15000"/>
            </a:avLst>
          </a:prstGeom>
          <a:solidFill>
            <a:srgbClr val="B8B2A8"/>
          </a:solidFill>
          <a:ln/>
        </p:spPr>
      </p:sp>
      <p:sp>
        <p:nvSpPr>
          <p:cNvPr id="18" name="Text 16"/>
          <p:cNvSpPr/>
          <p:nvPr/>
        </p:nvSpPr>
        <p:spPr>
          <a:xfrm>
            <a:off x="6482641" y="2436876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A837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87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640080" y="2697480"/>
            <a:ext cx="19385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1A1A1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dharmabhadra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2743200" y="2734056"/>
            <a:ext cx="3396415" cy="182880"/>
          </a:xfrm>
          <a:prstGeom prst="roundRect">
            <a:avLst>
              <a:gd name="adj" fmla="val 15000"/>
            </a:avLst>
          </a:prstGeom>
          <a:solidFill>
            <a:srgbClr val="B8B2A8"/>
          </a:solidFill>
          <a:ln/>
        </p:spPr>
      </p:sp>
      <p:sp>
        <p:nvSpPr>
          <p:cNvPr id="21" name="Text 19"/>
          <p:cNvSpPr/>
          <p:nvPr/>
        </p:nvSpPr>
        <p:spPr>
          <a:xfrm>
            <a:off x="6231055" y="2697480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A837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81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640080" y="2958084"/>
            <a:ext cx="19385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1A1A1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gendun-drub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2743200" y="2994660"/>
            <a:ext cx="2725518" cy="182880"/>
          </a:xfrm>
          <a:prstGeom prst="roundRect">
            <a:avLst>
              <a:gd name="adj" fmla="val 15000"/>
            </a:avLst>
          </a:prstGeom>
          <a:solidFill>
            <a:srgbClr val="B8B2A8"/>
          </a:solidFill>
          <a:ln/>
        </p:spPr>
      </p:sp>
      <p:sp>
        <p:nvSpPr>
          <p:cNvPr id="24" name="Text 22"/>
          <p:cNvSpPr/>
          <p:nvPr/>
        </p:nvSpPr>
        <p:spPr>
          <a:xfrm>
            <a:off x="5560158" y="2958084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A837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65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640080" y="3218688"/>
            <a:ext cx="19385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1A1A1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sungrab-tulku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2743200" y="3255264"/>
            <a:ext cx="2473932" cy="182880"/>
          </a:xfrm>
          <a:prstGeom prst="roundRect">
            <a:avLst>
              <a:gd name="adj" fmla="val 15000"/>
            </a:avLst>
          </a:prstGeom>
          <a:solidFill>
            <a:srgbClr val="B8B2A8"/>
          </a:solidFill>
          <a:ln/>
        </p:spPr>
      </p:sp>
      <p:sp>
        <p:nvSpPr>
          <p:cNvPr id="27" name="Text 25"/>
          <p:cNvSpPr/>
          <p:nvPr/>
        </p:nvSpPr>
        <p:spPr>
          <a:xfrm>
            <a:off x="5308572" y="3218688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A837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59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640080" y="3479292"/>
            <a:ext cx="19385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1A1A1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gendun-gyatso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2743200" y="3515868"/>
            <a:ext cx="2348139" cy="182880"/>
          </a:xfrm>
          <a:prstGeom prst="roundRect">
            <a:avLst>
              <a:gd name="adj" fmla="val 15000"/>
            </a:avLst>
          </a:prstGeom>
          <a:solidFill>
            <a:srgbClr val="B8B2A8"/>
          </a:solidFill>
          <a:ln/>
        </p:spPr>
      </p:sp>
      <p:sp>
        <p:nvSpPr>
          <p:cNvPr id="30" name="Text 28"/>
          <p:cNvSpPr/>
          <p:nvPr/>
        </p:nvSpPr>
        <p:spPr>
          <a:xfrm>
            <a:off x="5182779" y="3479292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A837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56</a:t>
            </a:r>
            <a:endParaRPr lang="en-US" sz="950" dirty="0"/>
          </a:p>
        </p:txBody>
      </p:sp>
      <p:sp>
        <p:nvSpPr>
          <p:cNvPr id="31" name="Text 29"/>
          <p:cNvSpPr/>
          <p:nvPr/>
        </p:nvSpPr>
        <p:spPr>
          <a:xfrm>
            <a:off x="640080" y="3739896"/>
            <a:ext cx="19385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1A1A1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pema-namgyal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2743200" y="3776472"/>
            <a:ext cx="2348139" cy="182880"/>
          </a:xfrm>
          <a:prstGeom prst="roundRect">
            <a:avLst>
              <a:gd name="adj" fmla="val 15000"/>
            </a:avLst>
          </a:prstGeom>
          <a:solidFill>
            <a:srgbClr val="B8B2A8"/>
          </a:solidFill>
          <a:ln/>
        </p:spPr>
      </p:sp>
      <p:sp>
        <p:nvSpPr>
          <p:cNvPr id="33" name="Text 31"/>
          <p:cNvSpPr/>
          <p:nvPr/>
        </p:nvSpPr>
        <p:spPr>
          <a:xfrm>
            <a:off x="5182779" y="3739896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A837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56</a:t>
            </a:r>
            <a:endParaRPr lang="en-US" sz="950" dirty="0"/>
          </a:p>
        </p:txBody>
      </p:sp>
      <p:sp>
        <p:nvSpPr>
          <p:cNvPr id="34" name="Text 32"/>
          <p:cNvSpPr/>
          <p:nvPr/>
        </p:nvSpPr>
        <p:spPr>
          <a:xfrm>
            <a:off x="640080" y="4000500"/>
            <a:ext cx="19385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1A1A1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konchok-thabkhe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2743200" y="4037076"/>
            <a:ext cx="2264277" cy="182880"/>
          </a:xfrm>
          <a:prstGeom prst="roundRect">
            <a:avLst>
              <a:gd name="adj" fmla="val 15000"/>
            </a:avLst>
          </a:prstGeom>
          <a:solidFill>
            <a:srgbClr val="B8B2A8"/>
          </a:solidFill>
          <a:ln/>
        </p:spPr>
      </p:sp>
      <p:sp>
        <p:nvSpPr>
          <p:cNvPr id="36" name="Text 34"/>
          <p:cNvSpPr/>
          <p:nvPr/>
        </p:nvSpPr>
        <p:spPr>
          <a:xfrm>
            <a:off x="5098917" y="4000500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A837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54</a:t>
            </a:r>
            <a:endParaRPr lang="en-US" sz="950" dirty="0"/>
          </a:p>
        </p:txBody>
      </p:sp>
      <p:sp>
        <p:nvSpPr>
          <p:cNvPr id="37" name="Text 35"/>
          <p:cNvSpPr/>
          <p:nvPr/>
        </p:nvSpPr>
        <p:spPr>
          <a:xfrm>
            <a:off x="640080" y="4261104"/>
            <a:ext cx="19385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1A1A1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yama-sonam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2743200" y="4297680"/>
            <a:ext cx="2264277" cy="182880"/>
          </a:xfrm>
          <a:prstGeom prst="roundRect">
            <a:avLst>
              <a:gd name="adj" fmla="val 15000"/>
            </a:avLst>
          </a:prstGeom>
          <a:solidFill>
            <a:srgbClr val="B8B2A8"/>
          </a:solidFill>
          <a:ln/>
        </p:spPr>
      </p:sp>
      <p:sp>
        <p:nvSpPr>
          <p:cNvPr id="39" name="Text 37"/>
          <p:cNvSpPr/>
          <p:nvPr/>
        </p:nvSpPr>
        <p:spPr>
          <a:xfrm>
            <a:off x="5098917" y="4261104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A837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54</a:t>
            </a:r>
            <a:endParaRPr lang="en-US" sz="950" dirty="0"/>
          </a:p>
        </p:txBody>
      </p:sp>
      <p:sp>
        <p:nvSpPr>
          <p:cNvPr id="40" name="Text 38"/>
          <p:cNvSpPr/>
          <p:nvPr/>
        </p:nvSpPr>
        <p:spPr>
          <a:xfrm>
            <a:off x="640080" y="4521708"/>
            <a:ext cx="19385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1A1A1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tenga-tulku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2743200" y="4558284"/>
            <a:ext cx="2264277" cy="182880"/>
          </a:xfrm>
          <a:prstGeom prst="roundRect">
            <a:avLst>
              <a:gd name="adj" fmla="val 15000"/>
            </a:avLst>
          </a:prstGeom>
          <a:solidFill>
            <a:srgbClr val="B8B2A8"/>
          </a:solidFill>
          <a:ln/>
        </p:spPr>
      </p:sp>
      <p:sp>
        <p:nvSpPr>
          <p:cNvPr id="42" name="Text 40"/>
          <p:cNvSpPr/>
          <p:nvPr/>
        </p:nvSpPr>
        <p:spPr>
          <a:xfrm>
            <a:off x="5098917" y="4521708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A837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54</a:t>
            </a:r>
            <a:endParaRPr lang="en-US" sz="950" dirty="0"/>
          </a:p>
        </p:txBody>
      </p:sp>
      <p:sp>
        <p:nvSpPr>
          <p:cNvPr id="43" name="Text 41"/>
          <p:cNvSpPr/>
          <p:nvPr/>
        </p:nvSpPr>
        <p:spPr>
          <a:xfrm>
            <a:off x="640080" y="4782312"/>
            <a:ext cx="19385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1A1A1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sangye-nyentrul</a:t>
            </a:r>
            <a:endParaRPr lang="en-US" sz="1000" dirty="0"/>
          </a:p>
        </p:txBody>
      </p:sp>
      <p:sp>
        <p:nvSpPr>
          <p:cNvPr id="44" name="Shape 42"/>
          <p:cNvSpPr/>
          <p:nvPr/>
        </p:nvSpPr>
        <p:spPr>
          <a:xfrm>
            <a:off x="2743200" y="4818888"/>
            <a:ext cx="2138484" cy="182880"/>
          </a:xfrm>
          <a:prstGeom prst="roundRect">
            <a:avLst>
              <a:gd name="adj" fmla="val 15000"/>
            </a:avLst>
          </a:prstGeom>
          <a:solidFill>
            <a:srgbClr val="B8B2A8"/>
          </a:solidFill>
          <a:ln/>
        </p:spPr>
      </p:sp>
      <p:sp>
        <p:nvSpPr>
          <p:cNvPr id="45" name="Text 43"/>
          <p:cNvSpPr/>
          <p:nvPr/>
        </p:nvSpPr>
        <p:spPr>
          <a:xfrm>
            <a:off x="4973124" y="4782312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A837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51</a:t>
            </a:r>
            <a:endParaRPr lang="en-US" sz="950" dirty="0"/>
          </a:p>
        </p:txBody>
      </p:sp>
      <p:sp>
        <p:nvSpPr>
          <p:cNvPr id="46" name="Text 44"/>
          <p:cNvSpPr/>
          <p:nvPr/>
        </p:nvSpPr>
        <p:spPr>
          <a:xfrm>
            <a:off x="640080" y="5042916"/>
            <a:ext cx="19385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1A1A1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tenzin-dhonzang</a:t>
            </a:r>
            <a:endParaRPr lang="en-US" sz="1000" dirty="0"/>
          </a:p>
        </p:txBody>
      </p:sp>
      <p:sp>
        <p:nvSpPr>
          <p:cNvPr id="47" name="Shape 45"/>
          <p:cNvSpPr/>
          <p:nvPr/>
        </p:nvSpPr>
        <p:spPr>
          <a:xfrm>
            <a:off x="2743200" y="5079492"/>
            <a:ext cx="1928828" cy="182880"/>
          </a:xfrm>
          <a:prstGeom prst="roundRect">
            <a:avLst>
              <a:gd name="adj" fmla="val 15000"/>
            </a:avLst>
          </a:prstGeom>
          <a:solidFill>
            <a:srgbClr val="B8B2A8"/>
          </a:solidFill>
          <a:ln/>
        </p:spPr>
      </p:sp>
      <p:sp>
        <p:nvSpPr>
          <p:cNvPr id="48" name="Text 46"/>
          <p:cNvSpPr/>
          <p:nvPr/>
        </p:nvSpPr>
        <p:spPr>
          <a:xfrm>
            <a:off x="4763468" y="5042916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A837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46</a:t>
            </a:r>
            <a:endParaRPr lang="en-US" sz="950" dirty="0"/>
          </a:p>
        </p:txBody>
      </p:sp>
      <p:sp>
        <p:nvSpPr>
          <p:cNvPr id="49" name="Text 47"/>
          <p:cNvSpPr/>
          <p:nvPr/>
        </p:nvSpPr>
        <p:spPr>
          <a:xfrm>
            <a:off x="640080" y="5303520"/>
            <a:ext cx="19385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1A1A1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palden-sherab</a:t>
            </a:r>
            <a:endParaRPr lang="en-US" sz="1000" dirty="0"/>
          </a:p>
        </p:txBody>
      </p:sp>
      <p:sp>
        <p:nvSpPr>
          <p:cNvPr id="50" name="Shape 48"/>
          <p:cNvSpPr/>
          <p:nvPr/>
        </p:nvSpPr>
        <p:spPr>
          <a:xfrm>
            <a:off x="2743200" y="5340096"/>
            <a:ext cx="1425656" cy="182880"/>
          </a:xfrm>
          <a:prstGeom prst="roundRect">
            <a:avLst>
              <a:gd name="adj" fmla="val 15000"/>
            </a:avLst>
          </a:prstGeom>
          <a:solidFill>
            <a:srgbClr val="B8B2A8"/>
          </a:solidFill>
          <a:ln/>
        </p:spPr>
      </p:sp>
      <p:sp>
        <p:nvSpPr>
          <p:cNvPr id="51" name="Text 49"/>
          <p:cNvSpPr/>
          <p:nvPr/>
        </p:nvSpPr>
        <p:spPr>
          <a:xfrm>
            <a:off x="4260296" y="5303520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A837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34</a:t>
            </a:r>
            <a:endParaRPr lang="en-US" sz="950" dirty="0"/>
          </a:p>
        </p:txBody>
      </p:sp>
      <p:sp>
        <p:nvSpPr>
          <p:cNvPr id="52" name="Shape 50"/>
          <p:cNvSpPr/>
          <p:nvPr/>
        </p:nvSpPr>
        <p:spPr>
          <a:xfrm>
            <a:off x="566928" y="5559552"/>
            <a:ext cx="10972800" cy="265176"/>
          </a:xfrm>
          <a:prstGeom prst="roundRect">
            <a:avLst>
              <a:gd name="adj" fmla="val 17241"/>
            </a:avLst>
          </a:prstGeom>
          <a:solidFill>
            <a:srgbClr val="F0DFD8"/>
          </a:solidFill>
          <a:ln/>
        </p:spPr>
      </p:sp>
      <p:sp>
        <p:nvSpPr>
          <p:cNvPr id="53" name="Text 51"/>
          <p:cNvSpPr/>
          <p:nvPr/>
        </p:nvSpPr>
        <p:spPr>
          <a:xfrm>
            <a:off x="640080" y="5564124"/>
            <a:ext cx="19385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B03A1E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tsultrim-namdak</a:t>
            </a:r>
            <a:endParaRPr lang="en-US" sz="1000" dirty="0"/>
          </a:p>
        </p:txBody>
      </p:sp>
      <p:sp>
        <p:nvSpPr>
          <p:cNvPr id="54" name="Shape 52"/>
          <p:cNvSpPr/>
          <p:nvPr/>
        </p:nvSpPr>
        <p:spPr>
          <a:xfrm>
            <a:off x="2743200" y="5600700"/>
            <a:ext cx="964414" cy="182880"/>
          </a:xfrm>
          <a:prstGeom prst="roundRect">
            <a:avLst>
              <a:gd name="adj" fmla="val 15000"/>
            </a:avLst>
          </a:prstGeom>
          <a:solidFill>
            <a:srgbClr val="B03A1E"/>
          </a:solidFill>
          <a:ln/>
        </p:spPr>
      </p:sp>
      <p:sp>
        <p:nvSpPr>
          <p:cNvPr id="55" name="Text 53"/>
          <p:cNvSpPr/>
          <p:nvPr/>
        </p:nvSpPr>
        <p:spPr>
          <a:xfrm>
            <a:off x="3799054" y="5564124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B03A1E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23</a:t>
            </a:r>
            <a:endParaRPr lang="en-US" sz="950" dirty="0"/>
          </a:p>
        </p:txBody>
      </p:sp>
      <p:sp>
        <p:nvSpPr>
          <p:cNvPr id="56" name="Text 54"/>
          <p:cNvSpPr/>
          <p:nvPr/>
        </p:nvSpPr>
        <p:spPr>
          <a:xfrm>
            <a:off x="685800" y="6172200"/>
            <a:ext cx="10789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8A837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word-commentary is dense. An expansive exegesis with ritual appendices is not.</a:t>
            </a:r>
            <a:endParaRPr lang="en-US" sz="13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AF6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411480"/>
            <a:ext cx="107899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1A1A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Every commentary numbered its own way. One shared coordinate system.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1737360" y="1737360"/>
            <a:ext cx="-777240" cy="548640"/>
          </a:xfrm>
          <a:prstGeom prst="line">
            <a:avLst/>
          </a:prstGeom>
          <a:noFill/>
          <a:ln w="15875">
            <a:solidFill>
              <a:srgbClr val="B8B2A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737360" y="1737360"/>
            <a:ext cx="-256032" cy="548640"/>
          </a:xfrm>
          <a:prstGeom prst="line">
            <a:avLst/>
          </a:prstGeom>
          <a:noFill/>
          <a:ln w="15875">
            <a:solidFill>
              <a:srgbClr val="B8B2A8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737360" y="1737360"/>
            <a:ext cx="256032" cy="548640"/>
          </a:xfrm>
          <a:prstGeom prst="line">
            <a:avLst/>
          </a:prstGeom>
          <a:noFill/>
          <a:ln w="15875">
            <a:solidFill>
              <a:srgbClr val="B8B2A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737360" y="1737360"/>
            <a:ext cx="777240" cy="548640"/>
          </a:xfrm>
          <a:prstGeom prst="line">
            <a:avLst/>
          </a:prstGeom>
          <a:noFill/>
          <a:ln w="15875">
            <a:solidFill>
              <a:srgbClr val="B8B2A8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664208" y="1664208"/>
            <a:ext cx="146304" cy="146304"/>
          </a:xfrm>
          <a:prstGeom prst="ellipse">
            <a:avLst/>
          </a:prstGeom>
          <a:solidFill>
            <a:srgbClr val="B8B2A8"/>
          </a:solidFill>
          <a:ln/>
        </p:spPr>
      </p:sp>
      <p:sp>
        <p:nvSpPr>
          <p:cNvPr id="8" name="Shape 6"/>
          <p:cNvSpPr/>
          <p:nvPr/>
        </p:nvSpPr>
        <p:spPr>
          <a:xfrm>
            <a:off x="886968" y="2212848"/>
            <a:ext cx="146304" cy="146304"/>
          </a:xfrm>
          <a:prstGeom prst="ellipse">
            <a:avLst/>
          </a:prstGeom>
          <a:solidFill>
            <a:srgbClr val="B8B2A8"/>
          </a:solidFill>
          <a:ln/>
        </p:spPr>
      </p:sp>
      <p:sp>
        <p:nvSpPr>
          <p:cNvPr id="9" name="Shape 7"/>
          <p:cNvSpPr/>
          <p:nvPr/>
        </p:nvSpPr>
        <p:spPr>
          <a:xfrm>
            <a:off x="1408176" y="2212848"/>
            <a:ext cx="146304" cy="146304"/>
          </a:xfrm>
          <a:prstGeom prst="ellipse">
            <a:avLst/>
          </a:prstGeom>
          <a:solidFill>
            <a:srgbClr val="B8B2A8"/>
          </a:solidFill>
          <a:ln/>
        </p:spPr>
      </p:sp>
      <p:sp>
        <p:nvSpPr>
          <p:cNvPr id="10" name="Shape 8"/>
          <p:cNvSpPr/>
          <p:nvPr/>
        </p:nvSpPr>
        <p:spPr>
          <a:xfrm>
            <a:off x="1920240" y="2212848"/>
            <a:ext cx="146304" cy="146304"/>
          </a:xfrm>
          <a:prstGeom prst="ellipse">
            <a:avLst/>
          </a:prstGeom>
          <a:solidFill>
            <a:srgbClr val="B8B2A8"/>
          </a:solidFill>
          <a:ln/>
        </p:spPr>
      </p:sp>
      <p:sp>
        <p:nvSpPr>
          <p:cNvPr id="11" name="Shape 9"/>
          <p:cNvSpPr/>
          <p:nvPr/>
        </p:nvSpPr>
        <p:spPr>
          <a:xfrm>
            <a:off x="2441448" y="2212848"/>
            <a:ext cx="146304" cy="146304"/>
          </a:xfrm>
          <a:prstGeom prst="ellipse">
            <a:avLst/>
          </a:prstGeom>
          <a:solidFill>
            <a:srgbClr val="B8B2A8"/>
          </a:solidFill>
          <a:ln/>
        </p:spPr>
      </p:sp>
      <p:sp>
        <p:nvSpPr>
          <p:cNvPr id="12" name="Shape 10"/>
          <p:cNvSpPr/>
          <p:nvPr/>
        </p:nvSpPr>
        <p:spPr>
          <a:xfrm>
            <a:off x="1234440" y="3063240"/>
            <a:ext cx="320040" cy="365760"/>
          </a:xfrm>
          <a:prstGeom prst="line">
            <a:avLst/>
          </a:prstGeom>
          <a:noFill/>
          <a:ln w="15875">
            <a:solidFill>
              <a:srgbClr val="B8B2A8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554480" y="3429000"/>
            <a:ext cx="320040" cy="365760"/>
          </a:xfrm>
          <a:prstGeom prst="line">
            <a:avLst/>
          </a:prstGeom>
          <a:noFill/>
          <a:ln w="15875">
            <a:solidFill>
              <a:srgbClr val="B8B2A8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874520" y="3794760"/>
            <a:ext cx="320040" cy="365760"/>
          </a:xfrm>
          <a:prstGeom prst="line">
            <a:avLst/>
          </a:prstGeom>
          <a:noFill/>
          <a:ln w="15875">
            <a:solidFill>
              <a:srgbClr val="B8B2A8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161288" y="2990088"/>
            <a:ext cx="146304" cy="146304"/>
          </a:xfrm>
          <a:prstGeom prst="ellipse">
            <a:avLst/>
          </a:prstGeom>
          <a:solidFill>
            <a:srgbClr val="B8B2A8"/>
          </a:solidFill>
          <a:ln/>
        </p:spPr>
      </p:sp>
      <p:sp>
        <p:nvSpPr>
          <p:cNvPr id="16" name="Shape 14"/>
          <p:cNvSpPr/>
          <p:nvPr/>
        </p:nvSpPr>
        <p:spPr>
          <a:xfrm>
            <a:off x="1481328" y="3355848"/>
            <a:ext cx="146304" cy="146304"/>
          </a:xfrm>
          <a:prstGeom prst="ellipse">
            <a:avLst/>
          </a:prstGeom>
          <a:solidFill>
            <a:srgbClr val="B8B2A8"/>
          </a:solidFill>
          <a:ln/>
        </p:spPr>
      </p:sp>
      <p:sp>
        <p:nvSpPr>
          <p:cNvPr id="17" name="Shape 15"/>
          <p:cNvSpPr/>
          <p:nvPr/>
        </p:nvSpPr>
        <p:spPr>
          <a:xfrm>
            <a:off x="1801368" y="3721608"/>
            <a:ext cx="146304" cy="146304"/>
          </a:xfrm>
          <a:prstGeom prst="ellipse">
            <a:avLst/>
          </a:prstGeom>
          <a:solidFill>
            <a:srgbClr val="B8B2A8"/>
          </a:solidFill>
          <a:ln/>
        </p:spPr>
      </p:sp>
      <p:sp>
        <p:nvSpPr>
          <p:cNvPr id="18" name="Shape 16"/>
          <p:cNvSpPr/>
          <p:nvPr/>
        </p:nvSpPr>
        <p:spPr>
          <a:xfrm>
            <a:off x="2121408" y="4087368"/>
            <a:ext cx="146304" cy="146304"/>
          </a:xfrm>
          <a:prstGeom prst="ellipse">
            <a:avLst/>
          </a:prstGeom>
          <a:solidFill>
            <a:srgbClr val="B8B2A8"/>
          </a:solidFill>
          <a:ln/>
        </p:spPr>
      </p:sp>
      <p:sp>
        <p:nvSpPr>
          <p:cNvPr id="19" name="Shape 17"/>
          <p:cNvSpPr/>
          <p:nvPr/>
        </p:nvSpPr>
        <p:spPr>
          <a:xfrm>
            <a:off x="1737360" y="4800600"/>
            <a:ext cx="-548640" cy="502920"/>
          </a:xfrm>
          <a:prstGeom prst="line">
            <a:avLst/>
          </a:prstGeom>
          <a:noFill/>
          <a:ln w="15875">
            <a:solidFill>
              <a:srgbClr val="B8B2A8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737360" y="4800600"/>
            <a:ext cx="548640" cy="502920"/>
          </a:xfrm>
          <a:prstGeom prst="line">
            <a:avLst/>
          </a:prstGeom>
          <a:noFill/>
          <a:ln w="15875">
            <a:solidFill>
              <a:srgbClr val="B8B2A8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188720" y="5303520"/>
            <a:ext cx="-320040" cy="457200"/>
          </a:xfrm>
          <a:prstGeom prst="line">
            <a:avLst/>
          </a:prstGeom>
          <a:noFill/>
          <a:ln w="15875">
            <a:solidFill>
              <a:srgbClr val="B8B2A8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188720" y="5303520"/>
            <a:ext cx="320040" cy="457200"/>
          </a:xfrm>
          <a:prstGeom prst="line">
            <a:avLst/>
          </a:prstGeom>
          <a:noFill/>
          <a:ln w="15875">
            <a:solidFill>
              <a:srgbClr val="B8B2A8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664208" y="4727448"/>
            <a:ext cx="146304" cy="146304"/>
          </a:xfrm>
          <a:prstGeom prst="ellipse">
            <a:avLst/>
          </a:prstGeom>
          <a:solidFill>
            <a:srgbClr val="B8B2A8"/>
          </a:solidFill>
          <a:ln/>
        </p:spPr>
      </p:sp>
      <p:sp>
        <p:nvSpPr>
          <p:cNvPr id="24" name="Shape 22"/>
          <p:cNvSpPr/>
          <p:nvPr/>
        </p:nvSpPr>
        <p:spPr>
          <a:xfrm>
            <a:off x="1115568" y="5230368"/>
            <a:ext cx="146304" cy="146304"/>
          </a:xfrm>
          <a:prstGeom prst="ellipse">
            <a:avLst/>
          </a:prstGeom>
          <a:solidFill>
            <a:srgbClr val="B8B2A8"/>
          </a:solidFill>
          <a:ln/>
        </p:spPr>
      </p:sp>
      <p:sp>
        <p:nvSpPr>
          <p:cNvPr id="25" name="Shape 23"/>
          <p:cNvSpPr/>
          <p:nvPr/>
        </p:nvSpPr>
        <p:spPr>
          <a:xfrm>
            <a:off x="2212848" y="5230368"/>
            <a:ext cx="146304" cy="146304"/>
          </a:xfrm>
          <a:prstGeom prst="ellipse">
            <a:avLst/>
          </a:prstGeom>
          <a:solidFill>
            <a:srgbClr val="B8B2A8"/>
          </a:solidFill>
          <a:ln/>
        </p:spPr>
      </p:sp>
      <p:sp>
        <p:nvSpPr>
          <p:cNvPr id="26" name="Shape 24"/>
          <p:cNvSpPr/>
          <p:nvPr/>
        </p:nvSpPr>
        <p:spPr>
          <a:xfrm>
            <a:off x="795528" y="5687568"/>
            <a:ext cx="146304" cy="146304"/>
          </a:xfrm>
          <a:prstGeom prst="ellipse">
            <a:avLst/>
          </a:prstGeom>
          <a:solidFill>
            <a:srgbClr val="B8B2A8"/>
          </a:solidFill>
          <a:ln/>
        </p:spPr>
      </p:sp>
      <p:sp>
        <p:nvSpPr>
          <p:cNvPr id="27" name="Shape 25"/>
          <p:cNvSpPr/>
          <p:nvPr/>
        </p:nvSpPr>
        <p:spPr>
          <a:xfrm>
            <a:off x="1435608" y="5687568"/>
            <a:ext cx="146304" cy="146304"/>
          </a:xfrm>
          <a:prstGeom prst="ellipse">
            <a:avLst/>
          </a:prstGeom>
          <a:solidFill>
            <a:srgbClr val="B8B2A8"/>
          </a:solidFill>
          <a:ln/>
        </p:spPr>
      </p:sp>
      <p:sp>
        <p:nvSpPr>
          <p:cNvPr id="28" name="Shape 26"/>
          <p:cNvSpPr/>
          <p:nvPr/>
        </p:nvSpPr>
        <p:spPr>
          <a:xfrm>
            <a:off x="2880360" y="2103120"/>
            <a:ext cx="6281928" cy="822960"/>
          </a:xfrm>
          <a:prstGeom prst="line">
            <a:avLst/>
          </a:prstGeom>
          <a:noFill/>
          <a:ln w="19050">
            <a:solidFill>
              <a:srgbClr val="8A8378"/>
            </a:solidFill>
            <a:prstDash val="solid"/>
            <a:tailEnd type="triangle"/>
          </a:ln>
        </p:spPr>
      </p:sp>
      <p:sp>
        <p:nvSpPr>
          <p:cNvPr id="29" name="Shape 27"/>
          <p:cNvSpPr/>
          <p:nvPr/>
        </p:nvSpPr>
        <p:spPr>
          <a:xfrm>
            <a:off x="2880360" y="3657600"/>
            <a:ext cx="6281928" cy="-45720"/>
          </a:xfrm>
          <a:prstGeom prst="line">
            <a:avLst/>
          </a:prstGeom>
          <a:noFill/>
          <a:ln w="19050">
            <a:solidFill>
              <a:srgbClr val="8A8378"/>
            </a:solidFill>
            <a:prstDash val="solid"/>
            <a:tailEnd type="triangle"/>
          </a:ln>
        </p:spPr>
      </p:sp>
      <p:sp>
        <p:nvSpPr>
          <p:cNvPr id="30" name="Shape 28"/>
          <p:cNvSpPr/>
          <p:nvPr/>
        </p:nvSpPr>
        <p:spPr>
          <a:xfrm>
            <a:off x="2880360" y="5349240"/>
            <a:ext cx="6281928" cy="-1005840"/>
          </a:xfrm>
          <a:prstGeom prst="line">
            <a:avLst/>
          </a:prstGeom>
          <a:noFill/>
          <a:ln w="19050">
            <a:solidFill>
              <a:srgbClr val="8A8378"/>
            </a:solidFill>
            <a:prstDash val="solid"/>
            <a:tailEnd type="triangle"/>
          </a:ln>
        </p:spPr>
      </p:sp>
      <p:sp>
        <p:nvSpPr>
          <p:cNvPr id="31" name="Shape 29"/>
          <p:cNvSpPr/>
          <p:nvPr/>
        </p:nvSpPr>
        <p:spPr>
          <a:xfrm>
            <a:off x="9281160" y="1417320"/>
            <a:ext cx="2103120" cy="4279392"/>
          </a:xfrm>
          <a:prstGeom prst="roundRect">
            <a:avLst>
              <a:gd name="adj" fmla="val 3478"/>
            </a:avLst>
          </a:prstGeom>
          <a:solidFill>
            <a:srgbClr val="F3EDE4"/>
          </a:solidFill>
          <a:ln w="12700">
            <a:solidFill>
              <a:srgbClr val="E5E0D8"/>
            </a:solidFill>
            <a:prstDash val="solid"/>
          </a:ln>
          <a:effectLst>
            <a:outerShdw sx="100000" sy="100000" kx="0" ky="0" algn="bl" rotWithShape="0" blurRad="177800" dist="38100" dir="5400000">
              <a:srgbClr val="8A8378">
                <a:alpha val="16000"/>
              </a:srgbClr>
            </a:outerShdw>
          </a:effectLst>
        </p:spPr>
      </p:sp>
      <p:sp>
        <p:nvSpPr>
          <p:cNvPr id="32" name="Shape 30"/>
          <p:cNvSpPr/>
          <p:nvPr/>
        </p:nvSpPr>
        <p:spPr>
          <a:xfrm>
            <a:off x="9464040" y="1572768"/>
            <a:ext cx="1737360" cy="114300"/>
          </a:xfrm>
          <a:prstGeom prst="roundRect">
            <a:avLst>
              <a:gd name="adj" fmla="val 16000"/>
            </a:avLst>
          </a:prstGeom>
          <a:solidFill>
            <a:srgbClr val="F0DFD8"/>
          </a:solidFill>
          <a:ln/>
        </p:spPr>
      </p:sp>
      <p:sp>
        <p:nvSpPr>
          <p:cNvPr id="33" name="Shape 31"/>
          <p:cNvSpPr/>
          <p:nvPr/>
        </p:nvSpPr>
        <p:spPr>
          <a:xfrm>
            <a:off x="9464040" y="1737360"/>
            <a:ext cx="1737360" cy="114300"/>
          </a:xfrm>
          <a:prstGeom prst="roundRect">
            <a:avLst>
              <a:gd name="adj" fmla="val 16000"/>
            </a:avLst>
          </a:prstGeom>
          <a:solidFill>
            <a:srgbClr val="F0DFD8"/>
          </a:solidFill>
          <a:ln/>
        </p:spPr>
      </p:sp>
      <p:sp>
        <p:nvSpPr>
          <p:cNvPr id="34" name="Shape 32"/>
          <p:cNvSpPr/>
          <p:nvPr/>
        </p:nvSpPr>
        <p:spPr>
          <a:xfrm>
            <a:off x="9464040" y="1901952"/>
            <a:ext cx="1737360" cy="114300"/>
          </a:xfrm>
          <a:prstGeom prst="roundRect">
            <a:avLst>
              <a:gd name="adj" fmla="val 16000"/>
            </a:avLst>
          </a:prstGeom>
          <a:solidFill>
            <a:srgbClr val="F0DFD8"/>
          </a:solidFill>
          <a:ln/>
        </p:spPr>
      </p:sp>
      <p:sp>
        <p:nvSpPr>
          <p:cNvPr id="35" name="Shape 33"/>
          <p:cNvSpPr/>
          <p:nvPr/>
        </p:nvSpPr>
        <p:spPr>
          <a:xfrm>
            <a:off x="9464040" y="2066544"/>
            <a:ext cx="1737360" cy="114300"/>
          </a:xfrm>
          <a:prstGeom prst="roundRect">
            <a:avLst>
              <a:gd name="adj" fmla="val 16000"/>
            </a:avLst>
          </a:prstGeom>
          <a:solidFill>
            <a:srgbClr val="F0DFD8"/>
          </a:solidFill>
          <a:ln/>
        </p:spPr>
      </p:sp>
      <p:sp>
        <p:nvSpPr>
          <p:cNvPr id="36" name="Shape 34"/>
          <p:cNvSpPr/>
          <p:nvPr/>
        </p:nvSpPr>
        <p:spPr>
          <a:xfrm>
            <a:off x="9464040" y="2231136"/>
            <a:ext cx="1737360" cy="114300"/>
          </a:xfrm>
          <a:prstGeom prst="roundRect">
            <a:avLst>
              <a:gd name="adj" fmla="val 16000"/>
            </a:avLst>
          </a:prstGeom>
          <a:solidFill>
            <a:srgbClr val="F0DFD8"/>
          </a:solidFill>
          <a:ln/>
        </p:spPr>
      </p:sp>
      <p:sp>
        <p:nvSpPr>
          <p:cNvPr id="37" name="Shape 35"/>
          <p:cNvSpPr/>
          <p:nvPr/>
        </p:nvSpPr>
        <p:spPr>
          <a:xfrm>
            <a:off x="9464040" y="2395728"/>
            <a:ext cx="1737360" cy="114300"/>
          </a:xfrm>
          <a:prstGeom prst="roundRect">
            <a:avLst>
              <a:gd name="adj" fmla="val 16000"/>
            </a:avLst>
          </a:prstGeom>
          <a:solidFill>
            <a:srgbClr val="F0DFD8"/>
          </a:solidFill>
          <a:ln/>
        </p:spPr>
      </p:sp>
      <p:sp>
        <p:nvSpPr>
          <p:cNvPr id="38" name="Shape 36"/>
          <p:cNvSpPr/>
          <p:nvPr/>
        </p:nvSpPr>
        <p:spPr>
          <a:xfrm>
            <a:off x="9464040" y="2560320"/>
            <a:ext cx="1737360" cy="114300"/>
          </a:xfrm>
          <a:prstGeom prst="roundRect">
            <a:avLst>
              <a:gd name="adj" fmla="val 16000"/>
            </a:avLst>
          </a:prstGeom>
          <a:solidFill>
            <a:srgbClr val="F0DFD8"/>
          </a:solidFill>
          <a:ln/>
        </p:spPr>
      </p:sp>
      <p:sp>
        <p:nvSpPr>
          <p:cNvPr id="39" name="Shape 37"/>
          <p:cNvSpPr/>
          <p:nvPr/>
        </p:nvSpPr>
        <p:spPr>
          <a:xfrm>
            <a:off x="9464040" y="2724912"/>
            <a:ext cx="1737360" cy="114300"/>
          </a:xfrm>
          <a:prstGeom prst="roundRect">
            <a:avLst>
              <a:gd name="adj" fmla="val 16000"/>
            </a:avLst>
          </a:prstGeom>
          <a:solidFill>
            <a:srgbClr val="F0DFD8"/>
          </a:solidFill>
          <a:ln/>
        </p:spPr>
      </p:sp>
      <p:sp>
        <p:nvSpPr>
          <p:cNvPr id="40" name="Shape 38"/>
          <p:cNvSpPr/>
          <p:nvPr/>
        </p:nvSpPr>
        <p:spPr>
          <a:xfrm>
            <a:off x="9464040" y="2889504"/>
            <a:ext cx="1737360" cy="114300"/>
          </a:xfrm>
          <a:prstGeom prst="roundRect">
            <a:avLst>
              <a:gd name="adj" fmla="val 16000"/>
            </a:avLst>
          </a:prstGeom>
          <a:solidFill>
            <a:srgbClr val="F0DFD8"/>
          </a:solidFill>
          <a:ln/>
        </p:spPr>
      </p:sp>
      <p:sp>
        <p:nvSpPr>
          <p:cNvPr id="41" name="Shape 39"/>
          <p:cNvSpPr/>
          <p:nvPr/>
        </p:nvSpPr>
        <p:spPr>
          <a:xfrm>
            <a:off x="9464040" y="3054096"/>
            <a:ext cx="1737360" cy="114300"/>
          </a:xfrm>
          <a:prstGeom prst="roundRect">
            <a:avLst>
              <a:gd name="adj" fmla="val 16000"/>
            </a:avLst>
          </a:prstGeom>
          <a:solidFill>
            <a:srgbClr val="F0DFD8"/>
          </a:solidFill>
          <a:ln/>
        </p:spPr>
      </p:sp>
      <p:sp>
        <p:nvSpPr>
          <p:cNvPr id="42" name="Shape 40"/>
          <p:cNvSpPr/>
          <p:nvPr/>
        </p:nvSpPr>
        <p:spPr>
          <a:xfrm>
            <a:off x="9464040" y="3218688"/>
            <a:ext cx="1737360" cy="114300"/>
          </a:xfrm>
          <a:prstGeom prst="roundRect">
            <a:avLst>
              <a:gd name="adj" fmla="val 16000"/>
            </a:avLst>
          </a:prstGeom>
          <a:solidFill>
            <a:srgbClr val="F0DFD8"/>
          </a:solidFill>
          <a:ln/>
        </p:spPr>
      </p:sp>
      <p:sp>
        <p:nvSpPr>
          <p:cNvPr id="43" name="Shape 41"/>
          <p:cNvSpPr/>
          <p:nvPr/>
        </p:nvSpPr>
        <p:spPr>
          <a:xfrm>
            <a:off x="9464040" y="3383280"/>
            <a:ext cx="1737360" cy="114300"/>
          </a:xfrm>
          <a:prstGeom prst="roundRect">
            <a:avLst>
              <a:gd name="adj" fmla="val 16000"/>
            </a:avLst>
          </a:prstGeom>
          <a:solidFill>
            <a:srgbClr val="F0DFD8"/>
          </a:solidFill>
          <a:ln/>
        </p:spPr>
      </p:sp>
      <p:sp>
        <p:nvSpPr>
          <p:cNvPr id="44" name="Shape 42"/>
          <p:cNvSpPr/>
          <p:nvPr/>
        </p:nvSpPr>
        <p:spPr>
          <a:xfrm>
            <a:off x="9464040" y="3547872"/>
            <a:ext cx="1737360" cy="114300"/>
          </a:xfrm>
          <a:prstGeom prst="roundRect">
            <a:avLst>
              <a:gd name="adj" fmla="val 16000"/>
            </a:avLst>
          </a:prstGeom>
          <a:solidFill>
            <a:srgbClr val="F0DFD8"/>
          </a:solidFill>
          <a:ln/>
        </p:spPr>
      </p:sp>
      <p:sp>
        <p:nvSpPr>
          <p:cNvPr id="45" name="Shape 43"/>
          <p:cNvSpPr/>
          <p:nvPr/>
        </p:nvSpPr>
        <p:spPr>
          <a:xfrm>
            <a:off x="9464040" y="3712464"/>
            <a:ext cx="1737360" cy="114300"/>
          </a:xfrm>
          <a:prstGeom prst="roundRect">
            <a:avLst>
              <a:gd name="adj" fmla="val 16000"/>
            </a:avLst>
          </a:prstGeom>
          <a:solidFill>
            <a:srgbClr val="F0DFD8"/>
          </a:solidFill>
          <a:ln/>
        </p:spPr>
      </p:sp>
      <p:sp>
        <p:nvSpPr>
          <p:cNvPr id="46" name="Shape 44"/>
          <p:cNvSpPr/>
          <p:nvPr/>
        </p:nvSpPr>
        <p:spPr>
          <a:xfrm>
            <a:off x="9464040" y="3877056"/>
            <a:ext cx="1737360" cy="114300"/>
          </a:xfrm>
          <a:prstGeom prst="roundRect">
            <a:avLst>
              <a:gd name="adj" fmla="val 16000"/>
            </a:avLst>
          </a:prstGeom>
          <a:solidFill>
            <a:srgbClr val="F0DFD8"/>
          </a:solidFill>
          <a:ln/>
        </p:spPr>
      </p:sp>
      <p:sp>
        <p:nvSpPr>
          <p:cNvPr id="47" name="Shape 45"/>
          <p:cNvSpPr/>
          <p:nvPr/>
        </p:nvSpPr>
        <p:spPr>
          <a:xfrm>
            <a:off x="9464040" y="4041648"/>
            <a:ext cx="1737360" cy="114300"/>
          </a:xfrm>
          <a:prstGeom prst="roundRect">
            <a:avLst>
              <a:gd name="adj" fmla="val 16000"/>
            </a:avLst>
          </a:prstGeom>
          <a:solidFill>
            <a:srgbClr val="F0DFD8"/>
          </a:solidFill>
          <a:ln/>
        </p:spPr>
      </p:sp>
      <p:sp>
        <p:nvSpPr>
          <p:cNvPr id="48" name="Shape 46"/>
          <p:cNvSpPr/>
          <p:nvPr/>
        </p:nvSpPr>
        <p:spPr>
          <a:xfrm>
            <a:off x="9464040" y="4206240"/>
            <a:ext cx="1737360" cy="114300"/>
          </a:xfrm>
          <a:prstGeom prst="roundRect">
            <a:avLst>
              <a:gd name="adj" fmla="val 16000"/>
            </a:avLst>
          </a:prstGeom>
          <a:solidFill>
            <a:srgbClr val="F0DFD8"/>
          </a:solidFill>
          <a:ln/>
        </p:spPr>
      </p:sp>
      <p:sp>
        <p:nvSpPr>
          <p:cNvPr id="49" name="Shape 47"/>
          <p:cNvSpPr/>
          <p:nvPr/>
        </p:nvSpPr>
        <p:spPr>
          <a:xfrm>
            <a:off x="9464040" y="4370832"/>
            <a:ext cx="1737360" cy="114300"/>
          </a:xfrm>
          <a:prstGeom prst="roundRect">
            <a:avLst>
              <a:gd name="adj" fmla="val 16000"/>
            </a:avLst>
          </a:prstGeom>
          <a:solidFill>
            <a:srgbClr val="F0DFD8"/>
          </a:solidFill>
          <a:ln/>
        </p:spPr>
      </p:sp>
      <p:sp>
        <p:nvSpPr>
          <p:cNvPr id="50" name="Shape 48"/>
          <p:cNvSpPr/>
          <p:nvPr/>
        </p:nvSpPr>
        <p:spPr>
          <a:xfrm>
            <a:off x="9464040" y="4535424"/>
            <a:ext cx="1737360" cy="114300"/>
          </a:xfrm>
          <a:prstGeom prst="roundRect">
            <a:avLst>
              <a:gd name="adj" fmla="val 16000"/>
            </a:avLst>
          </a:prstGeom>
          <a:solidFill>
            <a:srgbClr val="F0DFD8"/>
          </a:solidFill>
          <a:ln/>
        </p:spPr>
      </p:sp>
      <p:sp>
        <p:nvSpPr>
          <p:cNvPr id="51" name="Shape 49"/>
          <p:cNvSpPr/>
          <p:nvPr/>
        </p:nvSpPr>
        <p:spPr>
          <a:xfrm>
            <a:off x="9464040" y="4700016"/>
            <a:ext cx="1737360" cy="114300"/>
          </a:xfrm>
          <a:prstGeom prst="roundRect">
            <a:avLst>
              <a:gd name="adj" fmla="val 16000"/>
            </a:avLst>
          </a:prstGeom>
          <a:solidFill>
            <a:srgbClr val="F0DFD8"/>
          </a:solidFill>
          <a:ln/>
        </p:spPr>
      </p:sp>
      <p:sp>
        <p:nvSpPr>
          <p:cNvPr id="52" name="Shape 50"/>
          <p:cNvSpPr/>
          <p:nvPr/>
        </p:nvSpPr>
        <p:spPr>
          <a:xfrm>
            <a:off x="9464040" y="4864608"/>
            <a:ext cx="1737360" cy="114300"/>
          </a:xfrm>
          <a:prstGeom prst="roundRect">
            <a:avLst>
              <a:gd name="adj" fmla="val 16000"/>
            </a:avLst>
          </a:prstGeom>
          <a:solidFill>
            <a:srgbClr val="F0DFD8"/>
          </a:solidFill>
          <a:ln/>
        </p:spPr>
      </p:sp>
      <p:sp>
        <p:nvSpPr>
          <p:cNvPr id="53" name="Shape 51"/>
          <p:cNvSpPr/>
          <p:nvPr/>
        </p:nvSpPr>
        <p:spPr>
          <a:xfrm>
            <a:off x="9464040" y="5029200"/>
            <a:ext cx="1737360" cy="114300"/>
          </a:xfrm>
          <a:prstGeom prst="roundRect">
            <a:avLst>
              <a:gd name="adj" fmla="val 16000"/>
            </a:avLst>
          </a:prstGeom>
          <a:solidFill>
            <a:srgbClr val="B03A1E"/>
          </a:solidFill>
          <a:ln/>
        </p:spPr>
      </p:sp>
      <p:sp>
        <p:nvSpPr>
          <p:cNvPr id="54" name="Shape 52"/>
          <p:cNvSpPr/>
          <p:nvPr/>
        </p:nvSpPr>
        <p:spPr>
          <a:xfrm>
            <a:off x="9464040" y="5193792"/>
            <a:ext cx="1737360" cy="114300"/>
          </a:xfrm>
          <a:prstGeom prst="roundRect">
            <a:avLst>
              <a:gd name="adj" fmla="val 16000"/>
            </a:avLst>
          </a:prstGeom>
          <a:solidFill>
            <a:srgbClr val="B03A1E"/>
          </a:solidFill>
          <a:ln/>
        </p:spPr>
      </p:sp>
      <p:sp>
        <p:nvSpPr>
          <p:cNvPr id="55" name="Shape 53"/>
          <p:cNvSpPr/>
          <p:nvPr/>
        </p:nvSpPr>
        <p:spPr>
          <a:xfrm>
            <a:off x="9464040" y="5358384"/>
            <a:ext cx="1737360" cy="114300"/>
          </a:xfrm>
          <a:prstGeom prst="roundRect">
            <a:avLst>
              <a:gd name="adj" fmla="val 16000"/>
            </a:avLst>
          </a:prstGeom>
          <a:solidFill>
            <a:srgbClr val="B03A1E"/>
          </a:solidFill>
          <a:ln/>
        </p:spPr>
      </p:sp>
      <p:sp>
        <p:nvSpPr>
          <p:cNvPr id="56" name="Text 54"/>
          <p:cNvSpPr/>
          <p:nvPr/>
        </p:nvSpPr>
        <p:spPr>
          <a:xfrm>
            <a:off x="8778240" y="5806440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8A837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tara-01 … tara-21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8A837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· benefits · structure · origin</a:t>
            </a:r>
            <a:endParaRPr lang="en-US" sz="950" dirty="0"/>
          </a:p>
        </p:txBody>
      </p:sp>
      <p:sp>
        <p:nvSpPr>
          <p:cNvPr id="57" name="Text 55"/>
          <p:cNvSpPr/>
          <p:nvPr/>
        </p:nvSpPr>
        <p:spPr>
          <a:xfrm>
            <a:off x="685800" y="6446520"/>
            <a:ext cx="107899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A837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Every claim gets exactly one disposition — never zero, never two. A verifier recomputes every count.</a:t>
            </a:r>
            <a:endParaRPr lang="en-US" sz="12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AF6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411480"/>
            <a:ext cx="107899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1A1A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We don't ask what they said. We ask all sixteen the same question.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685800" y="1298448"/>
            <a:ext cx="1463040" cy="475488"/>
          </a:xfrm>
          <a:prstGeom prst="roundRect">
            <a:avLst>
              <a:gd name="adj" fmla="val 50000"/>
            </a:avLst>
          </a:prstGeom>
          <a:solidFill>
            <a:srgbClr val="F3EDE4"/>
          </a:solidFill>
          <a:ln w="9525">
            <a:solidFill>
              <a:srgbClr val="B8B2A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85800" y="1298448"/>
            <a:ext cx="1463040" cy="475488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Consensus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2377440" y="1298448"/>
            <a:ext cx="1737360" cy="475488"/>
          </a:xfrm>
          <a:prstGeom prst="roundRect">
            <a:avLst>
              <a:gd name="adj" fmla="val 50000"/>
            </a:avLst>
          </a:prstGeom>
          <a:solidFill>
            <a:srgbClr val="F0DFD8"/>
          </a:solidFill>
          <a:ln w="9525">
            <a:solidFill>
              <a:srgbClr val="B03A1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377440" y="1298448"/>
            <a:ext cx="1737360" cy="475488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B03A1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⚑ </a:t>
            </a:r>
            <a:pPr algn="ctr" indent="0" marL="0">
              <a:buNone/>
            </a:pPr>
            <a:r>
              <a:rPr lang="en-US" sz="1300" dirty="0">
                <a:solidFill>
                  <a:srgbClr val="B03A1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Divergence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343400" y="1298448"/>
            <a:ext cx="1143000" cy="475488"/>
          </a:xfrm>
          <a:prstGeom prst="roundRect">
            <a:avLst>
              <a:gd name="adj" fmla="val 50000"/>
            </a:avLst>
          </a:prstGeom>
          <a:solidFill>
            <a:srgbClr val="F3EDE4"/>
          </a:solidFill>
          <a:ln w="9525">
            <a:solidFill>
              <a:srgbClr val="B8B2A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343400" y="1298448"/>
            <a:ext cx="1143000" cy="475488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Unique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5715000" y="1298448"/>
            <a:ext cx="2743200" cy="475488"/>
          </a:xfrm>
          <a:prstGeom prst="roundRect">
            <a:avLst>
              <a:gd name="adj" fmla="val 50000"/>
            </a:avLst>
          </a:prstGeom>
          <a:solidFill>
            <a:srgbClr val="F3EDE4"/>
          </a:solidFill>
          <a:ln w="9525">
            <a:solidFill>
              <a:srgbClr val="B8B2A8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715000" y="1298448"/>
            <a:ext cx="2743200" cy="475488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Silence — itself a finding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2148840" y="2514600"/>
            <a:ext cx="502920" cy="502920"/>
          </a:xfrm>
          <a:prstGeom prst="roundRect">
            <a:avLst>
              <a:gd name="adj" fmla="val 14545"/>
            </a:avLst>
          </a:prstGeom>
          <a:solidFill>
            <a:srgbClr val="B8B2A8"/>
          </a:solidFill>
          <a:ln/>
        </p:spPr>
      </p:sp>
      <p:sp>
        <p:nvSpPr>
          <p:cNvPr id="12" name="Shape 10"/>
          <p:cNvSpPr/>
          <p:nvPr/>
        </p:nvSpPr>
        <p:spPr>
          <a:xfrm>
            <a:off x="2852928" y="2514600"/>
            <a:ext cx="502920" cy="502920"/>
          </a:xfrm>
          <a:prstGeom prst="roundRect">
            <a:avLst>
              <a:gd name="adj" fmla="val 14545"/>
            </a:avLst>
          </a:prstGeom>
          <a:solidFill>
            <a:srgbClr val="B8B2A8"/>
          </a:solidFill>
          <a:ln/>
        </p:spPr>
      </p:sp>
      <p:sp>
        <p:nvSpPr>
          <p:cNvPr id="13" name="Shape 11"/>
          <p:cNvSpPr/>
          <p:nvPr/>
        </p:nvSpPr>
        <p:spPr>
          <a:xfrm>
            <a:off x="3557016" y="2514600"/>
            <a:ext cx="502920" cy="502920"/>
          </a:xfrm>
          <a:prstGeom prst="roundRect">
            <a:avLst>
              <a:gd name="adj" fmla="val 14545"/>
            </a:avLst>
          </a:prstGeom>
          <a:solidFill>
            <a:srgbClr val="B8B2A8"/>
          </a:solidFill>
          <a:ln/>
        </p:spPr>
      </p:sp>
      <p:sp>
        <p:nvSpPr>
          <p:cNvPr id="14" name="Shape 12"/>
          <p:cNvSpPr/>
          <p:nvPr/>
        </p:nvSpPr>
        <p:spPr>
          <a:xfrm>
            <a:off x="4261104" y="2514600"/>
            <a:ext cx="502920" cy="502920"/>
          </a:xfrm>
          <a:prstGeom prst="roundRect">
            <a:avLst>
              <a:gd name="adj" fmla="val 14545"/>
            </a:avLst>
          </a:prstGeom>
          <a:solidFill>
            <a:srgbClr val="B8B2A8"/>
          </a:solidFill>
          <a:ln/>
        </p:spPr>
      </p:sp>
      <p:sp>
        <p:nvSpPr>
          <p:cNvPr id="15" name="Shape 13"/>
          <p:cNvSpPr/>
          <p:nvPr/>
        </p:nvSpPr>
        <p:spPr>
          <a:xfrm>
            <a:off x="2148840" y="3218688"/>
            <a:ext cx="502920" cy="502920"/>
          </a:xfrm>
          <a:prstGeom prst="roundRect">
            <a:avLst>
              <a:gd name="adj" fmla="val 14545"/>
            </a:avLst>
          </a:prstGeom>
          <a:solidFill>
            <a:srgbClr val="B8B2A8"/>
          </a:solidFill>
          <a:ln/>
        </p:spPr>
      </p:sp>
      <p:sp>
        <p:nvSpPr>
          <p:cNvPr id="16" name="Shape 14"/>
          <p:cNvSpPr/>
          <p:nvPr/>
        </p:nvSpPr>
        <p:spPr>
          <a:xfrm>
            <a:off x="2852928" y="3218688"/>
            <a:ext cx="502920" cy="502920"/>
          </a:xfrm>
          <a:prstGeom prst="roundRect">
            <a:avLst>
              <a:gd name="adj" fmla="val 14545"/>
            </a:avLst>
          </a:prstGeom>
          <a:solidFill>
            <a:srgbClr val="B8B2A8"/>
          </a:solidFill>
          <a:ln/>
        </p:spPr>
      </p:sp>
      <p:sp>
        <p:nvSpPr>
          <p:cNvPr id="17" name="Shape 15"/>
          <p:cNvSpPr/>
          <p:nvPr/>
        </p:nvSpPr>
        <p:spPr>
          <a:xfrm>
            <a:off x="3557016" y="3218688"/>
            <a:ext cx="502920" cy="502920"/>
          </a:xfrm>
          <a:prstGeom prst="roundRect">
            <a:avLst>
              <a:gd name="adj" fmla="val 14545"/>
            </a:avLst>
          </a:prstGeom>
          <a:solidFill>
            <a:srgbClr val="B8B2A8"/>
          </a:solidFill>
          <a:ln/>
        </p:spPr>
      </p:sp>
      <p:sp>
        <p:nvSpPr>
          <p:cNvPr id="18" name="Shape 16"/>
          <p:cNvSpPr/>
          <p:nvPr/>
        </p:nvSpPr>
        <p:spPr>
          <a:xfrm>
            <a:off x="4261104" y="3218688"/>
            <a:ext cx="502920" cy="502920"/>
          </a:xfrm>
          <a:prstGeom prst="roundRect">
            <a:avLst>
              <a:gd name="adj" fmla="val 14545"/>
            </a:avLst>
          </a:prstGeom>
          <a:solidFill>
            <a:srgbClr val="B8B2A8"/>
          </a:solidFill>
          <a:ln/>
        </p:spPr>
      </p:sp>
      <p:sp>
        <p:nvSpPr>
          <p:cNvPr id="19" name="Shape 17"/>
          <p:cNvSpPr/>
          <p:nvPr/>
        </p:nvSpPr>
        <p:spPr>
          <a:xfrm>
            <a:off x="2148840" y="3922776"/>
            <a:ext cx="502920" cy="502920"/>
          </a:xfrm>
          <a:prstGeom prst="roundRect">
            <a:avLst>
              <a:gd name="adj" fmla="val 14545"/>
            </a:avLst>
          </a:prstGeom>
          <a:solidFill>
            <a:srgbClr val="B8B2A8"/>
          </a:solidFill>
          <a:ln/>
        </p:spPr>
      </p:sp>
      <p:sp>
        <p:nvSpPr>
          <p:cNvPr id="20" name="Shape 18"/>
          <p:cNvSpPr/>
          <p:nvPr/>
        </p:nvSpPr>
        <p:spPr>
          <a:xfrm>
            <a:off x="2852928" y="3922776"/>
            <a:ext cx="502920" cy="502920"/>
          </a:xfrm>
          <a:prstGeom prst="roundRect">
            <a:avLst>
              <a:gd name="adj" fmla="val 14545"/>
            </a:avLst>
          </a:prstGeom>
          <a:solidFill>
            <a:srgbClr val="B8B2A8"/>
          </a:solidFill>
          <a:ln/>
        </p:spPr>
      </p:sp>
      <p:sp>
        <p:nvSpPr>
          <p:cNvPr id="21" name="Shape 19"/>
          <p:cNvSpPr/>
          <p:nvPr/>
        </p:nvSpPr>
        <p:spPr>
          <a:xfrm>
            <a:off x="3557016" y="3922776"/>
            <a:ext cx="502920" cy="502920"/>
          </a:xfrm>
          <a:prstGeom prst="roundRect">
            <a:avLst>
              <a:gd name="adj" fmla="val 14545"/>
            </a:avLst>
          </a:prstGeom>
          <a:solidFill>
            <a:srgbClr val="B8B2A8"/>
          </a:solidFill>
          <a:ln/>
        </p:spPr>
      </p:sp>
      <p:sp>
        <p:nvSpPr>
          <p:cNvPr id="22" name="Shape 20"/>
          <p:cNvSpPr/>
          <p:nvPr/>
        </p:nvSpPr>
        <p:spPr>
          <a:xfrm>
            <a:off x="4261104" y="3922776"/>
            <a:ext cx="502920" cy="502920"/>
          </a:xfrm>
          <a:prstGeom prst="roundRect">
            <a:avLst>
              <a:gd name="adj" fmla="val 14545"/>
            </a:avLst>
          </a:prstGeom>
          <a:solidFill>
            <a:srgbClr val="B8B2A8"/>
          </a:solidFill>
          <a:ln/>
        </p:spPr>
      </p:sp>
      <p:sp>
        <p:nvSpPr>
          <p:cNvPr id="23" name="Shape 21"/>
          <p:cNvSpPr/>
          <p:nvPr/>
        </p:nvSpPr>
        <p:spPr>
          <a:xfrm>
            <a:off x="2148840" y="4626864"/>
            <a:ext cx="502920" cy="502920"/>
          </a:xfrm>
          <a:prstGeom prst="roundRect">
            <a:avLst>
              <a:gd name="adj" fmla="val 14545"/>
            </a:avLst>
          </a:prstGeom>
          <a:solidFill>
            <a:srgbClr val="B8B2A8"/>
          </a:solidFill>
          <a:ln/>
        </p:spPr>
      </p:sp>
      <p:sp>
        <p:nvSpPr>
          <p:cNvPr id="24" name="Shape 22"/>
          <p:cNvSpPr/>
          <p:nvPr/>
        </p:nvSpPr>
        <p:spPr>
          <a:xfrm>
            <a:off x="2852928" y="4626864"/>
            <a:ext cx="502920" cy="502920"/>
          </a:xfrm>
          <a:prstGeom prst="roundRect">
            <a:avLst>
              <a:gd name="adj" fmla="val 14545"/>
            </a:avLst>
          </a:prstGeom>
          <a:solidFill>
            <a:srgbClr val="B8B2A8"/>
          </a:solidFill>
          <a:ln/>
        </p:spPr>
      </p:sp>
      <p:sp>
        <p:nvSpPr>
          <p:cNvPr id="25" name="Shape 23"/>
          <p:cNvSpPr/>
          <p:nvPr/>
        </p:nvSpPr>
        <p:spPr>
          <a:xfrm>
            <a:off x="3557016" y="4626864"/>
            <a:ext cx="502920" cy="502920"/>
          </a:xfrm>
          <a:prstGeom prst="roundRect">
            <a:avLst>
              <a:gd name="adj" fmla="val 14545"/>
            </a:avLst>
          </a:prstGeom>
          <a:solidFill>
            <a:srgbClr val="B8B2A8"/>
          </a:solidFill>
          <a:ln/>
        </p:spPr>
      </p:sp>
      <p:sp>
        <p:nvSpPr>
          <p:cNvPr id="26" name="Shape 24"/>
          <p:cNvSpPr/>
          <p:nvPr/>
        </p:nvSpPr>
        <p:spPr>
          <a:xfrm>
            <a:off x="4261104" y="4626864"/>
            <a:ext cx="502920" cy="502920"/>
          </a:xfrm>
          <a:prstGeom prst="roundRect">
            <a:avLst>
              <a:gd name="adj" fmla="val 14545"/>
            </a:avLst>
          </a:prstGeom>
          <a:solidFill>
            <a:srgbClr val="B8B2A8"/>
          </a:solidFill>
          <a:ln/>
        </p:spPr>
      </p:sp>
      <p:sp>
        <p:nvSpPr>
          <p:cNvPr id="27" name="Shape 25"/>
          <p:cNvSpPr/>
          <p:nvPr/>
        </p:nvSpPr>
        <p:spPr>
          <a:xfrm>
            <a:off x="5257800" y="3931920"/>
            <a:ext cx="1600200" cy="0"/>
          </a:xfrm>
          <a:prstGeom prst="line">
            <a:avLst/>
          </a:prstGeom>
          <a:noFill/>
          <a:ln w="25400">
            <a:solidFill>
              <a:srgbClr val="D9A441"/>
            </a:solidFill>
            <a:prstDash val="solid"/>
            <a:tailEnd type="triangle"/>
          </a:ln>
        </p:spPr>
      </p:sp>
      <p:sp>
        <p:nvSpPr>
          <p:cNvPr id="28" name="Shape 26"/>
          <p:cNvSpPr/>
          <p:nvPr/>
        </p:nvSpPr>
        <p:spPr>
          <a:xfrm>
            <a:off x="7178040" y="2834640"/>
            <a:ext cx="3108960" cy="2194560"/>
          </a:xfrm>
          <a:prstGeom prst="roundRect">
            <a:avLst>
              <a:gd name="adj" fmla="val 4167"/>
            </a:avLst>
          </a:prstGeom>
          <a:solidFill>
            <a:srgbClr val="1A1A1A"/>
          </a:solidFill>
          <a:ln/>
          <a:effectLst>
            <a:outerShdw sx="100000" sy="100000" kx="0" ky="0" algn="bl" rotWithShape="0" blurRad="177800" dist="38100" dir="5400000">
              <a:srgbClr val="8A8378">
                <a:alpha val="22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7178040" y="2834640"/>
            <a:ext cx="3108960" cy="2194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400" b="1" dirty="0">
                <a:solidFill>
                  <a:srgbClr val="FAF6F0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?</a:t>
            </a:r>
            <a:endParaRPr lang="en-US" sz="6400" dirty="0"/>
          </a:p>
        </p:txBody>
      </p:sp>
      <p:sp>
        <p:nvSpPr>
          <p:cNvPr id="30" name="Text 28"/>
          <p:cNvSpPr/>
          <p:nvPr/>
        </p:nvSpPr>
        <p:spPr>
          <a:xfrm>
            <a:off x="1097280" y="5532120"/>
            <a:ext cx="9994392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8A837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“What narrative origin do commentaries give for Tārā's arising via a lotus connected to Avalokiteśvara — and do they agree the lotus grew specifically from his tears?”</a:t>
            </a:r>
            <a:endParaRPr lang="en-US" sz="13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AF6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502920"/>
            <a:ext cx="5120640" cy="3840480"/>
          </a:xfrm>
          <a:prstGeom prst="roundRect">
            <a:avLst>
              <a:gd name="adj" fmla="val 2381"/>
            </a:avLst>
          </a:prstGeom>
          <a:solidFill>
            <a:srgbClr val="FFFFFF"/>
          </a:solidFill>
          <a:ln w="12700">
            <a:solidFill>
              <a:srgbClr val="E5E0D8"/>
            </a:solidFill>
            <a:prstDash val="solid"/>
          </a:ln>
          <a:effectLst>
            <a:outerShdw sx="100000" sy="100000" kx="0" ky="0" algn="bl" rotWithShape="0" blurRad="177800" dist="38100" dir="5400000">
              <a:srgbClr val="8A8378">
                <a:alpha val="16000"/>
              </a:srgbClr>
            </a:outerShdw>
          </a:effectLst>
        </p:spPr>
      </p:sp>
      <p:sp>
        <p:nvSpPr>
          <p:cNvPr id="3" name="Text 1"/>
          <p:cNvSpPr/>
          <p:nvPr/>
        </p:nvSpPr>
        <p:spPr>
          <a:xfrm>
            <a:off x="960120" y="685800"/>
            <a:ext cx="4572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A1A1A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Consensus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960120" y="118872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padma = utpala — four commentaries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960120" y="1737360"/>
            <a:ext cx="4572000" cy="2331720"/>
          </a:xfrm>
          <a:prstGeom prst="roundRect">
            <a:avLst>
              <a:gd name="adj" fmla="val 3529"/>
            </a:avLst>
          </a:prstGeom>
          <a:solidFill>
            <a:srgbClr val="E5E0D8"/>
          </a:solidFill>
          <a:ln w="12700">
            <a:solidFill>
              <a:srgbClr val="B8B2A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60120" y="1737360"/>
            <a:ext cx="4572000" cy="2331720"/>
          </a:xfrm>
          <a:prstGeom prst="rect">
            <a:avLst/>
          </a:prstGeom>
          <a:noFill/>
          <a:ln/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8A837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IMG-10</a:t>
            </a:r>
            <a:endParaRPr lang="en-US" sz="110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8A837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two short Tibetan claim snippets with claim IDs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6126480" y="502920"/>
            <a:ext cx="5394960" cy="3840480"/>
          </a:xfrm>
          <a:prstGeom prst="roundRect">
            <a:avLst>
              <a:gd name="adj" fmla="val 2381"/>
            </a:avLst>
          </a:prstGeom>
          <a:solidFill>
            <a:srgbClr val="FFFFFF"/>
          </a:solidFill>
          <a:ln w="15875">
            <a:solidFill>
              <a:srgbClr val="B03A1E"/>
            </a:solidFill>
            <a:prstDash val="solid"/>
          </a:ln>
          <a:effectLst>
            <a:outerShdw sx="100000" sy="100000" kx="0" ky="0" algn="bl" rotWithShape="0" blurRad="177800" dist="38100" dir="5400000">
              <a:srgbClr val="8A8378">
                <a:alpha val="16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400800" y="685800"/>
            <a:ext cx="4846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B03A1E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⚑ </a:t>
            </a:r>
            <a:pPr indent="0" marL="0">
              <a:buNone/>
            </a:pPr>
            <a:r>
              <a:rPr lang="en-US" sz="2000" b="1" dirty="0">
                <a:solidFill>
                  <a:srgbClr val="B03A1E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Divergence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6400800" y="1207008"/>
            <a:ext cx="4892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Tears stated: Gendün Gyatso · Dharmabhadra · Sungrab Tulku · Tsultrim Namdak</a:t>
            </a:r>
            <a:endParaRPr lang="en-US" sz="1350" dirty="0"/>
          </a:p>
        </p:txBody>
      </p:sp>
      <p:sp>
        <p:nvSpPr>
          <p:cNvPr id="10" name="Text 8"/>
          <p:cNvSpPr/>
          <p:nvPr/>
        </p:nvSpPr>
        <p:spPr>
          <a:xfrm>
            <a:off x="6400800" y="2029968"/>
            <a:ext cx="4892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 tears: Tāranātha · Karma Maitri — pollen from the “water-born face”</a:t>
            </a:r>
            <a:endParaRPr lang="en-US" sz="1350" dirty="0"/>
          </a:p>
        </p:txBody>
      </p:sp>
      <p:sp>
        <p:nvSpPr>
          <p:cNvPr id="11" name="Shape 9"/>
          <p:cNvSpPr/>
          <p:nvPr/>
        </p:nvSpPr>
        <p:spPr>
          <a:xfrm>
            <a:off x="6355080" y="2926080"/>
            <a:ext cx="4937760" cy="960120"/>
          </a:xfrm>
          <a:prstGeom prst="roundRect">
            <a:avLst>
              <a:gd name="adj" fmla="val 6667"/>
            </a:avLst>
          </a:prstGeom>
          <a:solidFill>
            <a:srgbClr val="F0DFD8"/>
          </a:solidFill>
          <a:ln/>
        </p:spPr>
      </p:sp>
      <p:sp>
        <p:nvSpPr>
          <p:cNvPr id="12" name="Text 10"/>
          <p:cNvSpPr/>
          <p:nvPr/>
        </p:nvSpPr>
        <p:spPr>
          <a:xfrm>
            <a:off x="6537960" y="2926080"/>
            <a:ext cx="45720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rgbClr val="B03A1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word for “tears” does not occur anywhere in either commentary's file.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85800" y="4572000"/>
            <a:ext cx="6903720" cy="960120"/>
          </a:xfrm>
          <a:prstGeom prst="roundRect">
            <a:avLst>
              <a:gd name="adj" fmla="val 8571"/>
            </a:avLst>
          </a:prstGeom>
          <a:solidFill>
            <a:srgbClr val="E5E0D8"/>
          </a:solidFill>
          <a:ln w="12700">
            <a:solidFill>
              <a:srgbClr val="B8B2A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85800" y="4572000"/>
            <a:ext cx="6903720" cy="960120"/>
          </a:xfrm>
          <a:prstGeom prst="rect">
            <a:avLst/>
          </a:prstGeom>
          <a:noFill/>
          <a:ln/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8A837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IMG-11</a:t>
            </a:r>
            <a:endParaRPr lang="en-US" sz="110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8A837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the one-syllable variant: root text vs Gendün Drub, side by side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7772400" y="4800600"/>
            <a:ext cx="3749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A837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One syllable — two different etymologies licensed.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685800" y="5852160"/>
            <a:ext cx="10789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1A1A1A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Divergence is recorded, never averaged.</a:t>
            </a:r>
            <a:endParaRPr lang="en-US" sz="25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AF6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640080"/>
            <a:ext cx="10817352" cy="4251960"/>
          </a:xfrm>
          <a:prstGeom prst="roundRect">
            <a:avLst>
              <a:gd name="adj" fmla="val 1935"/>
            </a:avLst>
          </a:prstGeom>
          <a:solidFill>
            <a:srgbClr val="E5E0D8"/>
          </a:solidFill>
          <a:ln w="12700">
            <a:solidFill>
              <a:srgbClr val="B8B2A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85800" y="640080"/>
            <a:ext cx="10817352" cy="4251960"/>
          </a:xfrm>
          <a:prstGeom prst="rect">
            <a:avLst/>
          </a:prstGeom>
          <a:noFill/>
          <a:ln/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8A837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IMG-12</a:t>
            </a:r>
            <a:endParaRPr lang="en-US" sz="110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8A837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the rendered article with footnotes visible, one footnote's trail highlighted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1234440" y="4041648"/>
            <a:ext cx="9720072" cy="7315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B03A1E"/>
            </a:solidFill>
            <a:prstDash val="solid"/>
          </a:ln>
          <a:effectLst>
            <a:outerShdw sx="100000" sy="100000" kx="0" ky="0" algn="bl" rotWithShape="0" blurRad="177800" dist="38100" dir="5400000">
              <a:srgbClr val="8A8378">
                <a:alpha val="20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1234440" y="4041648"/>
            <a:ext cx="97200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1A1A1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sentence</a:t>
            </a:r>
            <a:pPr algn="ctr" indent="0" marL="0">
              <a:buNone/>
            </a:pPr>
            <a:r>
              <a:rPr lang="en-US" sz="1450" b="1" dirty="0">
                <a:solidFill>
                  <a:srgbClr val="D9A441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 → </a:t>
            </a:r>
            <a:pPr algn="ctr" indent="0" marL="0">
              <a:buNone/>
            </a:pPr>
            <a:r>
              <a:rPr lang="en-US" sz="1450" b="1" dirty="0">
                <a:solidFill>
                  <a:srgbClr val="1A1A1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&lt;ref&gt;</a:t>
            </a:r>
            <a:pPr algn="ctr" indent="0" marL="0">
              <a:buNone/>
            </a:pPr>
            <a:r>
              <a:rPr lang="en-US" sz="1450" b="1" dirty="0">
                <a:solidFill>
                  <a:srgbClr val="D9A441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 → </a:t>
            </a:r>
            <a:pPr algn="ctr" indent="0" marL="0">
              <a:buNone/>
            </a:pPr>
            <a:r>
              <a:rPr lang="en-US" sz="1450" b="1" dirty="0">
                <a:solidFill>
                  <a:srgbClr val="1A1A1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claim ID</a:t>
            </a:r>
            <a:pPr algn="ctr" indent="0" marL="0">
              <a:buNone/>
            </a:pPr>
            <a:r>
              <a:rPr lang="en-US" sz="1450" b="1" dirty="0">
                <a:solidFill>
                  <a:srgbClr val="D9A441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 → </a:t>
            </a:r>
            <a:pPr algn="ctr" indent="0" marL="0">
              <a:buNone/>
            </a:pPr>
            <a:r>
              <a:rPr lang="en-US" sz="1450" b="1" dirty="0">
                <a:solidFill>
                  <a:srgbClr val="1A1A1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verbatim Tibetan</a:t>
            </a:r>
            <a:pPr algn="ctr" indent="0" marL="0">
              <a:buNone/>
            </a:pPr>
            <a:r>
              <a:rPr lang="en-US" sz="1450" b="1" dirty="0">
                <a:solidFill>
                  <a:srgbClr val="D9A441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 → </a:t>
            </a:r>
            <a:pPr algn="ctr" indent="0" marL="0">
              <a:buNone/>
            </a:pPr>
            <a:r>
              <a:rPr lang="en-US" sz="1450" b="1" dirty="0">
                <a:solidFill>
                  <a:srgbClr val="1A1A1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^0-26</a:t>
            </a:r>
            <a:pPr algn="ctr" indent="0" marL="0">
              <a:buNone/>
            </a:pPr>
            <a:r>
              <a:rPr lang="en-US" sz="1450" b="1" dirty="0">
                <a:solidFill>
                  <a:srgbClr val="D9A441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 → </a:t>
            </a:r>
            <a:pPr algn="ctr" indent="0" marL="0">
              <a:buNone/>
            </a:pPr>
            <a:r>
              <a:rPr lang="en-US" sz="1450" b="1" dirty="0">
                <a:solidFill>
                  <a:srgbClr val="1A1A1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source file</a:t>
            </a:r>
            <a:endParaRPr lang="en-US" sz="1450" dirty="0"/>
          </a:p>
        </p:txBody>
      </p:sp>
      <p:sp>
        <p:nvSpPr>
          <p:cNvPr id="6" name="Text 4"/>
          <p:cNvSpPr/>
          <p:nvPr/>
        </p:nvSpPr>
        <p:spPr>
          <a:xfrm>
            <a:off x="868680" y="5303520"/>
            <a:ext cx="1045159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A837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Of 44 standalone subjects, one was refused outright — for lack of citable claims. A system that always produces an article isn't following a rule.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881360" y="6327648"/>
            <a:ext cx="868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B8B2A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21</a:t>
            </a:r>
            <a:endParaRPr lang="en-US" sz="9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AF6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502920"/>
            <a:ext cx="6400800" cy="4480560"/>
          </a:xfrm>
          <a:prstGeom prst="roundRect">
            <a:avLst>
              <a:gd name="adj" fmla="val 2041"/>
            </a:avLst>
          </a:prstGeom>
          <a:solidFill>
            <a:srgbClr val="FFFFFF"/>
          </a:solidFill>
          <a:ln w="12700">
            <a:solidFill>
              <a:srgbClr val="E5E0D8"/>
            </a:solidFill>
            <a:prstDash val="solid"/>
          </a:ln>
          <a:effectLst>
            <a:outerShdw sx="100000" sy="100000" kx="0" ky="0" algn="bl" rotWithShape="0" blurRad="177800" dist="38100" dir="5400000">
              <a:srgbClr val="8A8378">
                <a:alpha val="16000"/>
              </a:srgbClr>
            </a:outerShdw>
          </a:effectLst>
        </p:spPr>
      </p:sp>
      <p:sp>
        <p:nvSpPr>
          <p:cNvPr id="3" name="Text 1"/>
          <p:cNvSpPr/>
          <p:nvPr/>
        </p:nvSpPr>
        <p:spPr>
          <a:xfrm>
            <a:off x="960120" y="685800"/>
            <a:ext cx="5852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The machine check — deterministic, blocking, no LLM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960120" y="1280160"/>
            <a:ext cx="5852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1A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861 / 882</a:t>
            </a:r>
            <a:pPr indent="0" marL="0">
              <a:buNone/>
            </a:pPr>
            <a:r>
              <a:rPr lang="en-US" sz="1300" dirty="0">
                <a:solidFill>
                  <a:srgbClr val="8A837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quotations character-for-character (batch)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960120" y="1874520"/>
            <a:ext cx="5852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1A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81 / 81</a:t>
            </a:r>
            <a:pPr indent="0" marL="0">
              <a:buNone/>
            </a:pPr>
            <a:r>
              <a:rPr lang="en-US" sz="1300" dirty="0">
                <a:solidFill>
                  <a:srgbClr val="8A837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in the audited pilot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960120" y="2514600"/>
            <a:ext cx="5852160" cy="1371600"/>
          </a:xfrm>
          <a:prstGeom prst="roundRect">
            <a:avLst>
              <a:gd name="adj" fmla="val 6000"/>
            </a:avLst>
          </a:prstGeom>
          <a:solidFill>
            <a:srgbClr val="E5E0D8"/>
          </a:solidFill>
          <a:ln w="12700">
            <a:solidFill>
              <a:srgbClr val="B8B2A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60120" y="2514600"/>
            <a:ext cx="5852160" cy="1371600"/>
          </a:xfrm>
          <a:prstGeom prst="rect">
            <a:avLst/>
          </a:prstGeom>
          <a:noFill/>
          <a:ln/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8A837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IMG-13</a:t>
            </a:r>
            <a:endParaRPr lang="en-US" sz="110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8A837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two near-identical Tibetan strings, the changed punctuation circled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2514600" y="4069080"/>
            <a:ext cx="2743200" cy="457200"/>
          </a:xfrm>
          <a:prstGeom prst="roundRect">
            <a:avLst>
              <a:gd name="adj" fmla="val 50000"/>
            </a:avLst>
          </a:prstGeom>
          <a:solidFill>
            <a:srgbClr val="F0DFD8"/>
          </a:solidFill>
          <a:ln w="12700">
            <a:solidFill>
              <a:srgbClr val="B03A1E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514600" y="4069080"/>
            <a:ext cx="2743200" cy="457200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similarity 0.974 — </a:t>
            </a:r>
            <a:pPr algn="ctr" indent="0" marL="0">
              <a:buNone/>
            </a:pPr>
            <a:r>
              <a:rPr lang="en-US" sz="1250" b="1" dirty="0">
                <a:solidFill>
                  <a:srgbClr val="B03A1E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FAIL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7360920" y="502920"/>
            <a:ext cx="4142232" cy="4480560"/>
          </a:xfrm>
          <a:prstGeom prst="roundRect">
            <a:avLst>
              <a:gd name="adj" fmla="val 2208"/>
            </a:avLst>
          </a:prstGeom>
          <a:solidFill>
            <a:srgbClr val="F3EDE4"/>
          </a:solidFill>
          <a:ln w="12700">
            <a:solidFill>
              <a:srgbClr val="E5E0D8"/>
            </a:solidFill>
            <a:prstDash val="solid"/>
          </a:ln>
          <a:effectLst>
            <a:outerShdw sx="100000" sy="100000" kx="0" ky="0" algn="bl" rotWithShape="0" blurRad="177800" dist="38100" dir="5400000">
              <a:srgbClr val="8A8378">
                <a:alpha val="16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7635240" y="685800"/>
            <a:ext cx="3611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The meaning check — adversarial, fresh model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7635240" y="1600200"/>
            <a:ext cx="3611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8A837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same-model audit: “publish, no findings” × 3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7589520" y="2331720"/>
            <a:ext cx="3685032" cy="777240"/>
          </a:xfrm>
          <a:prstGeom prst="roundRect">
            <a:avLst>
              <a:gd name="adj" fmla="val 8235"/>
            </a:avLst>
          </a:prstGeom>
          <a:solidFill>
            <a:srgbClr val="F0DFD8"/>
          </a:solidFill>
          <a:ln/>
        </p:spPr>
      </p:sp>
      <p:sp>
        <p:nvSpPr>
          <p:cNvPr id="14" name="Text 12"/>
          <p:cNvSpPr/>
          <p:nvPr/>
        </p:nvSpPr>
        <p:spPr>
          <a:xfrm>
            <a:off x="7772400" y="2331720"/>
            <a:ext cx="3383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B03A1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cross-model audit: 5 blocking findings</a:t>
            </a:r>
            <a:endParaRPr lang="en-US" sz="1450" dirty="0"/>
          </a:p>
        </p:txBody>
      </p:sp>
      <p:sp>
        <p:nvSpPr>
          <p:cNvPr id="15" name="Text 13"/>
          <p:cNvSpPr/>
          <p:nvPr/>
        </p:nvSpPr>
        <p:spPr>
          <a:xfrm>
            <a:off x="7635240" y="3291840"/>
            <a:ext cx="3611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8A837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draft said “many scholars” — the claim said three.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685800" y="5257800"/>
            <a:ext cx="10789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A clean quote check is never, by itself, publication-ready.</a:t>
            </a:r>
            <a:endParaRPr lang="en-US" sz="2100" dirty="0"/>
          </a:p>
        </p:txBody>
      </p:sp>
      <p:sp>
        <p:nvSpPr>
          <p:cNvPr id="17" name="Text 15"/>
          <p:cNvSpPr/>
          <p:nvPr/>
        </p:nvSpPr>
        <p:spPr>
          <a:xfrm>
            <a:off x="685800" y="5989320"/>
            <a:ext cx="10789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A837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exact → pass · whitespace-collapsed → pass · punctuation-stripped fuzzy → FAIL · missing → fail. Found is not the gate. Passed is.</a:t>
            </a:r>
            <a:endParaRPr lang="en-US" sz="10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AF6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457200"/>
            <a:ext cx="107899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Never report a same-model audit as independent.</a:t>
            </a:r>
            <a:endParaRPr lang="en-US" sz="2800" dirty="0"/>
          </a:p>
        </p:txBody>
      </p:sp>
      <p:graphicFrame>
        <p:nvGraphicFramePr>
          <p:cNvPr id="2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463040"/>
          <a:ext cx="10817352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3200400"/>
                <a:gridCol w="4690872"/>
              </a:tblGrid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spc="100" kern="0" dirty="0">
                          <a:solidFill>
                            <a:srgbClr val="8A8378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CHECK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91440" marB="9144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AF6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spc="100" kern="0" dirty="0">
                          <a:solidFill>
                            <a:srgbClr val="8A8378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SCOPE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91440" marB="9144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AF6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spc="100" kern="0" dirty="0">
                          <a:solidFill>
                            <a:srgbClr val="8A8378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RESULT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91440" marB="9144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AF6F0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Deterministic gate — pilot</a:t>
                      </a:r>
                      <a:endParaRPr lang="en-US" sz="13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91440" marB="9144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81 quotations</a:t>
                      </a:r>
                      <a:endParaRPr lang="en-US" sz="13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91440" marB="9144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81/81 exact · 81/81 locators resolve</a:t>
                      </a:r>
                      <a:endParaRPr lang="en-US" sz="13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91440" marB="9144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Deterministic gate — batch</a:t>
                      </a:r>
                      <a:endParaRPr lang="en-US" sz="13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91440" marB="9144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3ED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882 quotations / 42 articles</a:t>
                      </a:r>
                      <a:endParaRPr lang="en-US" sz="13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91440" marB="9144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3ED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861/882 (97.6%)</a:t>
                      </a:r>
                      <a:endParaRPr lang="en-US" sz="13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91440" marB="9144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3EDE4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Consolidation audit</a:t>
                      </a:r>
                      <a:endParaRPr lang="en-US" sz="13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91440" marB="9144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418 citations / 3 pages</a:t>
                      </a:r>
                      <a:endParaRPr lang="en-US" sz="13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91440" marB="9144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0 fabricated IDs · 1 critical · 1 moderate · ~16 minor</a:t>
                      </a:r>
                      <a:endParaRPr lang="en-US" sz="13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91440" marB="9144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Same-model audit</a:t>
                      </a:r>
                      <a:endParaRPr lang="en-US" sz="13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91440" marB="9144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3ED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3 articles</a:t>
                      </a:r>
                      <a:endParaRPr lang="en-US" sz="13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91440" marB="9144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3ED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“publish, no findings” × 3</a:t>
                      </a:r>
                      <a:endParaRPr lang="en-US" sz="13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91440" marB="9144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3EDE4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Cross-model audit</a:t>
                      </a:r>
                      <a:endParaRPr lang="en-US" sz="13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91440" marB="9144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0DFD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same 3 articles</a:t>
                      </a:r>
                      <a:endParaRPr lang="en-US" sz="13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91440" marB="9144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0DFD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B03A1E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5 blocking</a:t>
                      </a:r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 · 4 genuine</a:t>
                      </a:r>
                      <a:endParaRPr lang="en-US" sz="13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91440" marB="9144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0DFD8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Auditor re-run variance</a:t>
                      </a:r>
                      <a:endParaRPr lang="en-US" sz="13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91440" marB="9144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3ED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3 rounds</a:t>
                      </a:r>
                      <a:endParaRPr lang="en-US" sz="13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91440" marB="9144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3ED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0.67 / 0.67 / 1.0</a:t>
                      </a:r>
                      <a:endParaRPr lang="en-US" sz="13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91440" marB="9144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3EDE4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/>
          <p:nvPr/>
        </p:nvSpPr>
        <p:spPr>
          <a:xfrm>
            <a:off x="10881360" y="6327648"/>
            <a:ext cx="868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B8B2A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23</a:t>
            </a:r>
            <a:endParaRPr lang="en-US" sz="9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AF6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457200"/>
            <a:ext cx="107899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A reader's objection became executable.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85800" y="1572768"/>
            <a:ext cx="3127248" cy="841248"/>
          </a:xfrm>
          <a:prstGeom prst="roundRect">
            <a:avLst>
              <a:gd name="adj" fmla="val 10870"/>
            </a:avLst>
          </a:prstGeom>
          <a:solidFill>
            <a:srgbClr val="FFFFFF"/>
          </a:solidFill>
          <a:ln w="12700">
            <a:solidFill>
              <a:srgbClr val="E5E0D8"/>
            </a:solidFill>
            <a:prstDash val="solid"/>
          </a:ln>
          <a:effectLst>
            <a:outerShdw sx="100000" sy="100000" kx="0" ky="0" algn="bl" rotWithShape="0" blurRad="177800" dist="38100" dir="5400000">
              <a:srgbClr val="8A8378">
                <a:alpha val="16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685800" y="1572768"/>
            <a:ext cx="3127248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reviewer's finding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4526280" y="1572768"/>
            <a:ext cx="3127248" cy="841248"/>
          </a:xfrm>
          <a:prstGeom prst="roundRect">
            <a:avLst>
              <a:gd name="adj" fmla="val 10870"/>
            </a:avLst>
          </a:prstGeom>
          <a:solidFill>
            <a:srgbClr val="F0DFD8"/>
          </a:solidFill>
          <a:ln w="22225">
            <a:solidFill>
              <a:srgbClr val="B03A1E"/>
            </a:solidFill>
            <a:prstDash val="solid"/>
          </a:ln>
          <a:effectLst>
            <a:outerShdw sx="100000" sy="100000" kx="0" ky="0" algn="bl" rotWithShape="0" blurRad="177800" dist="38100" dir="5400000">
              <a:srgbClr val="8A8378">
                <a:alpha val="16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4526280" y="1572768"/>
            <a:ext cx="3127248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B03A1E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new versioned skill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8366760" y="1572768"/>
            <a:ext cx="3127248" cy="841248"/>
          </a:xfrm>
          <a:prstGeom prst="roundRect">
            <a:avLst>
              <a:gd name="adj" fmla="val 10870"/>
            </a:avLst>
          </a:prstGeom>
          <a:solidFill>
            <a:srgbClr val="FFFFFF"/>
          </a:solidFill>
          <a:ln w="12700">
            <a:solidFill>
              <a:srgbClr val="E5E0D8"/>
            </a:solidFill>
            <a:prstDash val="solid"/>
          </a:ln>
          <a:effectLst>
            <a:outerShdw sx="100000" sy="100000" kx="0" ky="0" algn="bl" rotWithShape="0" blurRad="177800" dist="38100" dir="5400000">
              <a:srgbClr val="8A8378">
                <a:alpha val="16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8366760" y="1572768"/>
            <a:ext cx="3127248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every future article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3931920" y="1993392"/>
            <a:ext cx="521208" cy="0"/>
          </a:xfrm>
          <a:prstGeom prst="line">
            <a:avLst/>
          </a:prstGeom>
          <a:noFill/>
          <a:ln w="28575">
            <a:solidFill>
              <a:srgbClr val="D9A441"/>
            </a:solidFill>
            <a:prstDash val="solid"/>
            <a:tailEnd type="triangle"/>
          </a:ln>
        </p:spPr>
      </p:sp>
      <p:sp>
        <p:nvSpPr>
          <p:cNvPr id="10" name="Shape 8"/>
          <p:cNvSpPr/>
          <p:nvPr/>
        </p:nvSpPr>
        <p:spPr>
          <a:xfrm>
            <a:off x="7772400" y="1993392"/>
            <a:ext cx="521208" cy="0"/>
          </a:xfrm>
          <a:prstGeom prst="line">
            <a:avLst/>
          </a:prstGeom>
          <a:noFill/>
          <a:ln w="28575">
            <a:solidFill>
              <a:srgbClr val="D9A441"/>
            </a:solidFill>
            <a:prstDash val="solid"/>
            <a:tailEnd type="triangle"/>
          </a:ln>
        </p:spPr>
      </p:sp>
      <p:sp>
        <p:nvSpPr>
          <p:cNvPr id="11" name="Text 9"/>
          <p:cNvSpPr/>
          <p:nvPr/>
        </p:nvSpPr>
        <p:spPr>
          <a:xfrm>
            <a:off x="713232" y="285292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A837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register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685800" y="3182112"/>
            <a:ext cx="3383280" cy="621792"/>
          </a:xfrm>
          <a:prstGeom prst="roundRect">
            <a:avLst>
              <a:gd name="adj" fmla="val 17647"/>
            </a:avLst>
          </a:prstGeom>
          <a:solidFill>
            <a:srgbClr val="F3EDE4"/>
          </a:solidFill>
          <a:ln w="9525">
            <a:solidFill>
              <a:srgbClr val="B8B2A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85800" y="3182112"/>
            <a:ext cx="3383280" cy="621792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too many citations per statement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4297680" y="3182112"/>
            <a:ext cx="3383280" cy="621792"/>
          </a:xfrm>
          <a:prstGeom prst="roundRect">
            <a:avLst>
              <a:gd name="adj" fmla="val 17647"/>
            </a:avLst>
          </a:prstGeom>
          <a:solidFill>
            <a:srgbClr val="F3EDE4"/>
          </a:solidFill>
          <a:ln w="9525">
            <a:solidFill>
              <a:srgbClr val="B8B2A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297680" y="3182112"/>
            <a:ext cx="3383280" cy="621792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reads as a literature review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7909560" y="3182112"/>
            <a:ext cx="3383280" cy="621792"/>
          </a:xfrm>
          <a:prstGeom prst="roundRect">
            <a:avLst>
              <a:gd name="adj" fmla="val 17647"/>
            </a:avLst>
          </a:prstGeom>
          <a:solidFill>
            <a:srgbClr val="F3EDE4"/>
          </a:solidFill>
          <a:ln w="9525">
            <a:solidFill>
              <a:srgbClr val="B8B2A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909560" y="3182112"/>
            <a:ext cx="3383280" cy="621792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raw wikitext unreadable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713232" y="402336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A837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orthography &amp; respect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685800" y="4352544"/>
            <a:ext cx="3383280" cy="822960"/>
          </a:xfrm>
          <a:prstGeom prst="roundRect">
            <a:avLst>
              <a:gd name="adj" fmla="val 13333"/>
            </a:avLst>
          </a:prstGeom>
          <a:solidFill>
            <a:srgbClr val="F3EDE4"/>
          </a:solidFill>
          <a:ln w="9525">
            <a:solidFill>
              <a:srgbClr val="B8B2A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85800" y="4352544"/>
            <a:ext cx="3383280" cy="822960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close every paragraph with the double shad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4297680" y="4352544"/>
            <a:ext cx="3383280" cy="822960"/>
          </a:xfrm>
          <a:prstGeom prst="roundRect">
            <a:avLst>
              <a:gd name="adj" fmla="val 13333"/>
            </a:avLst>
          </a:prstGeom>
          <a:solidFill>
            <a:srgbClr val="F3EDE4"/>
          </a:solidFill>
          <a:ln w="9525">
            <a:solidFill>
              <a:srgbClr val="B8B2A8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297680" y="4352544"/>
            <a:ext cx="3383280" cy="822960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comma does not exist in Tibetan</a:t>
            </a:r>
            <a:endParaRPr lang="en-US" sz="1250" dirty="0"/>
          </a:p>
        </p:txBody>
      </p:sp>
      <p:sp>
        <p:nvSpPr>
          <p:cNvPr id="23" name="Shape 21"/>
          <p:cNvSpPr/>
          <p:nvPr/>
        </p:nvSpPr>
        <p:spPr>
          <a:xfrm>
            <a:off x="7909560" y="4352544"/>
            <a:ext cx="3383280" cy="822960"/>
          </a:xfrm>
          <a:prstGeom prst="roundRect">
            <a:avLst>
              <a:gd name="adj" fmla="val 13333"/>
            </a:avLst>
          </a:prstGeom>
          <a:solidFill>
            <a:srgbClr val="F3EDE4"/>
          </a:solidFill>
          <a:ln w="9525">
            <a:solidFill>
              <a:srgbClr val="B8B2A8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7909560" y="4352544"/>
            <a:ext cx="3383280" cy="822960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names: copy the curated form — never invent an honorific</a:t>
            </a:r>
            <a:endParaRPr lang="en-US" sz="1250" dirty="0"/>
          </a:p>
        </p:txBody>
      </p:sp>
      <p:sp>
        <p:nvSpPr>
          <p:cNvPr id="25" name="Text 23"/>
          <p:cNvSpPr/>
          <p:nvPr/>
        </p:nvSpPr>
        <p:spPr>
          <a:xfrm>
            <a:off x="685800" y="5806440"/>
            <a:ext cx="10789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8A837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Three revised articles are with the linguist. The corpus-wide redraft waits on that approval.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10881360" y="6327648"/>
            <a:ext cx="868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B8B2A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24</a:t>
            </a:r>
            <a:endParaRPr lang="en-US" sz="9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AF6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411480"/>
            <a:ext cx="10789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create (19) · update (25) — one subject, one article, never forked</a:t>
            </a:r>
            <a:endParaRPr lang="en-US" sz="1500" dirty="0"/>
          </a:p>
        </p:txBody>
      </p:sp>
      <p:sp>
        <p:nvSpPr>
          <p:cNvPr id="3" name="Text 1"/>
          <p:cNvSpPr/>
          <p:nvPr/>
        </p:nvSpPr>
        <p:spPr>
          <a:xfrm>
            <a:off x="685800" y="822960"/>
            <a:ext cx="10789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Manual now · bot later — the bot moves text, it never decides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685800" y="1234440"/>
            <a:ext cx="107899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B03A1E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Nothing published yet. On purpose.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685800" y="224028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Writing, at the observed rate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3703320" y="2286000"/>
            <a:ext cx="7818120" cy="420624"/>
          </a:xfrm>
          <a:prstGeom prst="roundRect">
            <a:avLst>
              <a:gd name="adj" fmla="val 13043"/>
            </a:avLst>
          </a:prstGeom>
          <a:solidFill>
            <a:srgbClr val="B8B2A8"/>
          </a:solidFill>
          <a:ln/>
        </p:spPr>
      </p:sp>
      <p:sp>
        <p:nvSpPr>
          <p:cNvPr id="7" name="Text 5"/>
          <p:cNvSpPr/>
          <p:nvPr/>
        </p:nvSpPr>
        <p:spPr>
          <a:xfrm>
            <a:off x="9555480" y="2286000"/>
            <a:ext cx="18745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~285 years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685800" y="2907792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Reviewing, at 30–60 min/article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3703320" y="2953512"/>
            <a:ext cx="1325880" cy="420624"/>
          </a:xfrm>
          <a:prstGeom prst="roundRect">
            <a:avLst>
              <a:gd name="adj" fmla="val 13043"/>
            </a:avLst>
          </a:prstGeom>
          <a:solidFill>
            <a:srgbClr val="B03A1E"/>
          </a:solidFill>
          <a:ln/>
        </p:spPr>
      </p:sp>
      <p:sp>
        <p:nvSpPr>
          <p:cNvPr id="10" name="Text 8"/>
          <p:cNvSpPr/>
          <p:nvPr/>
        </p:nvSpPr>
        <p:spPr>
          <a:xfrm>
            <a:off x="5138928" y="2953512"/>
            <a:ext cx="3108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03A1E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24–48 person-years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685800" y="3749040"/>
            <a:ext cx="10789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~$0.71 per article machine cost. Review is the constraint — by design.</a:t>
            </a:r>
            <a:endParaRPr lang="en-US" sz="1450" dirty="0"/>
          </a:p>
        </p:txBody>
      </p:sp>
      <p:sp>
        <p:nvSpPr>
          <p:cNvPr id="12" name="Shape 10"/>
          <p:cNvSpPr/>
          <p:nvPr/>
        </p:nvSpPr>
        <p:spPr>
          <a:xfrm>
            <a:off x="0" y="4663440"/>
            <a:ext cx="12191695" cy="2194560"/>
          </a:xfrm>
          <a:prstGeom prst="rect">
            <a:avLst/>
          </a:prstGeom>
          <a:solidFill>
            <a:srgbClr val="201812"/>
          </a:solidFill>
          <a:ln/>
        </p:spPr>
      </p:sp>
      <p:sp>
        <p:nvSpPr>
          <p:cNvPr id="13" name="Shape 11"/>
          <p:cNvSpPr/>
          <p:nvPr/>
        </p:nvSpPr>
        <p:spPr>
          <a:xfrm>
            <a:off x="2377440" y="4709160"/>
            <a:ext cx="7498080" cy="2103120"/>
          </a:xfrm>
          <a:prstGeom prst="ellipse">
            <a:avLst/>
          </a:prstGeom>
          <a:solidFill>
            <a:srgbClr val="352A20">
              <a:alpha val="32000"/>
            </a:srgbClr>
          </a:solidFill>
          <a:ln/>
        </p:spPr>
      </p:sp>
      <p:sp>
        <p:nvSpPr>
          <p:cNvPr id="14" name="Text 12"/>
          <p:cNvSpPr/>
          <p:nvPr/>
        </p:nvSpPr>
        <p:spPr>
          <a:xfrm>
            <a:off x="1280160" y="5029200"/>
            <a:ext cx="9628632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i="1" dirty="0">
                <a:solidFill>
                  <a:srgbClr val="FAF6F0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“The answer to the gap is neither refusal nor flood. It's verification, with a human hand on the gate.”</a:t>
            </a:r>
            <a:endParaRPr lang="en-US" sz="22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2018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11680" y="-2194560"/>
            <a:ext cx="8229600" cy="6583680"/>
          </a:xfrm>
          <a:prstGeom prst="ellipse">
            <a:avLst/>
          </a:prstGeom>
          <a:solidFill>
            <a:srgbClr val="352A20">
              <a:alpha val="38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-1828800" y="3108960"/>
            <a:ext cx="7315200" cy="5852160"/>
          </a:xfrm>
          <a:prstGeom prst="ellipse">
            <a:avLst/>
          </a:prstGeom>
          <a:solidFill>
            <a:srgbClr val="352A20">
              <a:alpha val="24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685800" y="822960"/>
            <a:ext cx="107899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600" b="1" dirty="0">
                <a:solidFill>
                  <a:srgbClr val="FAF6F0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Thank you</a:t>
            </a:r>
            <a:endParaRPr lang="en-US" sz="4600" dirty="0"/>
          </a:p>
        </p:txBody>
      </p:sp>
      <p:sp>
        <p:nvSpPr>
          <p:cNvPr id="5" name="Text 3"/>
          <p:cNvSpPr/>
          <p:nvPr/>
        </p:nvSpPr>
        <p:spPr>
          <a:xfrm>
            <a:off x="685800" y="1828800"/>
            <a:ext cx="10789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B8B2A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Tashi Tsering · OpenPecha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2651760" y="2724912"/>
            <a:ext cx="1956816" cy="1956816"/>
          </a:xfrm>
          <a:prstGeom prst="roundRect">
            <a:avLst>
              <a:gd name="adj" fmla="val 5607"/>
            </a:avLst>
          </a:prstGeom>
          <a:solidFill>
            <a:srgbClr val="352A20"/>
          </a:solidFill>
          <a:ln w="12700">
            <a:solidFill>
              <a:srgbClr val="8A8378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761488" y="2834640"/>
            <a:ext cx="1737360" cy="1737360"/>
          </a:xfrm>
          <a:prstGeom prst="roundRect">
            <a:avLst>
              <a:gd name="adj" fmla="val 4737"/>
            </a:avLst>
          </a:prstGeom>
          <a:solidFill>
            <a:srgbClr val="E5E0D8"/>
          </a:solidFill>
          <a:ln w="12700">
            <a:solidFill>
              <a:srgbClr val="B8B2A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761488" y="2834640"/>
            <a:ext cx="1737360" cy="1737360"/>
          </a:xfrm>
          <a:prstGeom prst="rect">
            <a:avLst/>
          </a:prstGeom>
          <a:noFill/>
          <a:ln/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8A837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IMG-14a</a:t>
            </a:r>
            <a:endParaRPr lang="en-US" sz="110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8A837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QR: the vault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5120640" y="2724912"/>
            <a:ext cx="1956816" cy="1956816"/>
          </a:xfrm>
          <a:prstGeom prst="roundRect">
            <a:avLst>
              <a:gd name="adj" fmla="val 5607"/>
            </a:avLst>
          </a:prstGeom>
          <a:solidFill>
            <a:srgbClr val="352A20"/>
          </a:solidFill>
          <a:ln w="12700">
            <a:solidFill>
              <a:srgbClr val="8A8378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230368" y="2834640"/>
            <a:ext cx="1737360" cy="1737360"/>
          </a:xfrm>
          <a:prstGeom prst="roundRect">
            <a:avLst>
              <a:gd name="adj" fmla="val 4737"/>
            </a:avLst>
          </a:prstGeom>
          <a:solidFill>
            <a:srgbClr val="E5E0D8"/>
          </a:solidFill>
          <a:ln w="12700">
            <a:solidFill>
              <a:srgbClr val="B8B2A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230368" y="2834640"/>
            <a:ext cx="1737360" cy="1737360"/>
          </a:xfrm>
          <a:prstGeom prst="rect">
            <a:avLst/>
          </a:prstGeom>
          <a:noFill/>
          <a:ln/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8A837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IMG-14b</a:t>
            </a:r>
            <a:endParaRPr lang="en-US" sz="110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8A837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QR: the paper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7589520" y="2724912"/>
            <a:ext cx="1956816" cy="1956816"/>
          </a:xfrm>
          <a:prstGeom prst="roundRect">
            <a:avLst>
              <a:gd name="adj" fmla="val 5607"/>
            </a:avLst>
          </a:prstGeom>
          <a:solidFill>
            <a:srgbClr val="352A20"/>
          </a:solidFill>
          <a:ln w="12700">
            <a:solidFill>
              <a:srgbClr val="8A8378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699248" y="2834640"/>
            <a:ext cx="1737360" cy="1737360"/>
          </a:xfrm>
          <a:prstGeom prst="roundRect">
            <a:avLst>
              <a:gd name="adj" fmla="val 4737"/>
            </a:avLst>
          </a:prstGeom>
          <a:solidFill>
            <a:srgbClr val="E5E0D8"/>
          </a:solidFill>
          <a:ln w="12700">
            <a:solidFill>
              <a:srgbClr val="B8B2A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699248" y="2834640"/>
            <a:ext cx="1737360" cy="1737360"/>
          </a:xfrm>
          <a:prstGeom prst="rect">
            <a:avLst/>
          </a:prstGeom>
          <a:noFill/>
          <a:ln/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8A837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IMG-14c</a:t>
            </a:r>
            <a:endParaRPr lang="en-US" sz="110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8A837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QR: a demo article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4956048" y="5349240"/>
            <a:ext cx="2286000" cy="548640"/>
          </a:xfrm>
          <a:prstGeom prst="roundRect">
            <a:avLst>
              <a:gd name="adj" fmla="val 50000"/>
            </a:avLst>
          </a:prstGeom>
          <a:solidFill>
            <a:srgbClr val="352A20"/>
          </a:solidFill>
          <a:ln w="12700">
            <a:solidFill>
              <a:srgbClr val="D9A44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956048" y="5349240"/>
            <a:ext cx="2286000" cy="548640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AF6F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Reviewers welcome.</a:t>
            </a:r>
            <a:endParaRPr lang="en-US" sz="14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AF6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274320"/>
            <a:ext cx="1371600" cy="384048"/>
          </a:xfrm>
          <a:prstGeom prst="roundRect">
            <a:avLst>
              <a:gd name="adj" fmla="val 50000"/>
            </a:avLst>
          </a:prstGeom>
          <a:solidFill>
            <a:srgbClr val="F3EDE4"/>
          </a:solidFill>
          <a:ln w="9525">
            <a:solidFill>
              <a:srgbClr val="B8B2A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85800" y="274320"/>
            <a:ext cx="1371600" cy="384048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37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Backup — B1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685800" y="960120"/>
            <a:ext cx="107899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A1A1A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$0.33 – $1.42 per article · 100,000 ≈ $35k–140k · prices falling</a:t>
            </a:r>
            <a:endParaRPr lang="en-US" sz="2300" dirty="0"/>
          </a:p>
        </p:txBody>
      </p:sp>
      <p:sp>
        <p:nvSpPr>
          <p:cNvPr id="5" name="Text 3"/>
          <p:cNvSpPr/>
          <p:nvPr/>
        </p:nvSpPr>
        <p:spPr>
          <a:xfrm>
            <a:off x="685800" y="1691640"/>
            <a:ext cx="10789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8A837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That is the marginal article — the pipeline itself is up-front engineering that amortizes.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1828800" y="3566160"/>
            <a:ext cx="8503920" cy="502920"/>
          </a:xfrm>
          <a:prstGeom prst="roundRect">
            <a:avLst>
              <a:gd name="adj" fmla="val 18182"/>
            </a:avLst>
          </a:prstGeom>
          <a:solidFill>
            <a:srgbClr val="B8B2A8"/>
          </a:solidFill>
          <a:ln/>
        </p:spPr>
      </p:sp>
      <p:sp>
        <p:nvSpPr>
          <p:cNvPr id="7" name="Shape 5"/>
          <p:cNvSpPr/>
          <p:nvPr/>
        </p:nvSpPr>
        <p:spPr>
          <a:xfrm>
            <a:off x="4766037" y="3310128"/>
            <a:ext cx="54864" cy="1005840"/>
          </a:xfrm>
          <a:prstGeom prst="rect">
            <a:avLst/>
          </a:prstGeom>
          <a:solidFill>
            <a:srgbClr val="B03A1E"/>
          </a:solidFill>
          <a:ln/>
        </p:spPr>
      </p:sp>
      <p:sp>
        <p:nvSpPr>
          <p:cNvPr id="8" name="Shape 6"/>
          <p:cNvSpPr/>
          <p:nvPr/>
        </p:nvSpPr>
        <p:spPr>
          <a:xfrm>
            <a:off x="4244829" y="2788920"/>
            <a:ext cx="1097280" cy="457200"/>
          </a:xfrm>
          <a:prstGeom prst="roundRect">
            <a:avLst>
              <a:gd name="adj" fmla="val 50000"/>
            </a:avLst>
          </a:prstGeom>
          <a:solidFill>
            <a:srgbClr val="F0DFD8"/>
          </a:solidFill>
          <a:ln w="12700">
            <a:solidFill>
              <a:srgbClr val="B03A1E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244829" y="2788920"/>
            <a:ext cx="1097280" cy="457200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B03A1E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$0.71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1371600" y="4206240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A837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$0.33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9875520" y="4206240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A837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$1.42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10881360" y="6327648"/>
            <a:ext cx="868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B8B2A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B1</a:t>
            </a:r>
            <a:endParaRPr lang="en-US" sz="9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AF6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274320"/>
            <a:ext cx="1371600" cy="384048"/>
          </a:xfrm>
          <a:prstGeom prst="roundRect">
            <a:avLst>
              <a:gd name="adj" fmla="val 50000"/>
            </a:avLst>
          </a:prstGeom>
          <a:solidFill>
            <a:srgbClr val="F3EDE4"/>
          </a:solidFill>
          <a:ln w="9525">
            <a:solidFill>
              <a:srgbClr val="B8B2A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85800" y="274320"/>
            <a:ext cx="1371600" cy="384048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37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Backup — B2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685800" y="914400"/>
            <a:ext cx="107899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A1A1A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62 skills · 21 with scripts · 44 scripts · 11,251 lines</a:t>
            </a:r>
            <a:endParaRPr lang="en-US" sz="2500" dirty="0"/>
          </a:p>
        </p:txBody>
      </p:sp>
      <p:sp>
        <p:nvSpPr>
          <p:cNvPr id="5" name="Shape 3"/>
          <p:cNvSpPr/>
          <p:nvPr/>
        </p:nvSpPr>
        <p:spPr>
          <a:xfrm>
            <a:off x="685800" y="1783080"/>
            <a:ext cx="10817352" cy="4434840"/>
          </a:xfrm>
          <a:prstGeom prst="roundRect">
            <a:avLst>
              <a:gd name="adj" fmla="val 1856"/>
            </a:avLst>
          </a:prstGeom>
          <a:solidFill>
            <a:srgbClr val="E5E0D8"/>
          </a:solidFill>
          <a:ln w="12700">
            <a:solidFill>
              <a:srgbClr val="B8B2A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85800" y="1783080"/>
            <a:ext cx="10817352" cy="4434840"/>
          </a:xfrm>
          <a:prstGeom prst="rect">
            <a:avLst/>
          </a:prstGeom>
          <a:noFill/>
          <a:ln/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8A837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IMG-15</a:t>
            </a:r>
            <a:endParaRPr lang="en-US" sz="110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8A837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full Skills folder listing, two columns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10881360" y="6327648"/>
            <a:ext cx="868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B8B2A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B2</a:t>
            </a:r>
            <a:endParaRPr lang="en-US" sz="9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AF6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274320"/>
            <a:ext cx="1371600" cy="384048"/>
          </a:xfrm>
          <a:prstGeom prst="roundRect">
            <a:avLst>
              <a:gd name="adj" fmla="val 50000"/>
            </a:avLst>
          </a:prstGeom>
          <a:solidFill>
            <a:srgbClr val="F3EDE4"/>
          </a:solidFill>
          <a:ln w="9525">
            <a:solidFill>
              <a:srgbClr val="B8B2A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85800" y="274320"/>
            <a:ext cx="1371600" cy="384048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37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Backup — B3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685800" y="868680"/>
            <a:ext cx="107899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A1A1A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What each call receives — and what it is denied.</a:t>
            </a:r>
            <a:endParaRPr lang="en-US" sz="2900" dirty="0"/>
          </a:p>
        </p:txBody>
      </p:sp>
      <p:sp>
        <p:nvSpPr>
          <p:cNvPr id="5" name="Shape 3"/>
          <p:cNvSpPr/>
          <p:nvPr/>
        </p:nvSpPr>
        <p:spPr>
          <a:xfrm>
            <a:off x="685800" y="1874520"/>
            <a:ext cx="5166360" cy="3108960"/>
          </a:xfrm>
          <a:prstGeom prst="roundRect">
            <a:avLst>
              <a:gd name="adj" fmla="val 2941"/>
            </a:avLst>
          </a:prstGeom>
          <a:solidFill>
            <a:srgbClr val="FFFFFF"/>
          </a:solidFill>
          <a:ln w="12700">
            <a:solidFill>
              <a:srgbClr val="E5E0D8"/>
            </a:solidFill>
            <a:prstDash val="solid"/>
          </a:ln>
          <a:effectLst>
            <a:outerShdw sx="100000" sy="100000" kx="0" ky="0" algn="bl" rotWithShape="0" blurRad="177800" dist="38100" dir="5400000">
              <a:srgbClr val="8A8378">
                <a:alpha val="16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1005840" y="2084832"/>
            <a:ext cx="4572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A1A1A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receives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1005840" y="269748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extraction rules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005840" y="3264408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its own file path + line range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3831336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its own node's decimal + title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309360" y="1874520"/>
            <a:ext cx="5166360" cy="3108960"/>
          </a:xfrm>
          <a:prstGeom prst="roundRect">
            <a:avLst>
              <a:gd name="adj" fmla="val 2941"/>
            </a:avLst>
          </a:prstGeom>
          <a:solidFill>
            <a:srgbClr val="F0DFD8"/>
          </a:solidFill>
          <a:ln w="15875">
            <a:solidFill>
              <a:srgbClr val="B03A1E"/>
            </a:solidFill>
            <a:prstDash val="solid"/>
          </a:ln>
          <a:effectLst>
            <a:outerShdw sx="100000" sy="100000" kx="0" ky="0" algn="bl" rotWithShape="0" blurRad="177800" dist="38100" dir="5400000">
              <a:srgbClr val="8A8378">
                <a:alpha val="16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6629400" y="2084832"/>
            <a:ext cx="4572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B03A1E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denied</a:t>
            </a:r>
            <a:endParaRPr lang="en-US" sz="1900" dirty="0"/>
          </a:p>
        </p:txBody>
      </p:sp>
      <p:sp>
        <p:nvSpPr>
          <p:cNvPr id="12" name="Text 10"/>
          <p:cNvSpPr/>
          <p:nvPr/>
        </p:nvSpPr>
        <p:spPr>
          <a:xfrm>
            <a:off x="6629400" y="269748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every other node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29400" y="3264408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every other commentary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6629400" y="3831336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the tree-building instructions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685800" y="5349240"/>
            <a:ext cx="10789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50" dirty="0">
                <a:solidFill>
                  <a:srgbClr val="8A837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guards are structural, not disciplinary.</a:t>
            </a:r>
            <a:endParaRPr lang="en-US" sz="1450" dirty="0"/>
          </a:p>
        </p:txBody>
      </p:sp>
      <p:sp>
        <p:nvSpPr>
          <p:cNvPr id="16" name="Text 14"/>
          <p:cNvSpPr/>
          <p:nvPr/>
        </p:nvSpPr>
        <p:spPr>
          <a:xfrm>
            <a:off x="10881360" y="6327648"/>
            <a:ext cx="868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B8B2A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B3</a:t>
            </a:r>
            <a:endParaRPr lang="en-US" sz="9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AF6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274320"/>
            <a:ext cx="1371600" cy="384048"/>
          </a:xfrm>
          <a:prstGeom prst="roundRect">
            <a:avLst>
              <a:gd name="adj" fmla="val 50000"/>
            </a:avLst>
          </a:prstGeom>
          <a:solidFill>
            <a:srgbClr val="F3EDE4"/>
          </a:solidFill>
          <a:ln w="9525">
            <a:solidFill>
              <a:srgbClr val="B8B2A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85800" y="274320"/>
            <a:ext cx="1371600" cy="384048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37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Backup — B4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685800" y="868680"/>
            <a:ext cx="107899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A1A1A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Limitations, stated plainly</a:t>
            </a:r>
            <a:endParaRPr lang="en-US" sz="2900" dirty="0"/>
          </a:p>
        </p:txBody>
      </p:sp>
      <p:sp>
        <p:nvSpPr>
          <p:cNvPr id="5" name="Shape 3"/>
          <p:cNvSpPr/>
          <p:nvPr/>
        </p:nvSpPr>
        <p:spPr>
          <a:xfrm>
            <a:off x="749808" y="2020824"/>
            <a:ext cx="100584" cy="100584"/>
          </a:xfrm>
          <a:prstGeom prst="ellipse">
            <a:avLst/>
          </a:prstGeom>
          <a:solidFill>
            <a:srgbClr val="B03A1E"/>
          </a:solidFill>
          <a:ln/>
        </p:spPr>
      </p:sp>
      <p:sp>
        <p:nvSpPr>
          <p:cNvPr id="6" name="Text 4"/>
          <p:cNvSpPr/>
          <p:nvPr/>
        </p:nvSpPr>
        <p:spPr>
          <a:xfrm>
            <a:off x="1051560" y="1828800"/>
            <a:ext cx="10424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Sectarian skew: 7 of 16 commentaries are Geluk</a:t>
            </a:r>
            <a:endParaRPr lang="en-US" sz="1550" dirty="0"/>
          </a:p>
        </p:txBody>
      </p:sp>
      <p:sp>
        <p:nvSpPr>
          <p:cNvPr id="7" name="Shape 5"/>
          <p:cNvSpPr/>
          <p:nvPr/>
        </p:nvSpPr>
        <p:spPr>
          <a:xfrm>
            <a:off x="749808" y="2706624"/>
            <a:ext cx="100584" cy="100584"/>
          </a:xfrm>
          <a:prstGeom prst="ellipse">
            <a:avLst/>
          </a:prstGeom>
          <a:solidFill>
            <a:srgbClr val="B03A1E"/>
          </a:solidFill>
          <a:ln/>
        </p:spPr>
      </p:sp>
      <p:sp>
        <p:nvSpPr>
          <p:cNvPr id="8" name="Text 6"/>
          <p:cNvSpPr/>
          <p:nvPr/>
        </p:nvSpPr>
        <p:spPr>
          <a:xfrm>
            <a:off x="1051560" y="2514600"/>
            <a:ext cx="10424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praise genre yields zero reception-contested claims — due-weight machinery shown structurally, not adversarially</a:t>
            </a:r>
            <a:endParaRPr lang="en-US" sz="1550" dirty="0"/>
          </a:p>
        </p:txBody>
      </p:sp>
      <p:sp>
        <p:nvSpPr>
          <p:cNvPr id="9" name="Shape 7"/>
          <p:cNvSpPr/>
          <p:nvPr/>
        </p:nvSpPr>
        <p:spPr>
          <a:xfrm>
            <a:off x="749808" y="3392424"/>
            <a:ext cx="100584" cy="100584"/>
          </a:xfrm>
          <a:prstGeom prst="ellipse">
            <a:avLst/>
          </a:prstGeom>
          <a:solidFill>
            <a:srgbClr val="B03A1E"/>
          </a:solidFill>
          <a:ln/>
        </p:spPr>
      </p:sp>
      <p:sp>
        <p:nvSpPr>
          <p:cNvPr id="10" name="Text 8"/>
          <p:cNvSpPr/>
          <p:nvPr/>
        </p:nvSpPr>
        <p:spPr>
          <a:xfrm>
            <a:off x="1051560" y="3200400"/>
            <a:ext cx="10424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OCR quality bounds everything downstream</a:t>
            </a:r>
            <a:endParaRPr lang="en-US" sz="1550" dirty="0"/>
          </a:p>
        </p:txBody>
      </p:sp>
      <p:sp>
        <p:nvSpPr>
          <p:cNvPr id="11" name="Shape 9"/>
          <p:cNvSpPr/>
          <p:nvPr/>
        </p:nvSpPr>
        <p:spPr>
          <a:xfrm>
            <a:off x="749808" y="4078224"/>
            <a:ext cx="100584" cy="100584"/>
          </a:xfrm>
          <a:prstGeom prst="ellipse">
            <a:avLst/>
          </a:prstGeom>
          <a:solidFill>
            <a:srgbClr val="B03A1E"/>
          </a:solidFill>
          <a:ln/>
        </p:spPr>
      </p:sp>
      <p:sp>
        <p:nvSpPr>
          <p:cNvPr id="12" name="Text 10"/>
          <p:cNvSpPr/>
          <p:nvPr/>
        </p:nvSpPr>
        <p:spPr>
          <a:xfrm>
            <a:off x="1051560" y="3886200"/>
            <a:ext cx="10424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Articles are sic-faithful to their sources</a:t>
            </a:r>
            <a:endParaRPr lang="en-US" sz="1550" dirty="0"/>
          </a:p>
        </p:txBody>
      </p:sp>
      <p:sp>
        <p:nvSpPr>
          <p:cNvPr id="13" name="Shape 11"/>
          <p:cNvSpPr/>
          <p:nvPr/>
        </p:nvSpPr>
        <p:spPr>
          <a:xfrm>
            <a:off x="749808" y="4764024"/>
            <a:ext cx="100584" cy="100584"/>
          </a:xfrm>
          <a:prstGeom prst="ellipse">
            <a:avLst/>
          </a:prstGeom>
          <a:solidFill>
            <a:srgbClr val="B03A1E"/>
          </a:solidFill>
          <a:ln/>
        </p:spPr>
      </p:sp>
      <p:sp>
        <p:nvSpPr>
          <p:cNvPr id="14" name="Text 12"/>
          <p:cNvSpPr/>
          <p:nvPr/>
        </p:nvSpPr>
        <p:spPr>
          <a:xfrm>
            <a:off x="1051560" y="4572000"/>
            <a:ext cx="10424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 public citation URLs yet — no quotation is reader-checkable online</a:t>
            </a:r>
            <a:endParaRPr lang="en-US" sz="1550" dirty="0"/>
          </a:p>
        </p:txBody>
      </p:sp>
      <p:sp>
        <p:nvSpPr>
          <p:cNvPr id="15" name="Shape 13"/>
          <p:cNvSpPr/>
          <p:nvPr/>
        </p:nvSpPr>
        <p:spPr>
          <a:xfrm>
            <a:off x="749808" y="5449824"/>
            <a:ext cx="100584" cy="100584"/>
          </a:xfrm>
          <a:prstGeom prst="ellipse">
            <a:avLst/>
          </a:prstGeom>
          <a:solidFill>
            <a:srgbClr val="B03A1E"/>
          </a:solidFill>
          <a:ln/>
        </p:spPr>
      </p:sp>
      <p:sp>
        <p:nvSpPr>
          <p:cNvPr id="16" name="Text 14"/>
          <p:cNvSpPr/>
          <p:nvPr/>
        </p:nvSpPr>
        <p:spPr>
          <a:xfrm>
            <a:off x="1051560" y="5257800"/>
            <a:ext cx="10424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Claim-level judgements not yet human-validated</a:t>
            </a:r>
            <a:endParaRPr lang="en-US" sz="1550" dirty="0"/>
          </a:p>
        </p:txBody>
      </p:sp>
      <p:sp>
        <p:nvSpPr>
          <p:cNvPr id="17" name="Text 15"/>
          <p:cNvSpPr/>
          <p:nvPr/>
        </p:nvSpPr>
        <p:spPr>
          <a:xfrm>
            <a:off x="10881360" y="6327648"/>
            <a:ext cx="868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B8B2A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B4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AF6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274320"/>
            <a:ext cx="1371600" cy="384048"/>
          </a:xfrm>
          <a:prstGeom prst="roundRect">
            <a:avLst>
              <a:gd name="adj" fmla="val 50000"/>
            </a:avLst>
          </a:prstGeom>
          <a:solidFill>
            <a:srgbClr val="F3EDE4"/>
          </a:solidFill>
          <a:ln w="9525">
            <a:solidFill>
              <a:srgbClr val="B8B2A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85800" y="274320"/>
            <a:ext cx="1371600" cy="384048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37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Backup — B5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685800" y="1371600"/>
            <a:ext cx="107899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1A1A1A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Root text + commentaries + curated registry.</a:t>
            </a:r>
            <a:endParaRPr lang="en-US" sz="3100" dirty="0"/>
          </a:p>
        </p:txBody>
      </p:sp>
      <p:sp>
        <p:nvSpPr>
          <p:cNvPr id="5" name="Shape 3"/>
          <p:cNvSpPr/>
          <p:nvPr/>
        </p:nvSpPr>
        <p:spPr>
          <a:xfrm>
            <a:off x="685800" y="2560320"/>
            <a:ext cx="10817352" cy="960120"/>
          </a:xfrm>
          <a:prstGeom prst="round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E5E0D8"/>
            </a:solidFill>
            <a:prstDash val="solid"/>
          </a:ln>
          <a:effectLst>
            <a:outerShdw sx="100000" sy="100000" kx="0" ky="0" algn="bl" rotWithShape="0" blurRad="177800" dist="38100" dir="5400000">
              <a:srgbClr val="8A8378">
                <a:alpha val="16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1051560" y="2560320"/>
            <a:ext cx="102412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Bodhicaryāvatāra (10 commentaries) already prepared — and that corpus has real refutation exchanges.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685800" y="3749040"/>
            <a:ext cx="10817352" cy="960120"/>
          </a:xfrm>
          <a:prstGeom prst="roundRect">
            <a:avLst>
              <a:gd name="adj" fmla="val 9524"/>
            </a:avLst>
          </a:prstGeom>
          <a:solidFill>
            <a:srgbClr val="F3EDE4"/>
          </a:solidFill>
          <a:ln w="12700">
            <a:solidFill>
              <a:srgbClr val="E5E0D8"/>
            </a:solidFill>
            <a:prstDash val="solid"/>
          </a:ln>
          <a:effectLst>
            <a:outerShdw sx="100000" sy="100000" kx="0" ky="0" algn="bl" rotWithShape="0" blurRad="177800" dist="38100" dir="5400000">
              <a:srgbClr val="8A8378">
                <a:alpha val="16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1051560" y="3749040"/>
            <a:ext cx="102412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Same shape: Sanskrit, Pāli, classical Chinese scholasticism.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10881360" y="6327648"/>
            <a:ext cx="868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B8B2A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B5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32</Slides>
  <Notes>32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32</vt:i4>
      </vt:variant>
    </vt:vector>
  </HeadingPairs>
  <TitlesOfParts>
    <vt:vector size="3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Expanding the Digital Footprint of Tibetan</dc:title>
  <dc:subject>PptxGenJS Presentation</dc:subject>
  <dc:creator>PptxGenJS</dc:creator>
  <cp:lastModifiedBy>PptxGenJS</cp:lastModifiedBy>
  <cp:revision>1</cp:revision>
  <dcterms:created xsi:type="dcterms:W3CDTF">2026-08-22T18:07:54Z</dcterms:created>
  <dcterms:modified xsi:type="dcterms:W3CDTF">2026-08-22T18:07:54Z</dcterms:modified>
</cp:coreProperties>
</file>