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2194560"/>
            <a:ext cx="8229600" cy="6583680"/>
          </a:xfrm>
          <a:prstGeom prst="ellipse">
            <a:avLst/>
          </a:prstGeom>
          <a:solidFill>
            <a:srgbClr val="352A20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108960"/>
            <a:ext cx="7315200" cy="5852160"/>
          </a:xfrm>
          <a:prstGeom prst="ellipse">
            <a:avLst/>
          </a:prstGeom>
          <a:solidFill>
            <a:srgbClr val="352A20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0D8">
              <a:alpha val="12000"/>
            </a:srgbClr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48840"/>
            <a:ext cx="1036015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spc="-40" kern="0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Expanding the Digital Footprint of Tibetan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645920" y="3474720"/>
            <a:ext cx="88971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semi-automatic pipeline for Wikipedia article generation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498848" y="4315968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352A20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98848" y="4315968"/>
            <a:ext cx="32004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6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640080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IMG-01 — darkened pecha photograph (replace, full-bleed)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858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0" b="1" spc="-300" kern="0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7,000,000</a:t>
            </a:r>
            <a:endParaRPr lang="en-US" sz="13800" dirty="0"/>
          </a:p>
        </p:txBody>
      </p:sp>
      <p:sp>
        <p:nvSpPr>
          <p:cNvPr id="3" name="Text 1"/>
          <p:cNvSpPr/>
          <p:nvPr/>
        </p:nvSpPr>
        <p:spPr>
          <a:xfrm>
            <a:off x="457200" y="2487168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8A837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SPEAKERS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3429000"/>
            <a:ext cx="112745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0" b="1" spc="-300" kern="0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8,073</a:t>
            </a:r>
            <a:endParaRPr lang="en-US" sz="13800" dirty="0"/>
          </a:p>
        </p:txBody>
      </p:sp>
      <p:sp>
        <p:nvSpPr>
          <p:cNvPr id="5" name="Text 3"/>
          <p:cNvSpPr/>
          <p:nvPr/>
        </p:nvSpPr>
        <p:spPr>
          <a:xfrm>
            <a:off x="457200" y="5230368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spc="600" kern="0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ARTICLES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Welsh: 91,000 → 280,000+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1704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government policy, 2017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Welsh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88920" y="1965960"/>
            <a:ext cx="999309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6" name="Text 4"/>
          <p:cNvSpPr/>
          <p:nvPr/>
        </p:nvSpPr>
        <p:spPr>
          <a:xfrm>
            <a:off x="3897957" y="19568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850,000 speakers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2331720"/>
            <a:ext cx="329184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8" name="Text 6"/>
          <p:cNvSpPr/>
          <p:nvPr/>
        </p:nvSpPr>
        <p:spPr>
          <a:xfrm>
            <a:off x="3227832" y="232257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280,000 articles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31546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Basque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88920" y="3063240"/>
            <a:ext cx="88174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1" name="Text 9"/>
          <p:cNvSpPr/>
          <p:nvPr/>
        </p:nvSpPr>
        <p:spPr>
          <a:xfrm>
            <a:off x="3780391" y="30540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750,000 speakers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88920" y="3429000"/>
            <a:ext cx="47026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3" name="Text 11"/>
          <p:cNvSpPr/>
          <p:nvPr/>
        </p:nvSpPr>
        <p:spPr>
          <a:xfrm>
            <a:off x="3368911" y="341985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~400,000 articles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2519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Estonian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88920" y="4160520"/>
            <a:ext cx="1293223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191871" y="415137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1,100,000 speakers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88920" y="4526280"/>
            <a:ext cx="293914" cy="292608"/>
          </a:xfrm>
          <a:prstGeom prst="roundRect">
            <a:avLst>
              <a:gd name="adj" fmla="val 15625"/>
            </a:avLst>
          </a:prstGeom>
          <a:solidFill>
            <a:srgbClr val="B8B2A8"/>
          </a:solidFill>
          <a:ln/>
        </p:spPr>
      </p:sp>
      <p:sp>
        <p:nvSpPr>
          <p:cNvPr id="18" name="Text 16"/>
          <p:cNvSpPr/>
          <p:nvPr/>
        </p:nvSpPr>
        <p:spPr>
          <a:xfrm>
            <a:off x="3192562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~250,000 articles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056632"/>
            <a:ext cx="11109960" cy="1115568"/>
          </a:xfrm>
          <a:prstGeom prst="roundRect">
            <a:avLst>
              <a:gd name="adj" fmla="val 5738"/>
            </a:avLst>
          </a:prstGeom>
          <a:solidFill>
            <a:srgbClr val="F0DFD8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53492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788920" y="5257800"/>
            <a:ext cx="8229600" cy="292608"/>
          </a:xfrm>
          <a:prstGeom prst="roundRect">
            <a:avLst>
              <a:gd name="adj" fmla="val 15625"/>
            </a:avLst>
          </a:prstGeom>
          <a:solidFill>
            <a:srgbClr val="B03A1E"/>
          </a:solidFill>
          <a:ln/>
        </p:spPr>
      </p:sp>
      <p:sp>
        <p:nvSpPr>
          <p:cNvPr id="22" name="Text 20"/>
          <p:cNvSpPr/>
          <p:nvPr/>
        </p:nvSpPr>
        <p:spPr>
          <a:xfrm>
            <a:off x="11128248" y="524865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7,000,000 speakers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88920" y="5623560"/>
            <a:ext cx="45720" cy="292608"/>
          </a:xfrm>
          <a:prstGeom prst="roundRect">
            <a:avLst>
              <a:gd name="adj" fmla="val 100000"/>
            </a:avLst>
          </a:prstGeom>
          <a:solidFill>
            <a:srgbClr val="B03A1E"/>
          </a:solidFill>
          <a:ln/>
        </p:spPr>
      </p:sp>
      <p:sp>
        <p:nvSpPr>
          <p:cNvPr id="24" name="Text 22"/>
          <p:cNvSpPr/>
          <p:nvPr/>
        </p:nvSpPr>
        <p:spPr>
          <a:xfrm>
            <a:off x="2944368" y="561441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8,073 articles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Below the coin-toss line.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892040" y="4606290"/>
            <a:ext cx="6035040" cy="925830"/>
          </a:xfrm>
          <a:prstGeom prst="roundRect">
            <a:avLst>
              <a:gd name="adj" fmla="val 3951"/>
            </a:avLst>
          </a:prstGeom>
          <a:solidFill>
            <a:srgbClr val="F0DFD8"/>
          </a:solidFill>
          <a:ln/>
        </p:spPr>
      </p:sp>
      <p:sp>
        <p:nvSpPr>
          <p:cNvPr id="4" name="Shape 2"/>
          <p:cNvSpPr/>
          <p:nvPr/>
        </p:nvSpPr>
        <p:spPr>
          <a:xfrm>
            <a:off x="2514600" y="2395408"/>
            <a:ext cx="1554480" cy="3136712"/>
          </a:xfrm>
          <a:prstGeom prst="roundRect">
            <a:avLst>
              <a:gd name="adj" fmla="val 3529"/>
            </a:avLst>
          </a:prstGeom>
          <a:solidFill>
            <a:srgbClr val="B8B2A8"/>
          </a:solidFill>
          <a:ln/>
        </p:spPr>
      </p:sp>
      <p:sp>
        <p:nvSpPr>
          <p:cNvPr id="5" name="Text 3"/>
          <p:cNvSpPr/>
          <p:nvPr/>
        </p:nvSpPr>
        <p:spPr>
          <a:xfrm>
            <a:off x="2148840" y="1983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84.7%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920240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Chinese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21808" y="4884039"/>
            <a:ext cx="1554480" cy="648081"/>
          </a:xfrm>
          <a:prstGeom prst="roundRect">
            <a:avLst>
              <a:gd name="adj" fmla="val 8466"/>
            </a:avLst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4956048" y="4472559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17.5%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27448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GPT-4 — Tibetan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9016" y="4921072"/>
            <a:ext cx="1554480" cy="611048"/>
          </a:xfrm>
          <a:prstGeom prst="roundRect">
            <a:avLst>
              <a:gd name="adj" fmla="val 8979"/>
            </a:avLst>
          </a:prstGeom>
          <a:solidFill>
            <a:srgbClr val="B03A1E"/>
          </a:solidFill>
          <a:ln/>
        </p:spPr>
      </p:sp>
      <p:sp>
        <p:nvSpPr>
          <p:cNvPr id="11" name="Text 9"/>
          <p:cNvSpPr/>
          <p:nvPr/>
        </p:nvSpPr>
        <p:spPr>
          <a:xfrm>
            <a:off x="7763256" y="4509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16.5%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534656" y="56601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Tibetan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103120" y="4606290"/>
            <a:ext cx="89611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9006840" y="4222242"/>
            <a:ext cx="2057400" cy="365760"/>
          </a:xfrm>
          <a:prstGeom prst="roundRect">
            <a:avLst>
              <a:gd name="adj" fmla="val 50000"/>
            </a:avLst>
          </a:prstGeom>
          <a:solidFill>
            <a:srgbClr val="FAF6F0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4222242"/>
            <a:ext cx="205740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random guessing — 25%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 ≈ 4× the tokens of Chinese per unit of text (Petrov et al. 2023)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73352" y="2084832"/>
            <a:ext cx="2414016" cy="2414016"/>
          </a:xfrm>
          <a:prstGeom prst="ellipse">
            <a:avLst/>
          </a:prstGeom>
          <a:ln w="63500">
            <a:solidFill>
              <a:srgbClr val="B8B2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01584" y="2084832"/>
            <a:ext cx="2414016" cy="2414016"/>
          </a:xfrm>
          <a:prstGeom prst="ellipse">
            <a:avLst/>
          </a:prstGeom>
          <a:ln w="63500">
            <a:solidFill>
              <a:srgbClr val="B03A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2743200" y="1947672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5" name="Shape 3"/>
          <p:cNvSpPr/>
          <p:nvPr/>
        </p:nvSpPr>
        <p:spPr>
          <a:xfrm rot="-5400000">
            <a:off x="3950208" y="3154680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0" y="4361688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536192" y="3154680"/>
            <a:ext cx="274320" cy="274320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9171432" y="1947672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10378440" y="3154680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9171432" y="4361688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1" name="Shape 9"/>
          <p:cNvSpPr/>
          <p:nvPr/>
        </p:nvSpPr>
        <p:spPr>
          <a:xfrm rot="-5400000">
            <a:off x="7964424" y="3154680"/>
            <a:ext cx="274320" cy="274320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124358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articles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33672" y="29489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little training 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46360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can't serve the language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" y="29489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people write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54112" y="124358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 articles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61904" y="294894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footprint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88352" y="463600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tools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0" y="29489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articles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94376" y="2944368"/>
            <a:ext cx="1609344" cy="713232"/>
          </a:xfrm>
          <a:prstGeom prst="roundRect">
            <a:avLst>
              <a:gd name="adj" fmla="val 50000"/>
            </a:avLst>
          </a:prstGeom>
          <a:solidFill>
            <a:srgbClr val="F7EAD0"/>
          </a:solidFill>
          <a:ln w="15875">
            <a:solidFill>
              <a:srgbClr val="D9A44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94376" y="2944368"/>
            <a:ext cx="1609344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D9A4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6053328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loop. Only the sign differs.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3392424" cy="49377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4398264" y="685800"/>
            <a:ext cx="3392424" cy="49377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110728" y="685800"/>
            <a:ext cx="3392424" cy="4937760"/>
          </a:xfrm>
          <a:prstGeom prst="roundRect">
            <a:avLst>
              <a:gd name="adj" fmla="val 2695"/>
            </a:avLst>
          </a:prstGeom>
          <a:solidFill>
            <a:srgbClr val="F0DFD8"/>
          </a:solidFill>
          <a:ln w="2222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092" y="1069848"/>
            <a:ext cx="1005840" cy="1005840"/>
          </a:xfrm>
          <a:prstGeom prst="ellipse">
            <a:avLst/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9092" y="106984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✋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591556" y="1069848"/>
            <a:ext cx="1005840" cy="1005840"/>
          </a:xfrm>
          <a:prstGeom prst="ellipse">
            <a:avLst/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91556" y="106984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🤖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9304020" y="1069848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04020" y="106984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✅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By hand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85800" y="2807208"/>
            <a:ext cx="3392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slow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98264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Unsupervised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26864" y="2770632"/>
            <a:ext cx="293522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Scots · Cebuano · Greenlandic (closed, 2025)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672584" y="3474720"/>
            <a:ext cx="2843784" cy="1828800"/>
          </a:xfrm>
          <a:prstGeom prst="roundRect">
            <a:avLst>
              <a:gd name="adj" fmla="val 4500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72584" y="3474720"/>
            <a:ext cx="2843784" cy="1828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Greenlandic Wikipedia closure notice (or Scots controversy headline)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110728" y="228600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Supervised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8110728" y="2807208"/>
            <a:ext cx="3392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talk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989320"/>
            <a:ext cx="108173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Translation — machine draft + mandatory human edit — shows lower deletion rates across 2.4M+ creations.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100,000 articles, at the observed rate: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12252960" cy="713232"/>
          </a:xfrm>
          <a:prstGeom prst="roundRect">
            <a:avLst>
              <a:gd name="adj" fmla="val 10256"/>
            </a:avLst>
          </a:prstGeom>
          <a:solidFill>
            <a:srgbClr val="B8B2A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340864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~285 years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965960" cy="713232"/>
          </a:xfrm>
          <a:prstGeom prst="roundRect">
            <a:avLst>
              <a:gd name="adj" fmla="val 10256"/>
            </a:avLst>
          </a:prstGeom>
          <a:solidFill>
            <a:srgbClr val="B03A1E"/>
          </a:solidFill>
          <a:ln/>
        </p:spPr>
      </p:sp>
      <p:sp>
        <p:nvSpPr>
          <p:cNvPr id="6" name="Text 4"/>
          <p:cNvSpPr/>
          <p:nvPr/>
        </p:nvSpPr>
        <p:spPr>
          <a:xfrm>
            <a:off x="3017520" y="3666744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24–48 person-years — this pipeline, review-bound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983480"/>
            <a:ext cx="67665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498348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Dzongkha program (manual, funded): 80 articles in 5 months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is the apprentice.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harness is the workshop.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85800" y="1828800"/>
            <a:ext cx="6720840" cy="4297680"/>
          </a:xfrm>
          <a:prstGeom prst="roundRect">
            <a:avLst>
              <a:gd name="adj" fmla="val 191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28800"/>
            <a:ext cx="6720840" cy="4297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 illustration: workbench + racked tools + rulebook + in/out-tray — "the harness"; figure at the bench — "the agent"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635240" y="1828800"/>
            <a:ext cx="3867912" cy="4297680"/>
          </a:xfrm>
          <a:prstGeom prst="roundRect">
            <a:avLst>
              <a:gd name="adj" fmla="val 2364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82128" y="32461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         judgement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tools      read · write · run · search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context    what it may see, per call</a:t>
            </a:r>
            <a:endParaRPr lang="en-US" sz="11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└ rules      what it must do, per 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11,251 lines of written-down method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doesn't know the procedure. It loads it.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074920" cy="4069080"/>
          </a:xfrm>
          <a:prstGeom prst="roundRect">
            <a:avLst>
              <a:gd name="adj" fmla="val 2247"/>
            </a:avLst>
          </a:prstGeom>
          <a:solidFill>
            <a:srgbClr val="201812"/>
          </a:solidFill>
          <a:ln/>
          <a:effectLst>
            <a:outerShdw sx="100000" sy="100000" kx="0" ky="0" algn="bl" rotWithShape="0" blurRad="177800" dist="38100" dir="5400000">
              <a:srgbClr val="8A837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FE39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FD1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6596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55A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15968" y="2834640"/>
            <a:ext cx="1207008" cy="1627632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228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 rot="5400000">
            <a:off x="5212080" y="2843784"/>
            <a:ext cx="292608" cy="292608"/>
          </a:xfrm>
          <a:prstGeom prst="triangle">
            <a:avLst/>
          </a:prstGeom>
          <a:solidFill>
            <a:srgbClr val="E5E0D8"/>
          </a:solidFill>
          <a:ln/>
        </p:spPr>
      </p:sp>
      <p:sp>
        <p:nvSpPr>
          <p:cNvPr id="12" name="Text 10"/>
          <p:cNvSpPr/>
          <p:nvPr/>
        </p:nvSpPr>
        <p:spPr>
          <a:xfrm>
            <a:off x="4315968" y="3858768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SKILL.md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30952" cy="4069080"/>
          </a:xfrm>
          <a:prstGeom prst="roundRect">
            <a:avLst>
              <a:gd name="adj" fmla="val 2022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828800"/>
            <a:ext cx="5330952" cy="4069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IMG-04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the vault's 4-SYSTEM/Skills/ folder listing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03320" y="868680"/>
            <a:ext cx="4800600" cy="3931920"/>
          </a:xfrm>
          <a:prstGeom prst="roundRect">
            <a:avLst>
              <a:gd name="adj" fmla="val 2093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03320" y="868680"/>
            <a:ext cx="4800600" cy="3931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tree-guided-claims/SKILL.md collapsed to its section headings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reasoning, and the failure it answers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493008" y="144018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139446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488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contract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93008" y="249174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244602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06324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rules 1…16 — each traceable to a real defect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93008" y="340614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7288" y="336042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0" y="1600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procedure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503920" y="194310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68512" y="189738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0" y="269748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deterministic backstop (scripts/verify_*.py)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503920" y="3040380"/>
            <a:ext cx="210312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2994660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9" name="Shape 17"/>
          <p:cNvSpPr/>
          <p:nvPr/>
        </p:nvSpPr>
        <p:spPr>
          <a:xfrm>
            <a:off x="3291840" y="5074920"/>
            <a:ext cx="5605272" cy="65836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E5E0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5074920"/>
            <a:ext cx="5605272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carry scripts · 44 scripts total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 is a text file. A scholar can read it, disagree, and edit it.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rule is a scar.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60120" y="1600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806440" y="16002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0116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claim_count is computed by counting — never inherited.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504688" y="25603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5806440" y="20116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114 of 118 strings byte-identical to the earlier “independent” run.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3832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 is re-read, not remembered.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504688" y="39319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33832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idea, wrong claim ID — the audit's one critical finding.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754880"/>
            <a:ext cx="10817352" cy="1207008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27000" dist="25400" dir="5400000">
              <a:srgbClr val="8A8378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754880"/>
            <a:ext cx="44805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are computed, never hand-tallied.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504688" y="5303520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5806440" y="475488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 “(N commentaries)” labels wrong on the worst pilot page.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judges, the script verifies · isolation over context · nothing interpretive touches the source layer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judges. The script verifies.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script has the final say.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 rot="10800000">
            <a:off x="1828800" y="1737360"/>
            <a:ext cx="1417320" cy="896112"/>
          </a:xfrm>
          <a:prstGeom prst="trapezoid">
            <a:avLst/>
          </a:prstGeom>
          <a:solidFill>
            <a:srgbClr val="B8B2A8"/>
          </a:solidFill>
          <a:ln/>
        </p:spPr>
      </p:sp>
      <p:sp>
        <p:nvSpPr>
          <p:cNvPr id="4" name="Shape 2"/>
          <p:cNvSpPr/>
          <p:nvPr/>
        </p:nvSpPr>
        <p:spPr>
          <a:xfrm>
            <a:off x="3474720" y="2212848"/>
            <a:ext cx="960120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617720" y="1810512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937760" y="2057400"/>
            <a:ext cx="566928" cy="566928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>
            <a:off x="5650992" y="2194560"/>
            <a:ext cx="420624" cy="420624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6291072" y="1572768"/>
            <a:ext cx="1078992" cy="402336"/>
          </a:xfrm>
          <a:prstGeom prst="roundRect">
            <a:avLst>
              <a:gd name="adj" fmla="val 11364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73368" y="1719072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Shape 8"/>
          <p:cNvSpPr/>
          <p:nvPr/>
        </p:nvSpPr>
        <p:spPr>
          <a:xfrm>
            <a:off x="7205472" y="1719072"/>
            <a:ext cx="91440" cy="91440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1" name="Text 9"/>
          <p:cNvSpPr/>
          <p:nvPr/>
        </p:nvSpPr>
        <p:spPr>
          <a:xfrm>
            <a:off x="6144768" y="1188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rule-plate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0" y="2212848"/>
            <a:ext cx="960120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641080" y="1874520"/>
            <a:ext cx="1508760" cy="804672"/>
          </a:xfrm>
          <a:prstGeom prst="parallelogram">
            <a:avLst/>
          </a:prstGeom>
          <a:solidFill>
            <a:srgbClr val="B8B2A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1089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input → same output, every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45352" y="3703320"/>
            <a:ext cx="5257800" cy="2148840"/>
          </a:xfrm>
          <a:prstGeom prst="roundRect">
            <a:avLst>
              <a:gd name="adj" fmla="val 4255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Judgement (model)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Machine (script)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60120" y="44074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announcement, or prose?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48646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this gloss say blue or clear-hued?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60120" y="53218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commentaries actually disagree?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19672" y="44074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string appear character-for-character?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19672" y="48646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claim counts recompute?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532180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one disposition per claim?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bypass flag exists. We deliberately did not build an override.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budgets its answer against the size of the question.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02920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355080" y="1463040"/>
            <a:ext cx="5029200" cy="4251960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passages returned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62940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characters returned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691640" y="365760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B8B2A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3246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28016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11880" y="2286000"/>
            <a:ext cx="1371600" cy="2743200"/>
          </a:xfrm>
          <a:prstGeom prst="roundRect">
            <a:avLst>
              <a:gd name="adj" fmla="val 4000"/>
            </a:avLst>
          </a:prstGeom>
          <a:solidFill>
            <a:srgbClr val="B03A1E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20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20040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223760" y="4570775"/>
            <a:ext cx="1371600" cy="458425"/>
          </a:xfrm>
          <a:prstGeom prst="roundRect">
            <a:avLst>
              <a:gd name="adj" fmla="val 11968"/>
            </a:avLst>
          </a:prstGeom>
          <a:solidFill>
            <a:srgbClr val="B8B2A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0" y="415929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873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0" y="2286000"/>
            <a:ext cx="1371600" cy="2743200"/>
          </a:xfrm>
          <a:prstGeom prst="roundRect">
            <a:avLst>
              <a:gd name="adj" fmla="val 4000"/>
            </a:avLst>
          </a:prstGeom>
          <a:solidFill>
            <a:srgbClr val="B03A1E"/>
          </a:solidFill>
          <a:ln/>
        </p:spPr>
      </p:sp>
      <p:sp>
        <p:nvSpPr>
          <p:cNvPr id="17" name="Text 15"/>
          <p:cNvSpPr/>
          <p:nvPr/>
        </p:nvSpPr>
        <p:spPr>
          <a:xfrm>
            <a:off x="8869680" y="18745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5,224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732520" y="51389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model, same prompt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capture rates before the fix: 45% · 19% · 1.1%. The fix is architectural — one isolated call per outline node.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127248" y="77724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commentaries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5361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582,332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127248" y="15361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Tibetan characters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29514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3,268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127248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citable blocks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305409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127248" y="305409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outline nodes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3813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127248" y="38130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claims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85800" y="4846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Sakya · Geluk · Jonang · Nyingma · Kagyü · Sūryagupta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46520" y="777240"/>
            <a:ext cx="5029200" cy="4434840"/>
          </a:xfrm>
          <a:prstGeom prst="roundRect">
            <a:avLst>
              <a:gd name="adj" fmla="val 1856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777240"/>
            <a:ext cx="5029200" cy="4434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IMG-06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root verse 3 in large Uchen, block ID ^1-3 visible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verse, one commentary, all the way to a finished article.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34440"/>
            <a:ext cx="2496312" cy="320040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234440"/>
            <a:ext cx="2496312" cy="3200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BDRC scan page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49808" y="100584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56432" y="1234440"/>
            <a:ext cx="2496312" cy="320040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56432" y="1234440"/>
            <a:ext cx="2496312" cy="3200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raw OCR output, visibly messy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100584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27064" y="1234440"/>
            <a:ext cx="2496312" cy="320040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27064" y="1234440"/>
            <a:ext cx="2496312" cy="3200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cleaned text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91072" y="100584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9107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234440"/>
            <a:ext cx="2496312" cy="3200400"/>
          </a:xfrm>
          <a:prstGeom prst="roundRect">
            <a:avLst>
              <a:gd name="adj" fmla="val 329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97696" y="1234440"/>
            <a:ext cx="2496312" cy="3200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IMG-07d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block-addressed text, ^0-23 … ^0-27 visible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61704" y="1005840"/>
            <a:ext cx="457200" cy="457200"/>
          </a:xfrm>
          <a:prstGeom prst="ellipse">
            <a:avLst/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6170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800600"/>
            <a:ext cx="10817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OCR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58064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footnote pointing at a file is a promise. Pointing at a block is an address.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37 nodes · 7 levels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13232" y="1143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21 leaves under “extended explanation” come out at exactly 21.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915400" y="502920"/>
            <a:ext cx="2587752" cy="566928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15400" y="502920"/>
            <a:ext cx="2587752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Recovered, not imposed.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0817352" cy="4297680"/>
          </a:xfrm>
          <a:prstGeom prst="roundRect">
            <a:avLst>
              <a:gd name="adj" fmla="val 191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83080"/>
            <a:ext cx="10817352" cy="4297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IMG-08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Gendün Drub's full sa-bcad tree, one branch highlighted down to 2.2.2.2.1.1.2 (highlight in accent)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 claims · one fact · one type · one address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07008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07008"/>
            <a:ext cx="132588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etymology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2212848" y="120700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12848" y="1207008"/>
            <a:ext cx="137160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word-gloss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785616" y="120700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85616" y="1207008"/>
            <a:ext cx="146304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iconography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49824" y="1207008"/>
            <a:ext cx="164592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824" y="1207008"/>
            <a:ext cx="164592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identification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296912" y="1207008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207008"/>
            <a:ext cx="128016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doctrinal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78240" y="1207008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207008"/>
            <a:ext cx="132588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structural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rot="-180000">
            <a:off x="2331720" y="2148840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 rot="180000">
            <a:off x="6675120" y="2258568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 rot="-60000">
            <a:off x="4526280" y="2194560"/>
            <a:ext cx="42062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691640" y="2423160"/>
            <a:ext cx="4251960" cy="2788920"/>
          </a:xfrm>
          <a:prstGeom prst="roundRect">
            <a:avLst>
              <a:gd name="adj" fmla="val 295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2423160"/>
            <a:ext cx="4251960" cy="2788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card: verbatim Tibetan + gloss + Type + Cite → ^0-26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2606040"/>
            <a:ext cx="4251960" cy="2788920"/>
          </a:xfrm>
          <a:prstGeom prst="roundRect">
            <a:avLst>
              <a:gd name="adj" fmla="val 295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606040"/>
            <a:ext cx="4251960" cy="2788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second claim card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call per node. It cannot file under the wrong node, and cannot import from a commentary it was never shown.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8× spread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315200" y="502920"/>
            <a:ext cx="4206240" cy="676656"/>
          </a:xfrm>
          <a:prstGeom prst="roundRect">
            <a:avLst>
              <a:gd name="adj" fmla="val 20270"/>
            </a:avLst>
          </a:prstGeom>
          <a:solidFill>
            <a:srgbClr val="F0DFD8"/>
          </a:solidFill>
          <a:ln w="19050">
            <a:solidFill>
              <a:srgbClr val="B03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0" y="502920"/>
            <a:ext cx="420624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outline nodes per commentary: 2 → 120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160" y="132588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claims per 10,000 characters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650492"/>
            <a:ext cx="10972800" cy="265176"/>
          </a:xfrm>
          <a:prstGeom prst="roundRect">
            <a:avLst>
              <a:gd name="adj" fmla="val 17241"/>
            </a:avLst>
          </a:prstGeom>
          <a:solidFill>
            <a:srgbClr val="F0DFD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5506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karma-maitri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1691640"/>
            <a:ext cx="7589520" cy="182880"/>
          </a:xfrm>
          <a:prstGeom prst="roundRect">
            <a:avLst>
              <a:gd name="adj" fmla="val 15000"/>
            </a:avLst>
          </a:prstGeom>
          <a:solidFill>
            <a:srgbClr val="B03A1E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0" y="16550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191566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taranatha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0" y="1952244"/>
            <a:ext cx="4864002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2" name="Text 10"/>
          <p:cNvSpPr/>
          <p:nvPr/>
        </p:nvSpPr>
        <p:spPr>
          <a:xfrm>
            <a:off x="7698642" y="19156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17627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drakpa-gyaltsen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0" y="2212848"/>
            <a:ext cx="465434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5" name="Text 13"/>
          <p:cNvSpPr/>
          <p:nvPr/>
        </p:nvSpPr>
        <p:spPr>
          <a:xfrm>
            <a:off x="7488987" y="21762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40080" y="243687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lobsang-dawa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0" y="2473452"/>
            <a:ext cx="3648001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82641" y="24368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87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2697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dharmabhadra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0" y="2734056"/>
            <a:ext cx="3396415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1" name="Text 19"/>
          <p:cNvSpPr/>
          <p:nvPr/>
        </p:nvSpPr>
        <p:spPr>
          <a:xfrm>
            <a:off x="6231055" y="26974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81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295808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gendun-drub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0" y="2994660"/>
            <a:ext cx="2725518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4" name="Text 22"/>
          <p:cNvSpPr/>
          <p:nvPr/>
        </p:nvSpPr>
        <p:spPr>
          <a:xfrm>
            <a:off x="5560158" y="29580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" y="321868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sungrab-tulku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0" y="3255264"/>
            <a:ext cx="2473932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27" name="Text 25"/>
          <p:cNvSpPr/>
          <p:nvPr/>
        </p:nvSpPr>
        <p:spPr>
          <a:xfrm>
            <a:off x="5308572" y="32186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347929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gendun-gyatso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0" y="3515868"/>
            <a:ext cx="2348139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0" name="Text 28"/>
          <p:cNvSpPr/>
          <p:nvPr/>
        </p:nvSpPr>
        <p:spPr>
          <a:xfrm>
            <a:off x="5182779" y="34792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373989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pema-namgyal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743200" y="3776472"/>
            <a:ext cx="2348139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182779" y="37398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40080" y="400050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konchok-thabkhe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0" y="4037076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6" name="Text 34"/>
          <p:cNvSpPr/>
          <p:nvPr/>
        </p:nvSpPr>
        <p:spPr>
          <a:xfrm>
            <a:off x="5098917" y="40005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0080" y="426110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yama-sonam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0" y="4297680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39" name="Text 37"/>
          <p:cNvSpPr/>
          <p:nvPr/>
        </p:nvSpPr>
        <p:spPr>
          <a:xfrm>
            <a:off x="5098917" y="42611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0080" y="4521708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tenga-tulku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743200" y="4558284"/>
            <a:ext cx="2264277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2" name="Text 40"/>
          <p:cNvSpPr/>
          <p:nvPr/>
        </p:nvSpPr>
        <p:spPr>
          <a:xfrm>
            <a:off x="5098917" y="45217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0080" y="4782312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sangye-nyentrul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0" y="4818888"/>
            <a:ext cx="2138484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5" name="Text 43"/>
          <p:cNvSpPr/>
          <p:nvPr/>
        </p:nvSpPr>
        <p:spPr>
          <a:xfrm>
            <a:off x="4973124" y="47823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40080" y="5042916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tenzin-dhonzang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743200" y="5079492"/>
            <a:ext cx="1928828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48" name="Text 46"/>
          <p:cNvSpPr/>
          <p:nvPr/>
        </p:nvSpPr>
        <p:spPr>
          <a:xfrm>
            <a:off x="4763468" y="50429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40080" y="530352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palden-sherab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743200" y="5340096"/>
            <a:ext cx="1425656" cy="182880"/>
          </a:xfrm>
          <a:prstGeom prst="roundRect">
            <a:avLst>
              <a:gd name="adj" fmla="val 15000"/>
            </a:avLst>
          </a:prstGeom>
          <a:solidFill>
            <a:srgbClr val="B8B2A8"/>
          </a:solidFill>
          <a:ln/>
        </p:spPr>
      </p:sp>
      <p:sp>
        <p:nvSpPr>
          <p:cNvPr id="51" name="Text 49"/>
          <p:cNvSpPr/>
          <p:nvPr/>
        </p:nvSpPr>
        <p:spPr>
          <a:xfrm>
            <a:off x="4260296" y="5303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66928" y="5559552"/>
            <a:ext cx="10972800" cy="265176"/>
          </a:xfrm>
          <a:prstGeom prst="roundRect">
            <a:avLst>
              <a:gd name="adj" fmla="val 17241"/>
            </a:avLst>
          </a:prstGeom>
          <a:solidFill>
            <a:srgbClr val="F0DFD8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5564124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tsultrim-namdak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743200" y="5600700"/>
            <a:ext cx="964414" cy="182880"/>
          </a:xfrm>
          <a:prstGeom prst="roundRect">
            <a:avLst>
              <a:gd name="adj" fmla="val 15000"/>
            </a:avLst>
          </a:prstGeom>
          <a:solidFill>
            <a:srgbClr val="B03A1E"/>
          </a:solidFill>
          <a:ln/>
        </p:spPr>
      </p:sp>
      <p:sp>
        <p:nvSpPr>
          <p:cNvPr id="55" name="Text 53"/>
          <p:cNvSpPr/>
          <p:nvPr/>
        </p:nvSpPr>
        <p:spPr>
          <a:xfrm>
            <a:off x="3799054" y="55641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word-commentary is dense. An expansive exegesis with ritual appendices is not.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commentary numbered its own way. One shared coordinate system.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737360" y="1737360"/>
            <a:ext cx="-777240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37360" y="1737360"/>
            <a:ext cx="-256032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1737360"/>
            <a:ext cx="256032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737360"/>
            <a:ext cx="777240" cy="54864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64208" y="166420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886968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9" name="Shape 7"/>
          <p:cNvSpPr/>
          <p:nvPr/>
        </p:nvSpPr>
        <p:spPr>
          <a:xfrm>
            <a:off x="1408176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0" name="Shape 8"/>
          <p:cNvSpPr/>
          <p:nvPr/>
        </p:nvSpPr>
        <p:spPr>
          <a:xfrm>
            <a:off x="1920240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1" name="Shape 9"/>
          <p:cNvSpPr/>
          <p:nvPr/>
        </p:nvSpPr>
        <p:spPr>
          <a:xfrm>
            <a:off x="2441448" y="2212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4440" y="306324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54480" y="342900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794760"/>
            <a:ext cx="320040" cy="36576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61288" y="299008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1481328" y="33558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1801368" y="372160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2121408" y="4087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1737360" y="4800600"/>
            <a:ext cx="-548640" cy="50292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37360" y="4800600"/>
            <a:ext cx="548640" cy="50292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5303520"/>
            <a:ext cx="-320040" cy="45720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88720" y="5303520"/>
            <a:ext cx="320040" cy="457200"/>
          </a:xfrm>
          <a:prstGeom prst="line">
            <a:avLst/>
          </a:prstGeom>
          <a:noFill/>
          <a:ln w="15875">
            <a:solidFill>
              <a:srgbClr val="B8B2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4208" y="472744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5568" y="5230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2212848" y="52303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795528" y="56875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35608" y="5687568"/>
            <a:ext cx="146304" cy="146304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8" name="Shape 26"/>
          <p:cNvSpPr/>
          <p:nvPr/>
        </p:nvSpPr>
        <p:spPr>
          <a:xfrm>
            <a:off x="2880360" y="2103120"/>
            <a:ext cx="6263640" cy="960120"/>
          </a:xfrm>
          <a:prstGeom prst="line">
            <a:avLst/>
          </a:prstGeom>
          <a:noFill/>
          <a:ln w="15875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80360" y="3657600"/>
            <a:ext cx="6263640" cy="182880"/>
          </a:xfrm>
          <a:prstGeom prst="line">
            <a:avLst/>
          </a:prstGeom>
          <a:noFill/>
          <a:ln w="15875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80360" y="5349240"/>
            <a:ext cx="6263640" cy="-731520"/>
          </a:xfrm>
          <a:prstGeom prst="line">
            <a:avLst/>
          </a:prstGeom>
          <a:noFill/>
          <a:ln w="15875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417320"/>
            <a:ext cx="2103120" cy="4572000"/>
          </a:xfrm>
          <a:prstGeom prst="roundRect">
            <a:avLst>
              <a:gd name="adj" fmla="val 3478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464040" y="1572768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64040" y="1751076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4040" y="1929384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64040" y="2107692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64040" y="2286000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64040" y="2464308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64040" y="2642616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64040" y="2820924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64040" y="2999232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64040" y="3177540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64040" y="3355848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464040" y="3534156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464040" y="3712464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464040" y="3890772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64040" y="4069080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64040" y="4247388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64040" y="4425696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64040" y="4604004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64040" y="4782312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64040" y="4960620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464040" y="5138928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64040" y="5317236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0" y="5495544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464040" y="5673852"/>
            <a:ext cx="17373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8240" y="6035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tara-01 … tara-21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 benefits · structure · origin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685800" y="6446520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claim gets exactly one disposition — never zero, never two. A verifier recomputes every count.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don't ask what they said. We ask all sixteen the same question.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98448"/>
            <a:ext cx="146304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98448"/>
            <a:ext cx="146304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Consensus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298448"/>
            <a:ext cx="1737360" cy="475488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9525">
            <a:solidFill>
              <a:srgbClr val="B03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1298448"/>
            <a:ext cx="173736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⚑ </a:t>
            </a:r>
            <a:pPr algn="ctr" indent="0" marL="0">
              <a:buNone/>
            </a:pPr>
            <a:r>
              <a:rPr lang="en-US" sz="13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Divergence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298448"/>
            <a:ext cx="114300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1298448"/>
            <a:ext cx="11430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1298448"/>
            <a:ext cx="2743200" cy="47548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15000" y="1298448"/>
            <a:ext cx="27432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Silence — itself a finding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48840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2852928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3" name="Shape 11"/>
          <p:cNvSpPr/>
          <p:nvPr/>
        </p:nvSpPr>
        <p:spPr>
          <a:xfrm>
            <a:off x="3557016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4" name="Shape 12"/>
          <p:cNvSpPr/>
          <p:nvPr/>
        </p:nvSpPr>
        <p:spPr>
          <a:xfrm>
            <a:off x="4261104" y="2514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5" name="Shape 13"/>
          <p:cNvSpPr/>
          <p:nvPr/>
        </p:nvSpPr>
        <p:spPr>
          <a:xfrm>
            <a:off x="2148840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52928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3557016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4261104" y="321868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2148840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0" name="Shape 18"/>
          <p:cNvSpPr/>
          <p:nvPr/>
        </p:nvSpPr>
        <p:spPr>
          <a:xfrm>
            <a:off x="2852928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1" name="Shape 19"/>
          <p:cNvSpPr/>
          <p:nvPr/>
        </p:nvSpPr>
        <p:spPr>
          <a:xfrm>
            <a:off x="3557016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1104" y="39227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3" name="Shape 21"/>
          <p:cNvSpPr/>
          <p:nvPr/>
        </p:nvSpPr>
        <p:spPr>
          <a:xfrm>
            <a:off x="2148840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2852928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3557016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4261104" y="4626864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7800" y="3931920"/>
            <a:ext cx="160020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178040" y="2834640"/>
            <a:ext cx="3108960" cy="2194560"/>
          </a:xfrm>
          <a:prstGeom prst="roundRect">
            <a:avLst>
              <a:gd name="adj" fmla="val 4167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77800" dist="38100" dir="5400000">
              <a:srgbClr val="8A8378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178040" y="283464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?</a:t>
            </a:r>
            <a:endParaRPr lang="en-US" sz="6400" dirty="0"/>
          </a:p>
        </p:txBody>
      </p:sp>
      <p:sp>
        <p:nvSpPr>
          <p:cNvPr id="30" name="Text 28"/>
          <p:cNvSpPr/>
          <p:nvPr/>
        </p:nvSpPr>
        <p:spPr>
          <a:xfrm>
            <a:off x="1097280" y="5532120"/>
            <a:ext cx="9994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“What narrative origin do commentaries give for Tārā's arising via a lotus connected to Avalokiteśvara — and do they agree the lotus grew specifically from his tears?”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02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60120" y="685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6012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padma = utpala — four commentaries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60120" y="1737360"/>
            <a:ext cx="4572000" cy="2331720"/>
          </a:xfrm>
          <a:prstGeom prst="roundRect">
            <a:avLst>
              <a:gd name="adj" fmla="val 3529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4572000" cy="2331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IMG-10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short Tibetan claim snippets with claim IDs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50292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685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⚑ </a:t>
            </a:r>
            <a:pPr indent="0" marL="0">
              <a:buNone/>
            </a:pPr>
            <a:r>
              <a:rPr lang="en-US" sz="2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120700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Tears stated: Gendün Gyatso · Dharmabhadra · Sungrab Tulku · Tsultrim Namdak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0" y="202996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tears: Tāranātha · Karma Maitri — pollen from the “water-born face”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355080" y="2926080"/>
            <a:ext cx="4937760" cy="960120"/>
          </a:xfrm>
          <a:prstGeom prst="roundRect">
            <a:avLst>
              <a:gd name="adj" fmla="val 6667"/>
            </a:avLst>
          </a:prstGeom>
          <a:solidFill>
            <a:srgbClr val="F0DFD8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92608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word for “tears” does not occur anywhere in either commentary's file.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572000"/>
            <a:ext cx="6903720" cy="960120"/>
          </a:xfrm>
          <a:prstGeom prst="roundRect">
            <a:avLst>
              <a:gd name="adj" fmla="val 857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572000"/>
            <a:ext cx="6903720" cy="960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IMG-11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one-syllable variant: root text vs Gendün Drub, side by side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0" y="4800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syllable — two different etymologies licensed.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58521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 is recorded, never averaged.</a:t>
            </a:r>
            <a:endParaRPr lang="en-US" sz="2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10817352" cy="4251960"/>
          </a:xfrm>
          <a:prstGeom prst="roundRect">
            <a:avLst>
              <a:gd name="adj" fmla="val 193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817352" cy="4251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rendered article with footnotes visible, one footnote's trail highlighted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234440" y="4041648"/>
            <a:ext cx="9720072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34440" y="4041648"/>
            <a:ext cx="9720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sentence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&lt;ref&gt;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ID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verbatim Tibetan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^0-26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file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5303520"/>
            <a:ext cx="10451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44 standalone subjects, one was refused outright — for lack of citable claims. A system that always produces an article isn't following a rule.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02920"/>
            <a:ext cx="640080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60120" y="6858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machine check — deterministic, blocking, no LLM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60120" y="12801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861 / 882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quotations character-for-character (batch)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18745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81 / 81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in the audited pilot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5852160" cy="1371600"/>
          </a:xfrm>
          <a:prstGeom prst="roundRect">
            <a:avLst>
              <a:gd name="adj" fmla="val 6000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14600"/>
            <a:ext cx="585216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near-identical Tibetan strings, the changed punctuation circled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4069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similarity 0.974 — </a:t>
            </a:r>
            <a:pPr algn="ctr" indent="0" marL="0">
              <a:buNone/>
            </a:pPr>
            <a:r>
              <a:rPr lang="en-US" sz="12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60920" y="502920"/>
            <a:ext cx="4142232" cy="4480560"/>
          </a:xfrm>
          <a:prstGeom prst="roundRect">
            <a:avLst>
              <a:gd name="adj" fmla="val 2208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635240" y="685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meaning check — adversarial, fresh model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35240" y="16002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same-model audit: “publish, no findings” × 3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589520" y="2331720"/>
            <a:ext cx="3685032" cy="777240"/>
          </a:xfrm>
          <a:prstGeom prst="roundRect">
            <a:avLst>
              <a:gd name="adj" fmla="val 8235"/>
            </a:avLst>
          </a:prstGeom>
          <a:solidFill>
            <a:srgbClr val="F0DFD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0" y="23317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cross-model audit: 5 blocking findings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35240" y="32918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said “many scholars” — the claim said three.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52578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clean quote check is never, by itself, publication-ready.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exact → pass · whitespace-collapsed → pass · punctuation-stripped fuzzy → FAIL · missing → fail. Found is not the gate. Passed is.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Never report a same-model audit as independent.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00400"/>
                <a:gridCol w="46908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spc="100" kern="0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AF6F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pilot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 quotations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81/81 exact · 81/81 locators resolve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batch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882 quotations / 42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861/882 (97.6%)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Consolidation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418 citations / 3 pages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 fabricated IDs · 1 critical · 1 moderate · ~16 minor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“publish, no findings” × 3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03A1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blocking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· 4 genuine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0DFD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Auditor re-run variance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rounds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0.67 / 0.67 / 1.0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DE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reader's objection became executable.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reviewer's finding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2628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0DFD8"/>
          </a:solidFill>
          <a:ln w="2222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2628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new versioned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66760" y="1572768"/>
            <a:ext cx="312724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66760" y="157276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future article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31920" y="1993392"/>
            <a:ext cx="521208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72400" y="1993392"/>
            <a:ext cx="521208" cy="0"/>
          </a:xfrm>
          <a:prstGeom prst="line">
            <a:avLst/>
          </a:prstGeom>
          <a:noFill/>
          <a:ln w="28575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713232" y="2852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many citations per statement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9768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as a literature 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09560" y="3182112"/>
            <a:ext cx="3383280" cy="621792"/>
          </a:xfrm>
          <a:prstGeom prst="roundRect">
            <a:avLst>
              <a:gd name="adj" fmla="val 17647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3182112"/>
            <a:ext cx="3383280" cy="62179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wikitext unreadable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13232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orthography &amp; respect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every paragraph with the double shad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9768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comma does not exist in Tibetan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909560" y="4352544"/>
            <a:ext cx="3383280" cy="822960"/>
          </a:xfrm>
          <a:prstGeom prst="roundRect">
            <a:avLst>
              <a:gd name="adj" fmla="val 13333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4352544"/>
            <a:ext cx="3383280" cy="8229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names: copy the curated form — never invent an honorific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revised articles are with the linguist. The corpus-wide redraft waits on that approval.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(19) · update (25) — one subject, one article, never forked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" y="7315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now · bot later — the bot moves text, it never decides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Nothing published yet. On purpose.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Writing, at the observed rate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703320" y="2286000"/>
            <a:ext cx="7818120" cy="420624"/>
          </a:xfrm>
          <a:prstGeom prst="roundRect">
            <a:avLst>
              <a:gd name="adj" fmla="val 13043"/>
            </a:avLst>
          </a:prstGeom>
          <a:solidFill>
            <a:srgbClr val="B8B2A8"/>
          </a:solidFill>
          <a:ln/>
        </p:spPr>
      </p:sp>
      <p:sp>
        <p:nvSpPr>
          <p:cNvPr id="7" name="Text 5"/>
          <p:cNvSpPr/>
          <p:nvPr/>
        </p:nvSpPr>
        <p:spPr>
          <a:xfrm>
            <a:off x="9555480" y="2286000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~285 years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Reviewing, at 30–60 min/article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03320" y="2953512"/>
            <a:ext cx="1325880" cy="420624"/>
          </a:xfrm>
          <a:prstGeom prst="roundRect">
            <a:avLst>
              <a:gd name="adj" fmla="val 13043"/>
            </a:avLst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5138928" y="2953512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24–48 person-years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7490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~$0.71 per article machine cost. Review is the constraint — by design.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0" y="4663440"/>
            <a:ext cx="12191695" cy="2194560"/>
          </a:xfrm>
          <a:prstGeom prst="rect">
            <a:avLst/>
          </a:prstGeom>
          <a:solidFill>
            <a:srgbClr val="201812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4297680"/>
            <a:ext cx="6766560" cy="2926080"/>
          </a:xfrm>
          <a:prstGeom prst="ellipse">
            <a:avLst/>
          </a:prstGeom>
          <a:solidFill>
            <a:srgbClr val="352A20">
              <a:alpha val="4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5029200"/>
            <a:ext cx="96286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“The answer to the gap is neither refusal nor flood. It's verification, with a human hand on the gate.”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0" y="-2194560"/>
            <a:ext cx="8229600" cy="6583680"/>
          </a:xfrm>
          <a:prstGeom prst="ellipse">
            <a:avLst/>
          </a:prstGeom>
          <a:solidFill>
            <a:srgbClr val="352A20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108960"/>
            <a:ext cx="7315200" cy="5852160"/>
          </a:xfrm>
          <a:prstGeom prst="ellipse">
            <a:avLst/>
          </a:prstGeom>
          <a:solidFill>
            <a:srgbClr val="352A20">
              <a:alpha val="3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65176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6148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148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vault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2064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036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036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paper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589520" y="2724912"/>
            <a:ext cx="1956816" cy="1956816"/>
          </a:xfrm>
          <a:prstGeom prst="roundRect">
            <a:avLst>
              <a:gd name="adj" fmla="val 5607"/>
            </a:avLst>
          </a:prstGeom>
          <a:solidFill>
            <a:srgbClr val="352A20"/>
          </a:solidFill>
          <a:ln w="12700">
            <a:solidFill>
              <a:srgbClr val="8A837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9248" y="2834640"/>
            <a:ext cx="1737360" cy="1737360"/>
          </a:xfrm>
          <a:prstGeom prst="roundRect">
            <a:avLst>
              <a:gd name="adj" fmla="val 473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924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a demo article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56048" y="5349240"/>
            <a:ext cx="2286000" cy="548640"/>
          </a:xfrm>
          <a:prstGeom prst="roundRect">
            <a:avLst>
              <a:gd name="adj" fmla="val 50000"/>
            </a:avLst>
          </a:prstGeom>
          <a:solidFill>
            <a:srgbClr val="352A20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56048" y="5349240"/>
            <a:ext cx="22860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AF6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welcome.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9601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$0.33 – $1.42 per article · 100,000 ≈ $35k–140k · prices falling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is the marginal article — the pipeline itself is up-front engineering that amortizes.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828800" y="3566160"/>
            <a:ext cx="8503920" cy="502920"/>
          </a:xfrm>
          <a:prstGeom prst="roundRect">
            <a:avLst>
              <a:gd name="adj" fmla="val 18182"/>
            </a:avLst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>
            <a:off x="4766037" y="3310128"/>
            <a:ext cx="54864" cy="100584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8" name="Shape 6"/>
          <p:cNvSpPr/>
          <p:nvPr/>
        </p:nvSpPr>
        <p:spPr>
          <a:xfrm>
            <a:off x="4244829" y="278892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F0DFD8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44829" y="2788920"/>
            <a:ext cx="1097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$0.71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$0.33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0" y="4206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$1.42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with scripts · 44 scripts · 11,251 lines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783080"/>
            <a:ext cx="10817352" cy="4434840"/>
          </a:xfrm>
          <a:prstGeom prst="roundRect">
            <a:avLst>
              <a:gd name="adj" fmla="val 1856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10817352" cy="4434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Skills folder listing, two columns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call receives — and what it is denied.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16636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0848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receives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extraction rules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264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file path + line range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8313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node's decimal + title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5166360" cy="3108960"/>
          </a:xfrm>
          <a:prstGeom prst="roundRect">
            <a:avLst>
              <a:gd name="adj" fmla="val 2941"/>
            </a:avLst>
          </a:prstGeom>
          <a:solidFill>
            <a:srgbClr val="F0DFD8"/>
          </a:solidFill>
          <a:ln w="15875">
            <a:solidFill>
              <a:srgbClr val="B03A1E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208483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denied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2940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node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29400" y="3264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commentary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629400" y="38313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tree-building instructions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3492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guards are structural, not disciplinary.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B3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Limitations, stated plainly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749808" y="20208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28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Sectarian skew: 7 of 16 commentaries are Geluk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749808" y="27066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25146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praise genre yields zero reception-contested claims — due-weight machinery shown structurally, not adversarially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49808" y="33924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200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quality bounds everything downstream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749808" y="40782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8862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Articles are sic-faithful to their sources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49808" y="47640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45720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public citation URLs yet — no quotation is reader-checkable online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749808" y="5449824"/>
            <a:ext cx="100584" cy="100584"/>
          </a:xfrm>
          <a:prstGeom prst="ellipse">
            <a:avLst/>
          </a:prstGeom>
          <a:solidFill>
            <a:srgbClr val="B03A1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257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Claim-level judgements not yet human-validated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3EDE4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74320"/>
            <a:ext cx="1371600" cy="3840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3716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Root text + commentaries + curated registry.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85800" y="256032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56032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Bodhicaryāvatāra (10 commentaries) already prepared — and that corpus has real refutation exchanges.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74904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F3EDE4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177800" dist="38100" dir="5400000">
              <a:srgbClr val="8A8378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51560" y="374904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shape: Sanskrit, Pāli, classical Chinese scholasticism.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881360" y="63276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B2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Expanding the Digital Footprint of Tibetan</dc:title>
  <dc:subject>PptxGenJS Presentation</dc:subject>
  <dc:creator>PptxGenJS</dc:creator>
  <cp:lastModifiedBy>PptxGenJS</cp:lastModifiedBy>
  <cp:revision>1</cp:revision>
  <dcterms:created xsi:type="dcterms:W3CDTF">2026-08-22T18:01:57Z</dcterms:created>
  <dcterms:modified xsi:type="dcterms:W3CDTF">2026-08-22T18:01:57Z</dcterms:modified>
</cp:coreProperties>
</file>