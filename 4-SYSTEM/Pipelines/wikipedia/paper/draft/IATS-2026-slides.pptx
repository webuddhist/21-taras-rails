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seconds. One-line thesis: the same feedback loop that is destroying small-language Wikipedias becomes a virtuous cycle under one condition — human verification. Everything in this talk is that condition made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Trim-order note: this slide is first to cut if time runs short. Live demo of the chatbot failure is in the recorded video, not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matters: this claim lands differently coming from the people who did the volunteer work. Never cut this slide (canonical trim order protects 3, 4,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in print as 'no demonstrated alternative…'; the punchy version is for the podium, backed by the slide-13 arithmetic. The ethics section later is the third horn,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This is the argument; everything after is mechanism. Wikipedia is almost always the largest source in LLM training mixes; per-language capability tracks pretraining share; Welsh entered the loop deliberately as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stanzas rebuilt with stable per-stanza IDs, cross-checked against an annotated edition. Ingest is deterministic: re-running reproduces every source file byte-for-byte — verified on a second machine this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minutes, one pass, no detail. The red boxes are the talk's spine: everything distinctive follows from these two constraints.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slide in the trim order if squeezed. The reading-view invariant: every added scaffold layer strips back to a byte-identical text, so verification can never fail on the pipeline's own marginalia.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minutes. The claim type triggers voice rules: consensus speaks plainly; a school position names its school; a single commentator is attributed. Facts aren't copyrightable — this is also the licensing design: cite, don't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for this room. Frame: the pipeline reads the tradition's own reception record — citation and refutation patterns — as due-weight policy, the way Wikipedia reads secondary literature.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layers catch disjoint failure classes: audit reads meaning (paraphrase drift, weight inflation); the gate reads characters (quotation integrity). The auditor also twice misquoted the draft in its own findings — model text is untrusted everywhere, which is why the blocking decision keys on categories and the gate is LLM-free.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2:30. The recording exists before travel; cached at three redundancies (USB, cloud, email). If video fails, the PDF slide sequence of the same frames.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 this slide. Single run, reported as such; pass rates over repeated runs are the evaluation-batch metric. WikiCrow anchors for context: 86.1% rater-judged citation precision vs 71.2% human baseline — ours is a stricter, byte-level property.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minute. The residual risk stays named: a fluent reviewer can still wave through a subtly wrong article. The pipeline shrinks what a reviewer must distrust; it does not abolish editorial responsibility — and is not meant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seconds. Hundreds of texts queued behind the same contract. The durable asset is the claims database, not the article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The cycle diagram in words; end on the QR to the demo article, code, and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Noto Serif Tibetan" pitchFamily="34" charset="0"/>
                <a:ea typeface="Noto Serif Tibetan" pitchFamily="34" charset="-122"/>
                <a:cs typeface="Noto Serif Tibetan" pitchFamily="34" charset="-120"/>
              </a:rPr>
              <a:t>ཨོཾ་རྗེ་བཙུན་མ་འཕགས་མ་སྒྲོལ་མ་ལ་ཕྱག་འཚལ་ལོ།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Homage to the Noble Lady Tara — the run's case-study text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the Digital Footprint of Tibetan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EFE2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Semi-Automatic Pipeline for Wikipedia Article Generation Using LLMs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88636" y="3310128"/>
            <a:ext cx="201168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3520440"/>
            <a:ext cx="92628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Machine-drafted. Human-published. Verification flips the sign of the AI-content loop.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5120640"/>
            <a:ext cx="10725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Tashi Tsering · The OpenPecha Project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17th IATS Seminar · The Soaltee Kathmandu · 23–29 August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in three numbers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169164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8,072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731520" y="29718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bo.wikipedia articles — for 7M+ speakers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35204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active editors/month · 2 admins · ~350 new articles/yr (Jul 2026)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15968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15968" y="169164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17.5%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4544568" y="29718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Tibetan (TLUE) — below the 25% random baseline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44568" y="35204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Qwen-2.5-72B: 84.7% in Chinese → 16.5% in Tibetan (EMNLP 2025)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129016" y="141732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29016" y="1691640"/>
            <a:ext cx="3566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4×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8357616" y="29718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tokenizer cost of Tibetan vs Chinese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357616" y="352044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byte-level premium — Tibetan pays more for less (NeurIPS 2023)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77240" y="4892040"/>
            <a:ext cx="10634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an AI assistant a basic question about Tibetan culture, in Tibetan — it fails. Not because the knowledge is obscure: because the open digital text isn't there.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77240" y="589788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Kornai: “digital language death” · Khanna &amp; Li 2025: “invisible giants”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ran the manual revival — here is what it yields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2344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person: OpenPecha and collaborators have trained editors and run bo.wikipedia workshops. The public record shows what manual-only effort achieves.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822960" y="19659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bo.wikipedia, founded 2008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35040" y="19659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8,072 articles after 18 years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514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output since 2020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25146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350 new articles per year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063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35040" y="30632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active editors/month · 2 administrators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36118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Dzongkha Education Program (closest Tibetic effort)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3611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participants · 5 months · ≈ 80 articles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22960" y="4343400"/>
            <a:ext cx="10515600" cy="914400"/>
          </a:xfrm>
          <a:prstGeom prst="roundRect">
            <a:avLst>
              <a:gd name="adj" fmla="val 10000"/>
            </a:avLst>
          </a:prstGeom>
          <a:solidFill>
            <a:srgbClr val="F7EFE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44805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 FILL — campaign records]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 run, cohort sizes, retention curves — the first-person numbers that make this land.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~350 articles/year, a 100,000-article encyclopedia is two centuries away. That is the measured capacity of manual-only.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trilemma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611880" cy="4160520"/>
          </a:xfrm>
          <a:prstGeom prst="roundRect">
            <a:avLst>
              <a:gd name="adj" fmla="val 3038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60020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Manual-only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31520" y="2468880"/>
            <a:ext cx="31546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tried it; we measured it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~350 articles/year, 31 editors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reach critical mass within a generation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88536" y="1371600"/>
            <a:ext cx="3611880" cy="4160520"/>
          </a:xfrm>
          <a:prstGeom prst="roundRect">
            <a:avLst>
              <a:gd name="adj" fmla="val 3038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17136" y="160020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Unsupervised automation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4517136" y="2468880"/>
            <a:ext cx="31546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Scots: credibility destroyed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Cebuano: 6M stubs, closure votes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Greenlandic: closed by LangCom, 2025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Poisons the training corpus downstream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8074152" y="1371600"/>
            <a:ext cx="3611880" cy="4160520"/>
          </a:xfrm>
          <a:prstGeom prst="roundRect">
            <a:avLst>
              <a:gd name="adj" fmla="val 3038"/>
            </a:avLst>
          </a:prstGeom>
          <a:solidFill>
            <a:srgbClr val="7A1E2D"/>
          </a:solidFill>
          <a:ln w="12700">
            <a:solidFill>
              <a:srgbClr val="4E12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02752" y="160020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Supervised automation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302752" y="2468880"/>
            <a:ext cx="31546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drafts under hard verification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bounded by review capacity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human is the publisher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pipeline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demonstrated alternative reaches critical mass within a generation.”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cycle — the whole argument on one slide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01768" y="1325880"/>
            <a:ext cx="2194560" cy="1005840"/>
          </a:xfrm>
          <a:prstGeom prst="roundRect">
            <a:avLst>
              <a:gd name="adj" fmla="val 50000"/>
            </a:avLst>
          </a:prstGeom>
          <a:solidFill>
            <a:srgbClr val="7A1E2D"/>
          </a:solidFill>
          <a:ln w="12700">
            <a:solidFill>
              <a:srgbClr val="4E122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01768" y="1325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Tibetan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412480" y="2651760"/>
            <a:ext cx="2194560" cy="1005840"/>
          </a:xfrm>
          <a:prstGeom prst="roundRect">
            <a:avLst>
              <a:gd name="adj" fmla="val 50000"/>
            </a:avLst>
          </a:prstGeom>
          <a:solidFill>
            <a:srgbClr val="7A1E2D"/>
          </a:solidFill>
          <a:ln w="12700">
            <a:solidFill>
              <a:srgbClr val="4E122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01768" y="4114800"/>
            <a:ext cx="2194560" cy="1005840"/>
          </a:xfrm>
          <a:prstGeom prst="roundRect">
            <a:avLst>
              <a:gd name="adj" fmla="val 50000"/>
            </a:avLst>
          </a:prstGeom>
          <a:solidFill>
            <a:srgbClr val="7A1E2D"/>
          </a:solidFill>
          <a:ln w="12700">
            <a:solidFill>
              <a:srgbClr val="4E122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01768" y="41148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data 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Tibetan-capable AI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1645920" y="2651760"/>
            <a:ext cx="2194560" cy="1005840"/>
          </a:xfrm>
          <a:prstGeom prst="roundRect">
            <a:avLst>
              <a:gd name="adj" fmla="val 50000"/>
            </a:avLst>
          </a:prstGeom>
          <a:solidFill>
            <a:srgbClr val="7A1E2D"/>
          </a:solidFill>
          <a:ln w="12700">
            <a:solidFill>
              <a:srgbClr val="4E12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45920" y="2651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Visibility, tools,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readers, editors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2148840"/>
            <a:ext cx="1325880" cy="5029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549640" y="3657600"/>
            <a:ext cx="-1280160" cy="64008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937760" y="4297680"/>
            <a:ext cx="-1280160" cy="-64008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063240" y="2651760"/>
            <a:ext cx="1234440" cy="-5029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5001768" y="260604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i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flips the sign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0080" y="5486400"/>
            <a:ext cx="5394960" cy="868680"/>
          </a:xfrm>
          <a:prstGeom prst="roundRect">
            <a:avLst>
              <a:gd name="adj" fmla="val 10526"/>
            </a:avLst>
          </a:prstGeom>
          <a:solidFill>
            <a:srgbClr val="F5E3E0"/>
          </a:solidFill>
          <a:ln w="12700">
            <a:solidFill>
              <a:srgbClr val="A3261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557784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Unverified: MT junk → corpus rot → model collapse — the doom spiral (Greenlandic, 2025)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63640" y="5486400"/>
            <a:ext cx="5394960" cy="868680"/>
          </a:xfrm>
          <a:prstGeom prst="roundRect">
            <a:avLst>
              <a:gd name="adj" fmla="val 10526"/>
            </a:avLst>
          </a:prstGeom>
          <a:solidFill>
            <a:srgbClr val="E9EFE4"/>
          </a:solidFill>
          <a:ln w="12700">
            <a:solidFill>
              <a:srgbClr val="3F6B3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46520" y="557784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F5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CX-style human-gated content shows lower deletion rates than from-scratch articles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text this room can check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188720"/>
            <a:ext cx="66751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1E2D"/>
                </a:solidFill>
                <a:latin typeface="Noto Serif Tibetan" pitchFamily="34" charset="0"/>
                <a:ea typeface="Noto Serif Tibetan" pitchFamily="34" charset="-122"/>
                <a:cs typeface="Noto Serif Tibetan" pitchFamily="34" charset="-120"/>
              </a:rPr>
              <a:t>སྒྲོལ་མ་ལ་ཕྱག་འཚལ་ཉི་ཤུ་རྩ་གཅིག་གིས་བསྟོད་པ།</a:t>
            </a:r>
            <a:endParaRPr lang="en-US" sz="18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“Praise to Tara with Twenty-One Homages”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to the Twenty-One Tārās (Tōh. 438) + 16 commentaries · Drakpa Gyaltsen to 2023 · ~540,000 characters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91840" y="3977640"/>
            <a:ext cx="0" cy="-1312164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291840" y="3977640"/>
            <a:ext cx="612370" cy="-1212281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91840" y="3977640"/>
            <a:ext cx="1131512" cy="-927840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91840" y="3977640"/>
            <a:ext cx="1478392" cy="-502143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91840" y="3977640"/>
            <a:ext cx="1600200" cy="0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91840" y="3977640"/>
            <a:ext cx="1478392" cy="502143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91840" y="3977640"/>
            <a:ext cx="1131512" cy="927840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3977640"/>
            <a:ext cx="612370" cy="1212281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91840" y="3977640"/>
            <a:ext cx="0" cy="1312164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91840" y="3977640"/>
            <a:ext cx="-612370" cy="1212281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91840" y="3977640"/>
            <a:ext cx="-1131512" cy="927840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291840" y="3977640"/>
            <a:ext cx="-1478392" cy="502143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3977640"/>
            <a:ext cx="-1600200" cy="0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291840" y="3977640"/>
            <a:ext cx="-1478392" cy="-502143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291840" y="3977640"/>
            <a:ext cx="-1131512" cy="-927840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91840" y="3977640"/>
            <a:ext cx="-612370" cy="-1212281"/>
          </a:xfrm>
          <a:prstGeom prst="line">
            <a:avLst/>
          </a:prstGeom>
          <a:noFill/>
          <a:ln w="12700">
            <a:solidFill>
              <a:srgbClr val="D9CDB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163824" y="2537460"/>
            <a:ext cx="256032" cy="256032"/>
          </a:xfrm>
          <a:prstGeom prst="ellipse">
            <a:avLst/>
          </a:prstGeom>
          <a:solidFill>
            <a:srgbClr val="7A1E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776194" y="2637343"/>
            <a:ext cx="256032" cy="256032"/>
          </a:xfrm>
          <a:prstGeom prst="ellipse">
            <a:avLst/>
          </a:prstGeom>
          <a:solidFill>
            <a:srgbClr val="7A1E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5336" y="2921784"/>
            <a:ext cx="256032" cy="256032"/>
          </a:xfrm>
          <a:prstGeom prst="ellipse">
            <a:avLst/>
          </a:prstGeom>
          <a:solidFill>
            <a:srgbClr val="7A1E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642216" y="3347481"/>
            <a:ext cx="256032" cy="256032"/>
          </a:xfrm>
          <a:prstGeom prst="ellipse">
            <a:avLst/>
          </a:prstGeom>
          <a:solidFill>
            <a:srgbClr val="7A1E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764024" y="3849624"/>
            <a:ext cx="256032" cy="256032"/>
          </a:xfrm>
          <a:prstGeom prst="ellipse">
            <a:avLst/>
          </a:prstGeom>
          <a:solidFill>
            <a:srgbClr val="7A1E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642216" y="4351767"/>
            <a:ext cx="256032" cy="256032"/>
          </a:xfrm>
          <a:prstGeom prst="ellipse">
            <a:avLst/>
          </a:prstGeom>
          <a:solidFill>
            <a:srgbClr val="7A1E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5336" y="4777464"/>
            <a:ext cx="256032" cy="256032"/>
          </a:xfrm>
          <a:prstGeom prst="ellipse">
            <a:avLst/>
          </a:prstGeom>
          <a:solidFill>
            <a:srgbClr val="7A1E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76194" y="5061905"/>
            <a:ext cx="256032" cy="256032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163824" y="5161788"/>
            <a:ext cx="256032" cy="256032"/>
          </a:xfrm>
          <a:prstGeom prst="ellipse">
            <a:avLst/>
          </a:prstGeom>
          <a:solidFill>
            <a:srgbClr val="3E5C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51454" y="5061905"/>
            <a:ext cx="256032" cy="256032"/>
          </a:xfrm>
          <a:prstGeom prst="ellipse">
            <a:avLst/>
          </a:prstGeom>
          <a:solidFill>
            <a:srgbClr val="8C5A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32312" y="4777464"/>
            <a:ext cx="256032" cy="256032"/>
          </a:xfrm>
          <a:prstGeom prst="ellipse">
            <a:avLst/>
          </a:prstGeom>
          <a:solidFill>
            <a:srgbClr val="4A7A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685432" y="4351767"/>
            <a:ext cx="256032" cy="256032"/>
          </a:xfrm>
          <a:prstGeom prst="ellipse">
            <a:avLst/>
          </a:prstGeom>
          <a:solidFill>
            <a:srgbClr val="A3261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563624" y="3849624"/>
            <a:ext cx="256032" cy="256032"/>
          </a:xfrm>
          <a:prstGeom prst="ellipse">
            <a:avLst/>
          </a:prstGeom>
          <a:solidFill>
            <a:srgbClr val="A3261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685432" y="3347481"/>
            <a:ext cx="256032" cy="256032"/>
          </a:xfrm>
          <a:prstGeom prst="ellipse">
            <a:avLst/>
          </a:prstGeom>
          <a:solidFill>
            <a:srgbClr val="9A9A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032312" y="2921784"/>
            <a:ext cx="256032" cy="256032"/>
          </a:xfrm>
          <a:prstGeom prst="ellipse">
            <a:avLst/>
          </a:prstGeom>
          <a:solidFill>
            <a:srgbClr val="9A9A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551454" y="2637343"/>
            <a:ext cx="256032" cy="256032"/>
          </a:xfrm>
          <a:prstGeom prst="ellipse">
            <a:avLst/>
          </a:prstGeom>
          <a:solidFill>
            <a:srgbClr val="9A9A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724912" y="3410712"/>
            <a:ext cx="1133856" cy="11338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1E2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724912" y="3410712"/>
            <a:ext cx="11338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949440" y="2057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commentaries by school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995160" y="2560320"/>
            <a:ext cx="201168" cy="20116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315200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Geluk — 7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6995160" y="2944368"/>
            <a:ext cx="201168" cy="2011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315200" y="2852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Sakya — 1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6995160" y="3328416"/>
            <a:ext cx="201168" cy="201168"/>
          </a:xfrm>
          <a:prstGeom prst="ellipse">
            <a:avLst/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315200" y="323697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Jonang — 1</a:t>
            </a:r>
            <a:endParaRPr lang="en-US" sz="1250" dirty="0"/>
          </a:p>
        </p:txBody>
      </p:sp>
      <p:sp>
        <p:nvSpPr>
          <p:cNvPr id="47" name="Shape 44"/>
          <p:cNvSpPr/>
          <p:nvPr/>
        </p:nvSpPr>
        <p:spPr>
          <a:xfrm>
            <a:off x="6995160" y="3712464"/>
            <a:ext cx="201168" cy="201168"/>
          </a:xfrm>
          <a:prstGeom prst="ellipse">
            <a:avLst/>
          </a:prstGeom>
          <a:solidFill>
            <a:srgbClr val="8C5A2B"/>
          </a:solidFill>
          <a:ln w="12700">
            <a:solidFill>
              <a:srgbClr val="8C5A2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315200" y="36210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Nyingma — 1</a:t>
            </a:r>
            <a:endParaRPr lang="en-US" sz="1250" dirty="0"/>
          </a:p>
        </p:txBody>
      </p:sp>
      <p:sp>
        <p:nvSpPr>
          <p:cNvPr id="49" name="Shape 46"/>
          <p:cNvSpPr/>
          <p:nvPr/>
        </p:nvSpPr>
        <p:spPr>
          <a:xfrm>
            <a:off x="6995160" y="4096512"/>
            <a:ext cx="201168" cy="201168"/>
          </a:xfrm>
          <a:prstGeom prst="ellipse">
            <a:avLst/>
          </a:prstGeom>
          <a:solidFill>
            <a:srgbClr val="4A7A6F"/>
          </a:solidFill>
          <a:ln w="12700">
            <a:solidFill>
              <a:srgbClr val="4A7A6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315200" y="40050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Kagyü — 1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6995160" y="4480560"/>
            <a:ext cx="201168" cy="201168"/>
          </a:xfrm>
          <a:prstGeom prst="ellipse">
            <a:avLst/>
          </a:prstGeom>
          <a:solidFill>
            <a:srgbClr val="A3261F"/>
          </a:solidFill>
          <a:ln w="12700">
            <a:solidFill>
              <a:srgbClr val="A3261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315200" y="43891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Sūryagupta lineage — 2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6995160" y="4864608"/>
            <a:ext cx="201168" cy="201168"/>
          </a:xfrm>
          <a:prstGeom prst="ellipse">
            <a:avLst/>
          </a:prstGeom>
          <a:solidFill>
            <a:srgbClr val="9A9A9A"/>
          </a:solidFill>
          <a:ln w="12700">
            <a:solidFill>
              <a:srgbClr val="9A9A9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unattributed — 3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6949440" y="5340096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familiar: the room can judge output quality itself. School skew is data the pipeline must respect (slide 10).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in one pass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179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0080" y="19202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segment · headings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· block IDs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172968" y="2194560"/>
            <a:ext cx="283464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474720" y="141732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7A1E2D"/>
          </a:solidFill>
          <a:ln w="12700">
            <a:solidFill>
              <a:srgbClr val="4E122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11880" y="15179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3611880" y="19202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→ claims → outline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draft → audit → verify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44768" y="2194560"/>
            <a:ext cx="283464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446520" y="141732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0" y="15179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583680" y="19202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gate · dry-run default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first · disclosure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116568" y="2194560"/>
            <a:ext cx="283464" cy="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418320" y="141732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555480" y="15179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555480" y="192024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path: insert-only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flagged ⚑ for humans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32918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3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invariants — stated as invariants, not aspirations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201400" cy="960120"/>
          </a:xfrm>
          <a:prstGeom prst="roundRect">
            <a:avLst>
              <a:gd name="adj" fmla="val 9524"/>
            </a:avLst>
          </a:prstGeom>
          <a:solidFill>
            <a:srgbClr val="F5E3E0"/>
          </a:solidFill>
          <a:ln w="15875">
            <a:solidFill>
              <a:srgbClr val="A3261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395020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1.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 wording ever reaches the drafting model. It cites claim indices; code expands them to passages and renders the references. Quotations enter articles only from the extraction record.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502920" y="4983480"/>
            <a:ext cx="11201400" cy="960120"/>
          </a:xfrm>
          <a:prstGeom prst="roundRect">
            <a:avLst>
              <a:gd name="adj" fmla="val 9524"/>
            </a:avLst>
          </a:prstGeom>
          <a:solidFill>
            <a:srgbClr val="F5E3E0"/>
          </a:solidFill>
          <a:ln w="15875">
            <a:solidFill>
              <a:srgbClr val="A3261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5093208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2. 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publishes without the audit AND a deterministic, LLM-free verification gate. Added facts and attribution loss block regardless of any model's verdict. There is no bypass flag.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502920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steps · 4 layers · one skill per step · versioned prompts · 546 passing tests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Verse alignment and stable IDs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14173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spans over the 23 root units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040880" y="1417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1920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…anchored by explicit verse transclusion in the commentary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423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…by lexical clustering (precision-first)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40880" y="2423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Commentaries at 100% coverage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40880" y="2926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16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34290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coverage — the condensed &amp; interlinear genres, as predicted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40880" y="34290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22960" y="416052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5156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ID, anatomized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51560" y="47091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E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TARAC03_GDD</a:t>
            </a:r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</a:t>
            </a:r>
            <a:pPr indent="0" marL="0">
              <a:buNone/>
            </a:pPr>
            <a:r>
              <a:rPr lang="en-US" sz="1400" b="1" dirty="0">
                <a:solidFill>
                  <a:srgbClr val="A326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^1-9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Gendün Drub's ṭīkkā, its block on stanza 9 — the same ID is the citation's locator and, for public-domain texts, a Wikisource verse anchor.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decides what the extractor is shown; anchors make every citation traceable to the verse being explained.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Atomic claims — the firewall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row (སྒྲོལ་མ, claim 0):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1109960" cy="2148840"/>
          </a:xfrm>
          <a:prstGeom prst="roundRect">
            <a:avLst>
              <a:gd name="adj" fmla="val 4255"/>
            </a:avLst>
          </a:prstGeom>
          <a:solidFill>
            <a:srgbClr val="F7EFE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19072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Noto Serif Tibetan" pitchFamily="34" charset="0"/>
                <a:ea typeface="Noto Serif Tibetan" pitchFamily="34" charset="-122"/>
                <a:cs typeface="Noto Serif Tibetan" pitchFamily="34" charset="-120"/>
              </a:rPr>
              <a:t>མཁས་པ་མི་འདྲ་བ་གསུམ་གྱིས་མིང་སྒྲོལ་མའི་སྒྲ་བཤད་མཚུངས་པའི་དོན་དུ་བྱས་ཏེ། སྡུག་བསྔལ་གྱི་རྒྱ་མཚོ་ལས་སྒྲོལ་བ་འམ། སེམས་ཅན་སངས་རྒྱས་ཀྱི་ས་ལས་སྒྲོལ་བར་མཛད་པ་འམ། འཁོར་བའི་སྡུག་བསྔལ་ལས་སྐྱོབ་པ་ཞེས་བཤད་དེ། མིང་གི་དོན་ལ་མཐུན་པའོ།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" y="2487168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“Three different scholars gloss the name Tara alike: she who delivers from the ocean of suffering, brings beings to the level of buddhahood, or protects from samsara's suffering — the name's meaning is agreed.”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77240" y="3127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 </a:t>
            </a:r>
            <a:pPr indent="0" marL="0">
              <a:buNone/>
            </a:pPr>
            <a:r>
              <a:rPr lang="en-US" sz="1250" b="1" dirty="0">
                <a:solidFill>
                  <a:srgbClr val="7A1E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consensus</a:t>
            </a:r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passages: </a:t>
            </a:r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 1, 9] — Sakya · Geluk · Geluk, block-located</a:t>
            </a:r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reception: </a:t>
            </a:r>
            <a:pPr indent="0" marL="0">
              <a:buNone/>
            </a:pPr>
            <a:r>
              <a:rPr lang="en-US" sz="125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uncontested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41148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draft is written from this — with the sources closed.”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0080" y="4800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 → 47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640080" y="5532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passages compressed to atomic claims (3 articles)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29000" y="4800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 / 21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3429000" y="5532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/ school-position / single-commentator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217920" y="4800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6217920" y="5532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majority-with-dissent — praise commentary isn't polemical (slide 10)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006840" y="4800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9006840" y="5532120"/>
            <a:ext cx="2651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carry passage indices, school, and reception tags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Breadth decides existence; reception decides weight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Tibetan polemical culture left a machine-readable due-weight record: </a:t>
            </a:r>
            <a:pPr indent="0" marL="0">
              <a:buNone/>
            </a:pPr>
            <a:r>
              <a:rPr lang="en-US" sz="155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commentaries cite, endorse, and refute one another (dgag lan).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194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position that drew rebuttals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6974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…has proven historical weight even without breadth — it gets a named, weighted treatment. Refutation is engagement.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201168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2194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unengaged idiosyncrasy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46520" y="26974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…gets a sentence. And a school's sole corpus representative is a school-position, never “fringe” — sole representation is a fact about the corpus, not the tradition.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526280"/>
            <a:ext cx="11109960" cy="1417320"/>
          </a:xfrm>
          <a:prstGeom prst="roundRect">
            <a:avLst>
              <a:gd name="adj" fmla="val 6452"/>
            </a:avLst>
          </a:prstGeom>
          <a:solidFill>
            <a:srgbClr val="EFEAE2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681728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 of this case study: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47 claims drew dissent — praise commentary explains, it doesn't refute. The contested demonstration comes from the Bodhicaryāvatāra corpus already aligned behind this pipeline (10 commentaries, 7,279 spans — the Mipham exchanges).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Traditional Tibetan intellectual history, operationalized as editorial policy.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auditor never writes — and it matters, measurably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1965960"/>
          </a:xfrm>
          <a:prstGeom prst="roundRect">
            <a:avLst>
              <a:gd name="adj" fmla="val 5581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1517904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Same-model audit (writer judges its own prose)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77240" y="2011680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“publish, no findings” — three articles out of three.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defect sailed through.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40680" cy="1965960"/>
          </a:xfrm>
          <a:prstGeom prst="roundRect">
            <a:avLst>
              <a:gd name="adj" fmla="val 5581"/>
            </a:avLst>
          </a:prstGeom>
          <a:solidFill>
            <a:srgbClr val="7A1E2D"/>
          </a:solidFill>
          <a:ln w="12700">
            <a:solidFill>
              <a:srgbClr val="4E122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517904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Cross-model audit (independent model)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446520" y="2011680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blocking findings on 2 articles.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Hand-adjudication against the claims table: 4 genuine, 1 borderline.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catch, from the run: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977640"/>
            <a:ext cx="11109960" cy="1371600"/>
          </a:xfrm>
          <a:prstGeom prst="roundRect">
            <a:avLst>
              <a:gd name="adj" fmla="val 6667"/>
            </a:avLst>
          </a:prstGeom>
          <a:solidFill>
            <a:srgbClr val="F5E3E0"/>
          </a:solidFill>
          <a:ln w="15875">
            <a:solidFill>
              <a:srgbClr val="A3261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1605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dropped-qualifier  </a:t>
            </a:r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lead: </a:t>
            </a:r>
            <a:pPr indent="0" marL="0">
              <a:buNone/>
            </a:pPr>
            <a:r>
              <a:rPr lang="en-US" sz="1350" b="1" dirty="0">
                <a:solidFill>
                  <a:srgbClr val="A3261F"/>
                </a:solidFill>
                <a:latin typeface="Noto Serif Tibetan" pitchFamily="34" charset="0"/>
                <a:ea typeface="Noto Serif Tibetan" pitchFamily="34" charset="-122"/>
                <a:cs typeface="Noto Serif Tibetan" pitchFamily="34" charset="-120"/>
              </a:rPr>
              <a:t>མཁས་པ་མི་འདྲ་བ་མང་པོས་ </a:t>
            </a:r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(“many scholars agree”) — claim 0: </a:t>
            </a:r>
            <a:pPr indent="0" marL="0">
              <a:buNone/>
            </a:pPr>
            <a:r>
              <a:rPr lang="en-US" sz="1350" b="1" dirty="0">
                <a:solidFill>
                  <a:srgbClr val="2F5230"/>
                </a:solidFill>
                <a:latin typeface="Noto Serif Tibetan" pitchFamily="34" charset="0"/>
                <a:ea typeface="Noto Serif Tibetan" pitchFamily="34" charset="-122"/>
                <a:cs typeface="Noto Serif Tibetan" pitchFamily="34" charset="-120"/>
              </a:rPr>
              <a:t>མཁས་པ་མི་འདྲ་བ་གསུམ་གྱིས་ </a:t>
            </a:r>
            <a:pPr indent="0" marL="0">
              <a:buNone/>
            </a:pPr>
            <a:r>
              <a:rPr lang="en-US" sz="13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(“three”). A consensus exaggeration: caught, fixed, re-audited to zero findings.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8640" y="5577840"/>
            <a:ext cx="11109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 both: the deterministic gate — every quotation re-read character-for-character from its source. It once caught a single tsheg silently promoted to a shad (similarity 0.974). No model, no bypass.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pre-recorded, offline-first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822960" y="1371600"/>
            <a:ext cx="6766560" cy="4023360"/>
          </a:xfrm>
          <a:prstGeom prst="roundRect">
            <a:avLst>
              <a:gd name="adj" fmla="val 2727"/>
            </a:avLst>
          </a:prstGeom>
          <a:solidFill>
            <a:srgbClr val="4E1220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743200"/>
            <a:ext cx="1188720" cy="11887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416052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[ 90-second screen capture — slot ]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8001000" y="155448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01000" y="154716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503920" y="1508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term, from the aligned corpus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001000" y="214884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001000" y="214152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50392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claims table forms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01000" y="274320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001000" y="273588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8503920" y="26974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cites claim indices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001000" y="333756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001000" y="333024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50392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character gate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8001000" y="393192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01000" y="392460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850392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article, every ref block-located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001000" y="4526280"/>
            <a:ext cx="365760" cy="36576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01000" y="451896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E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8503920" y="4480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answer-engine finds it — in Tibetan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822960" y="57150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live: venue wifi unconfirmed; every intermediate file local; PDF sequence as video fallback. End on the live URL + QR.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results — and the number that carries the claim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109960" cy="914400"/>
        </p:xfrm>
        <a:graphic>
          <a:graphicData uri="http://schemas.openxmlformats.org/drawingml/2006/table">
            <a:tbl>
              <a:tblPr/>
              <a:tblGrid>
                <a:gridCol w="6675120"/>
                <a:gridCol w="44348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E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E2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articles, full chain (claims → draft → audit → verify)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ledger-verified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Quotations re-read from source, character-for-character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 / 81 exact — reproduced byte-identically on a 2nd machine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locators (citation → commentary block)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 / 81 resolve, none wrong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Cross-model audit findings on first drafts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blocking → 6 logged edits → 0 findings, re-verified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 per article (machine side)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10–20 min · ≈ $0.33–1.42 at current Flash prices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stability, final articles (3 runs each)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rates 0.67 / 0.67 / 1.0 — rates, not verdicts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Reviewer-hours per audit-passed article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[TO FILL — August evaluation batch]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120640"/>
            <a:ext cx="11109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failure: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drafts were not clean — the same-model audit called them perfect, the independent audit did not, and every finding is in the paper. The safeguards are the result.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48640" y="594360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Reviewer-hours vs ~350 articles/year manual: the “generations collapse to years” arithmetic — completed when the review logs land.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 and limits — the hardest question, pre-empted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Small-wiki AI content has a body count: Greenlandic closed (2025) · Inuktitut ⅔ MT-contaminated · African wikis 40–60% uncorrected MT.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286000"/>
            <a:ext cx="502920" cy="502920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265176" cy="26517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31520" y="29260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On-wiki edit summaries + project page; machine-drafted, human-published — the Content Translation model, adopted voluntarily.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88536" y="20574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17136" y="2286000"/>
            <a:ext cx="502920" cy="502920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2404872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57216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Pacing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4517136" y="29260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bounded by review capacity, not model capacity. No mass creation. A named human is the sole publishing agent.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074152" y="2057400"/>
            <a:ext cx="3611880" cy="2103120"/>
          </a:xfrm>
          <a:prstGeom prst="roundRect">
            <a:avLst>
              <a:gd name="adj" fmla="val 5217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302752" y="2286000"/>
            <a:ext cx="502920" cy="502920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2404872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942832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8302752" y="29260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 audit blocks added facts &amp; attribution loss; the character gate has no bypass; every sentence traces to block-located passages.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548640" y="4572000"/>
            <a:ext cx="11109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E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stated: </a:t>
            </a:r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school-skew (7/16 Geluk); articles still short of the 1,500-syllable bar; citations await public URLs (BDRC/Wikisource) before any mainspace publish; three articles is a case study, not a distribution; drafting and auditing Tibetan still rides on models trained mostly on other languages — the §1 gap felt from inside.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7A1E2D"/>
          </a:solidFill>
          <a:ln w="12700">
            <a:solidFill>
              <a:srgbClr val="7A1E2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644" y="508772"/>
            <a:ext cx="317480" cy="317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29260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scale looks like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3611880" cy="2286000"/>
          </a:xfrm>
          <a:prstGeom prst="roundRect">
            <a:avLst>
              <a:gd name="adj" fmla="val 4800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169164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7,279 spans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31520" y="265176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Bodhicaryāvatāra already aligned: 10 commentaries, 545 terms — 520 of them existing articles → the insert-only update path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88536" y="1463040"/>
            <a:ext cx="3611880" cy="2286000"/>
          </a:xfrm>
          <a:prstGeom prst="roundRect">
            <a:avLst>
              <a:gd name="adj" fmla="val 4800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288536" y="169164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skill / step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517136" y="265176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improves with every article: prompt patches are versioned, never in-place; every output traces to the prompt that made 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074152" y="1463040"/>
            <a:ext cx="3611880" cy="2286000"/>
          </a:xfrm>
          <a:prstGeom prst="roundRect">
            <a:avLst>
              <a:gd name="adj" fmla="val 4800"/>
            </a:avLst>
          </a:prstGeom>
          <a:solidFill>
            <a:srgbClr val="F7EFE7"/>
          </a:solidFill>
          <a:ln w="12700">
            <a:solidFill>
              <a:srgbClr val="EFE2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74152" y="169164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DB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8302752" y="2651760"/>
            <a:ext cx="3154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school-tagged, reception-tagged, block-located rows over a verse-aligned corpus — a research object independent of Wikipedia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4160520"/>
            <a:ext cx="11109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is not Tārā-specific: root text + commentaries + registry. Sanskrit, Pali, and classical Chinese scholasticism have the same shape.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502920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7A1E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Class-0/1 languages generally: machine volume, human authority, verification as the hinge.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loop is running either way.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280160" y="1645920"/>
            <a:ext cx="9628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EFE2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Unverified, it is the doom spiral. Verified — with a human hand on the gate — it is how a language re-enters the digital world.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2743200"/>
            <a:ext cx="3429000" cy="1554480"/>
          </a:xfrm>
          <a:prstGeom prst="roundRect">
            <a:avLst>
              <a:gd name="adj" fmla="val 7059"/>
            </a:avLst>
          </a:prstGeom>
          <a:solidFill>
            <a:srgbClr val="7A1E2D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88036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Machine-drafted,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human-published — with 81/81 quotations character-verified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379976" y="2743200"/>
            <a:ext cx="3429000" cy="1554480"/>
          </a:xfrm>
          <a:prstGeom prst="roundRect">
            <a:avLst>
              <a:gd name="adj" fmla="val 7059"/>
            </a:avLst>
          </a:prstGeom>
          <a:solidFill>
            <a:srgbClr val="7A1E2D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62856" y="288036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by-product is a research corpus: claims, citations, alignments — citable datasets for Tibetan studies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074152" y="2743200"/>
            <a:ext cx="3429000" cy="1554480"/>
          </a:xfrm>
          <a:prstGeom prst="roundRect">
            <a:avLst>
              <a:gd name="adj" fmla="val 7059"/>
            </a:avLst>
          </a:prstGeom>
          <a:solidFill>
            <a:srgbClr val="7A1E2D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57032" y="288036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for any commentarial tradition — and any small language with a layered canon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· code · demo article — QR here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17236" y="539496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17236" y="539496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[QR]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64008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F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Tashi Tsering · OpenPecha · tashitsering@dharmaduta.in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2026-08-02T10:17:21Z</dcterms:created>
  <dcterms:modified xsi:type="dcterms:W3CDTF">2026-08-02T10:17:21Z</dcterms:modified>
</cp:coreProperties>
</file>